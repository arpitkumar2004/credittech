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2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Draft feature count</c:v>
                </c:pt>
              </c:strCache>
            </c:strRef>
          </c:tx>
          <c:spPr>
            <a:solidFill>
              <a:srgbClr val="5C8A7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E4B4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Character</c:v>
                  </c:pt>
                  <c:pt idx="1">
                    <c:v>Capacity</c:v>
                  </c:pt>
                  <c:pt idx="2">
                    <c:v>Capital</c:v>
                  </c:pt>
                  <c:pt idx="3">
                    <c:v>Collateral</c:v>
                  </c:pt>
                  <c:pt idx="4">
                    <c:v>Conditions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</c:v>
                </c:pt>
                <c:pt idx="1">
                  <c:v>10</c:v>
                </c:pt>
                <c:pt idx="2">
                  <c:v>8</c:v>
                </c:pt>
                <c:pt idx="3">
                  <c:v>6</c:v>
                </c:pt>
                <c:pt idx="4">
                  <c:v>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E4B4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Split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E4B43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5C8A72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C98B2E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3"/>
            <c:bubble3D val="0"/>
            <c:spPr>
              <a:solidFill>
                <a:srgbClr val="17685A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4"/>
            <c:bubble3D val="0"/>
            <c:spPr>
              <a:solidFill>
                <a:srgbClr val="B5473D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0&quot;%&quot;" sourceLinked="0"/>
              <c:spPr/>
              <c:txPr>
                <a:bodyPr/>
                <a:lstStyle/>
                <a:p>
                  <a:pPr>
                    <a:defRPr sz="85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&quot;%&quot;" sourceLinked="0"/>
              <c:spPr/>
              <c:txPr>
                <a:bodyPr/>
                <a:lstStyle/>
                <a:p>
                  <a:pPr>
                    <a:defRPr sz="85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0&quot;%&quot;" sourceLinked="0"/>
              <c:spPr/>
              <c:txPr>
                <a:bodyPr/>
                <a:lstStyle/>
                <a:p>
                  <a:pPr>
                    <a:defRPr sz="85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0&quot;%&quot;" sourceLinked="0"/>
              <c:spPr/>
              <c:txPr>
                <a:bodyPr/>
                <a:lstStyle/>
                <a:p>
                  <a:pPr>
                    <a:defRPr sz="85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0&quot;%&quot;" sourceLinked="0"/>
              <c:spPr/>
              <c:txPr>
                <a:bodyPr/>
                <a:lstStyle/>
                <a:p>
                  <a:pPr>
                    <a:defRPr sz="85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Team (eng. + field)</c:v>
                </c:pt>
                <c:pt idx="1">
                  <c:v>Infrastructure &amp; cloud</c:v>
                </c:pt>
                <c:pt idx="2">
                  <c:v>Data / vendor access</c:v>
                </c:pt>
                <c:pt idx="3">
                  <c:v>Field &amp; pilot ops</c:v>
                </c:pt>
                <c:pt idx="4">
                  <c:v>Compliance &amp; audit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35</c:v>
                </c:pt>
                <c:pt idx="1">
                  <c:v>15</c:v>
                </c:pt>
                <c:pt idx="2">
                  <c:v>20</c:v>
                </c:pt>
                <c:pt idx="3">
                  <c:v>20</c:v>
                </c:pt>
                <c:pt idx="4">
                  <c:v>10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20">
              <a:solidFill>
                <a:srgbClr val="152723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hart" Target="/ppt/charts/chart1.xml"/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2.png"/><Relationship Id="rId4" Type="http://schemas.openxmlformats.org/officeDocument/2006/relationships/image" Target="../media/image-11-2.png"/><Relationship Id="rId5" Type="http://schemas.openxmlformats.org/officeDocument/2006/relationships/image" Target="../media/image-11-2.png"/><Relationship Id="rId6" Type="http://schemas.openxmlformats.org/officeDocument/2006/relationships/image" Target="../media/image-11-2.png"/><Relationship Id="rId7" Type="http://schemas.openxmlformats.org/officeDocument/2006/relationships/image" Target="../media/image-11-2.png"/><Relationship Id="rId8" Type="http://schemas.openxmlformats.org/officeDocument/2006/relationships/image" Target="../media/image-11-2.png"/><Relationship Id="rId9" Type="http://schemas.openxmlformats.org/officeDocument/2006/relationships/image" Target="../media/image-11-9.png"/><Relationship Id="rId10" Type="http://schemas.openxmlformats.org/officeDocument/2006/relationships/image" Target="../media/image-11-10.png"/><Relationship Id="rId11" Type="http://schemas.openxmlformats.org/officeDocument/2006/relationships/image" Target="../media/image-11-11.png"/><Relationship Id="rId12" Type="http://schemas.openxmlformats.org/officeDocument/2006/relationships/image" Target="../media/image-11-12.png"/><Relationship Id="rId13" Type="http://schemas.openxmlformats.org/officeDocument/2006/relationships/image" Target="../media/image-11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image" Target="../media/image-12-10.png"/><Relationship Id="rId11" Type="http://schemas.openxmlformats.org/officeDocument/2006/relationships/image" Target="../media/image-12-11.png"/><Relationship Id="rId12" Type="http://schemas.openxmlformats.org/officeDocument/2006/relationships/image" Target="../media/image-12-12.png"/><Relationship Id="rId13" Type="http://schemas.openxmlformats.org/officeDocument/2006/relationships/image" Target="../media/image-12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image" Target="../media/image-15-8.png"/><Relationship Id="rId9" Type="http://schemas.openxmlformats.org/officeDocument/2006/relationships/image" Target="../media/image-15-9.png"/><Relationship Id="rId10" Type="http://schemas.openxmlformats.org/officeDocument/2006/relationships/image" Target="../media/image-15-10.png"/><Relationship Id="rId11" Type="http://schemas.openxmlformats.org/officeDocument/2006/relationships/image" Target="../media/image-15-11.png"/><Relationship Id="rId12" Type="http://schemas.openxmlformats.org/officeDocument/2006/relationships/image" Target="../media/image-15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image-1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32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45720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5C8A72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458200" y="45720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C98B2E">
              <a:alpha val="1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961120" y="45720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5C8A72">
              <a:alpha val="16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464040" y="45720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C98B2E">
              <a:alpha val="1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966960" y="45720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5C8A72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469880" y="45720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C98B2E">
              <a:alpha val="22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972800" y="45720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5C8A72">
              <a:alpha val="24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955280" y="96012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C98B2E">
              <a:alpha val="14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8458200" y="96012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5C8A72">
              <a:alpha val="16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961120" y="96012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C98B2E">
              <a:alpha val="1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9464040" y="96012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5C8A72">
              <a:alpha val="2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9966960" y="96012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C98B2E">
              <a:alpha val="22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0469880" y="96012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5C8A72">
              <a:alpha val="24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0972800" y="96012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C98B2E">
              <a:alpha val="26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7955280" y="146304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5C8A72">
              <a:alpha val="16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8458200" y="146304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C98B2E">
              <a:alpha val="1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8961120" y="146304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5C8A72">
              <a:alpha val="2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9464040" y="146304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C98B2E">
              <a:alpha val="22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9966960" y="146304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5C8A72">
              <a:alpha val="24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0469880" y="146304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C98B2E">
              <a:alpha val="26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0972800" y="146304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5C8A72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7955280" y="196596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C98B2E">
              <a:alpha val="1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8458200" y="196596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5C8A72">
              <a:alpha val="2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8961120" y="196596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C98B2E">
              <a:alpha val="22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9464040" y="196596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5C8A72">
              <a:alpha val="24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9966960" y="196596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C98B2E">
              <a:alpha val="26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0469880" y="196596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5C8A72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0972800" y="196596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C98B2E">
              <a:alpha val="3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7955280" y="246888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5C8A72">
              <a:alpha val="2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8458200" y="246888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C98B2E">
              <a:alpha val="22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8961120" y="246888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5C8A72">
              <a:alpha val="24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9464040" y="246888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C98B2E">
              <a:alpha val="26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9966960" y="246888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5C8A72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10469880" y="246888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C98B2E">
              <a:alpha val="3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10972800" y="246888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5C8A72">
              <a:alpha val="32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7955280" y="297180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C98B2E">
              <a:alpha val="22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8458200" y="297180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5C8A72">
              <a:alpha val="24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8961120" y="297180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C98B2E">
              <a:alpha val="26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9464040" y="297180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5C8A72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9966960" y="297180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C98B2E">
              <a:alpha val="30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10469880" y="297180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5C8A72">
              <a:alpha val="32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10972800" y="297180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C98B2E">
              <a:alpha val="34000"/>
            </a:srgbClr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457200" y="6858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160" kern="0" dirty="0">
                <a:solidFill>
                  <a:srgbClr val="C98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MID-TERM SUBMISSION I  ·  CONCEPTUAL DESIGN &amp; ARCHITECTURE REVIEW</a:t>
            </a:r>
            <a:endParaRPr lang="en-US" sz="1250" dirty="0"/>
          </a:p>
        </p:txBody>
      </p:sp>
      <p:sp>
        <p:nvSpPr>
          <p:cNvPr id="45" name="Text 43"/>
          <p:cNvSpPr txBox="1"/>
          <p:nvPr/>
        </p:nvSpPr>
        <p:spPr>
          <a:xfrm>
            <a:off x="457200" y="1234440"/>
            <a:ext cx="8686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CreditTech</a:t>
            </a:r>
            <a:endParaRPr lang="en-US" sz="6200" dirty="0"/>
          </a:p>
        </p:txBody>
      </p:sp>
      <p:sp>
        <p:nvSpPr>
          <p:cNvPr id="46" name="Text 44"/>
          <p:cNvSpPr txBox="1"/>
          <p:nvPr/>
        </p:nvSpPr>
        <p:spPr>
          <a:xfrm>
            <a:off x="457200" y="2331720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BFD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 Credit Scoring for Financial Inclusion</a:t>
            </a:r>
            <a:endParaRPr lang="en-US" sz="2300" dirty="0"/>
          </a:p>
        </p:txBody>
      </p:sp>
      <p:sp>
        <p:nvSpPr>
          <p:cNvPr id="47" name="Text 45"/>
          <p:cNvSpPr txBox="1"/>
          <p:nvPr/>
        </p:nvSpPr>
        <p:spPr>
          <a:xfrm>
            <a:off x="457200" y="2852928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Lending Models for Farmers, SHGs, FPOs &amp; Rural Enterprises</a:t>
            </a:r>
            <a:endParaRPr lang="en-US" sz="1550" dirty="0"/>
          </a:p>
        </p:txBody>
      </p:sp>
      <p:sp>
        <p:nvSpPr>
          <p:cNvPr id="48" name="Shape 46"/>
          <p:cNvSpPr/>
          <p:nvPr/>
        </p:nvSpPr>
        <p:spPr>
          <a:xfrm>
            <a:off x="9006840" y="2331720"/>
            <a:ext cx="2148840" cy="2148840"/>
          </a:xfrm>
          <a:prstGeom prst="ellipse">
            <a:avLst/>
          </a:prstGeom>
          <a:solidFill>
            <a:srgbClr val="17685A"/>
          </a:solidFill>
          <a:ln w="19050">
            <a:solidFill>
              <a:srgbClr val="C98B2E"/>
            </a:solidFill>
            <a:prstDash val="solid"/>
          </a:ln>
        </p:spPr>
      </p:sp>
      <p:pic>
        <p:nvPicPr>
          <p:cNvPr id="49" name="Image 0" descr="/tmp/claude-0/-home-claude/f50031d9-b5ad-5737-9b32-1977a75a6c42/scratchpad/deck/icons/seedling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0" y="2971800"/>
            <a:ext cx="868680" cy="868680"/>
          </a:xfrm>
          <a:prstGeom prst="rect">
            <a:avLst/>
          </a:prstGeom>
        </p:spPr>
      </p:pic>
      <p:sp>
        <p:nvSpPr>
          <p:cNvPr id="50" name="Shape 47"/>
          <p:cNvSpPr/>
          <p:nvPr/>
        </p:nvSpPr>
        <p:spPr>
          <a:xfrm>
            <a:off x="10561320" y="3977640"/>
            <a:ext cx="960120" cy="960120"/>
          </a:xfrm>
          <a:prstGeom prst="ellipse">
            <a:avLst/>
          </a:prstGeom>
          <a:solidFill>
            <a:srgbClr val="C98B2E"/>
          </a:solidFill>
          <a:ln w="25400">
            <a:solidFill>
              <a:srgbClr val="FFFFFF"/>
            </a:solidFill>
            <a:prstDash val="solid"/>
          </a:ln>
        </p:spPr>
      </p:sp>
      <p:pic>
        <p:nvPicPr>
          <p:cNvPr id="51" name="Image 1" descr="/tmp/claude-0/-home-claude/f50031d9-b5ad-5737-9b32-1977a75a6c42/scratchpad/deck/icons/rupeeSign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4251960"/>
            <a:ext cx="411480" cy="411480"/>
          </a:xfrm>
          <a:prstGeom prst="rect">
            <a:avLst/>
          </a:prstGeom>
        </p:spPr>
      </p:pic>
      <p:sp>
        <p:nvSpPr>
          <p:cNvPr id="52" name="Shape 48"/>
          <p:cNvSpPr/>
          <p:nvPr/>
        </p:nvSpPr>
        <p:spPr>
          <a:xfrm>
            <a:off x="457200" y="3703320"/>
            <a:ext cx="1170432" cy="329184"/>
          </a:xfrm>
          <a:prstGeom prst="roundRect">
            <a:avLst>
              <a:gd name="adj" fmla="val 50000"/>
            </a:avLst>
          </a:prstGeom>
          <a:solidFill>
            <a:srgbClr val="17685A"/>
          </a:solidFill>
          <a:ln w="9525">
            <a:solidFill>
              <a:srgbClr val="5C8A72"/>
            </a:solidFill>
            <a:prstDash val="solid"/>
          </a:ln>
        </p:spPr>
      </p:sp>
      <p:sp>
        <p:nvSpPr>
          <p:cNvPr id="53" name="Text 49"/>
          <p:cNvSpPr txBox="1"/>
          <p:nvPr/>
        </p:nvSpPr>
        <p:spPr>
          <a:xfrm>
            <a:off x="457200" y="3703320"/>
            <a:ext cx="1170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FARMERS</a:t>
            </a:r>
            <a:endParaRPr lang="en-US" sz="1050" dirty="0"/>
          </a:p>
        </p:txBody>
      </p:sp>
      <p:sp>
        <p:nvSpPr>
          <p:cNvPr id="54" name="Shape 50"/>
          <p:cNvSpPr/>
          <p:nvPr/>
        </p:nvSpPr>
        <p:spPr>
          <a:xfrm>
            <a:off x="1773936" y="3703320"/>
            <a:ext cx="923544" cy="329184"/>
          </a:xfrm>
          <a:prstGeom prst="roundRect">
            <a:avLst>
              <a:gd name="adj" fmla="val 50000"/>
            </a:avLst>
          </a:prstGeom>
          <a:solidFill>
            <a:srgbClr val="17685A"/>
          </a:solidFill>
          <a:ln w="9525">
            <a:solidFill>
              <a:srgbClr val="5C8A72"/>
            </a:solidFill>
            <a:prstDash val="solid"/>
          </a:ln>
        </p:spPr>
      </p:sp>
      <p:sp>
        <p:nvSpPr>
          <p:cNvPr id="55" name="Text 51"/>
          <p:cNvSpPr txBox="1"/>
          <p:nvPr/>
        </p:nvSpPr>
        <p:spPr>
          <a:xfrm>
            <a:off x="1773936" y="3703320"/>
            <a:ext cx="923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SHGs</a:t>
            </a:r>
            <a:endParaRPr lang="en-US" sz="1050" dirty="0"/>
          </a:p>
        </p:txBody>
      </p:sp>
      <p:sp>
        <p:nvSpPr>
          <p:cNvPr id="56" name="Shape 52"/>
          <p:cNvSpPr/>
          <p:nvPr/>
        </p:nvSpPr>
        <p:spPr>
          <a:xfrm>
            <a:off x="2843784" y="3703320"/>
            <a:ext cx="923544" cy="329184"/>
          </a:xfrm>
          <a:prstGeom prst="roundRect">
            <a:avLst>
              <a:gd name="adj" fmla="val 50000"/>
            </a:avLst>
          </a:prstGeom>
          <a:solidFill>
            <a:srgbClr val="17685A"/>
          </a:solidFill>
          <a:ln w="9525">
            <a:solidFill>
              <a:srgbClr val="5C8A72"/>
            </a:solidFill>
            <a:prstDash val="solid"/>
          </a:ln>
        </p:spPr>
      </p:sp>
      <p:sp>
        <p:nvSpPr>
          <p:cNvPr id="57" name="Text 53"/>
          <p:cNvSpPr txBox="1"/>
          <p:nvPr/>
        </p:nvSpPr>
        <p:spPr>
          <a:xfrm>
            <a:off x="2843784" y="3703320"/>
            <a:ext cx="923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FPOs</a:t>
            </a:r>
            <a:endParaRPr lang="en-US" sz="1050" dirty="0"/>
          </a:p>
        </p:txBody>
      </p:sp>
      <p:sp>
        <p:nvSpPr>
          <p:cNvPr id="58" name="Shape 54"/>
          <p:cNvSpPr/>
          <p:nvPr/>
        </p:nvSpPr>
        <p:spPr>
          <a:xfrm>
            <a:off x="3913632" y="3703320"/>
            <a:ext cx="1993392" cy="329184"/>
          </a:xfrm>
          <a:prstGeom prst="roundRect">
            <a:avLst>
              <a:gd name="adj" fmla="val 50000"/>
            </a:avLst>
          </a:prstGeom>
          <a:solidFill>
            <a:srgbClr val="17685A"/>
          </a:solidFill>
          <a:ln w="9525">
            <a:solidFill>
              <a:srgbClr val="5C8A72"/>
            </a:solidFill>
            <a:prstDash val="solid"/>
          </a:ln>
        </p:spPr>
      </p:sp>
      <p:sp>
        <p:nvSpPr>
          <p:cNvPr id="59" name="Text 55"/>
          <p:cNvSpPr txBox="1"/>
          <p:nvPr/>
        </p:nvSpPr>
        <p:spPr>
          <a:xfrm>
            <a:off x="3913632" y="3703320"/>
            <a:ext cx="1993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ENTERPRISES</a:t>
            </a:r>
            <a:endParaRPr lang="en-US" sz="1050" dirty="0"/>
          </a:p>
        </p:txBody>
      </p:sp>
      <p:sp>
        <p:nvSpPr>
          <p:cNvPr id="60" name="Shape 56"/>
          <p:cNvSpPr/>
          <p:nvPr/>
        </p:nvSpPr>
        <p:spPr>
          <a:xfrm>
            <a:off x="457200" y="4251960"/>
            <a:ext cx="6035040" cy="1417320"/>
          </a:xfrm>
          <a:prstGeom prst="roundRect">
            <a:avLst>
              <a:gd name="adj" fmla="val 5161"/>
            </a:avLst>
          </a:prstGeom>
          <a:solidFill>
            <a:srgbClr val="17685A"/>
          </a:solidFill>
          <a:ln/>
        </p:spPr>
      </p:sp>
      <p:sp>
        <p:nvSpPr>
          <p:cNvPr id="61" name="Text 57"/>
          <p:cNvSpPr txBox="1"/>
          <p:nvPr/>
        </p:nvSpPr>
        <p:spPr>
          <a:xfrm>
            <a:off x="685800" y="4407408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98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4</a:t>
            </a:r>
            <a:endParaRPr lang="en-US" sz="1300" dirty="0"/>
          </a:p>
        </p:txBody>
      </p:sp>
      <p:sp>
        <p:nvSpPr>
          <p:cNvPr id="62" name="Text 58"/>
          <p:cNvSpPr txBox="1"/>
          <p:nvPr/>
        </p:nvSpPr>
        <p:spPr>
          <a:xfrm>
            <a:off x="685800" y="4700016"/>
            <a:ext cx="5577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conceptual design &amp; architecture blueprint for an explainable, alternative-data credit-scoring engine — built on a modular monolith, a 5-Cs feature framework, and a consent-first data-sharing design aligned to India’s Account Aggregator, DPDP, and RBI Digital Lending frameworks.</a:t>
            </a:r>
            <a:endParaRPr lang="en-US" sz="1100" dirty="0"/>
          </a:p>
        </p:txBody>
      </p:sp>
      <p:sp>
        <p:nvSpPr>
          <p:cNvPr id="63" name="Text 59"/>
          <p:cNvSpPr txBox="1"/>
          <p:nvPr/>
        </p:nvSpPr>
        <p:spPr>
          <a:xfrm>
            <a:off x="457200" y="5806440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BFD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deck labels every component BUILT · PLANNED · 2026-ADDITION · LATER — a design review, not a deployed-product claim.</a:t>
            </a:r>
            <a:endParaRPr lang="en-US" sz="950" dirty="0"/>
          </a:p>
        </p:txBody>
      </p:sp>
      <p:sp>
        <p:nvSpPr>
          <p:cNvPr id="64" name="Shape 60"/>
          <p:cNvSpPr/>
          <p:nvPr/>
        </p:nvSpPr>
        <p:spPr>
          <a:xfrm>
            <a:off x="457200" y="6419088"/>
            <a:ext cx="2182307" cy="310896"/>
          </a:xfrm>
          <a:prstGeom prst="roundRect">
            <a:avLst>
              <a:gd name="adj" fmla="val 50000"/>
            </a:avLst>
          </a:prstGeom>
          <a:solidFill>
            <a:srgbClr val="0E4B43"/>
          </a:solidFill>
          <a:ln/>
        </p:spPr>
      </p:sp>
      <p:sp>
        <p:nvSpPr>
          <p:cNvPr id="65" name="Text 61"/>
          <p:cNvSpPr txBox="1"/>
          <p:nvPr/>
        </p:nvSpPr>
        <p:spPr>
          <a:xfrm>
            <a:off x="457200" y="6419088"/>
            <a:ext cx="218230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860" dirty="0"/>
          </a:p>
        </p:txBody>
      </p:sp>
      <p:sp>
        <p:nvSpPr>
          <p:cNvPr id="66" name="Shape 62"/>
          <p:cNvSpPr/>
          <p:nvPr/>
        </p:nvSpPr>
        <p:spPr>
          <a:xfrm>
            <a:off x="2730947" y="6419088"/>
            <a:ext cx="2182307" cy="310896"/>
          </a:xfrm>
          <a:prstGeom prst="roundRect">
            <a:avLst>
              <a:gd name="adj" fmla="val 50000"/>
            </a:avLst>
          </a:prstGeom>
          <a:solidFill>
            <a:srgbClr val="E4EFE9"/>
          </a:solidFill>
          <a:ln/>
        </p:spPr>
      </p:sp>
      <p:sp>
        <p:nvSpPr>
          <p:cNvPr id="67" name="Text 63"/>
          <p:cNvSpPr txBox="1"/>
          <p:nvPr/>
        </p:nvSpPr>
        <p:spPr>
          <a:xfrm>
            <a:off x="2730947" y="6419088"/>
            <a:ext cx="218230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spc="40" kern="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AI PIPELINE</a:t>
            </a:r>
            <a:endParaRPr lang="en-US" sz="860" dirty="0"/>
          </a:p>
        </p:txBody>
      </p:sp>
      <p:sp>
        <p:nvSpPr>
          <p:cNvPr id="68" name="Shape 64"/>
          <p:cNvSpPr/>
          <p:nvPr/>
        </p:nvSpPr>
        <p:spPr>
          <a:xfrm>
            <a:off x="5004694" y="6419088"/>
            <a:ext cx="2182307" cy="310896"/>
          </a:xfrm>
          <a:prstGeom prst="roundRect">
            <a:avLst>
              <a:gd name="adj" fmla="val 50000"/>
            </a:avLst>
          </a:prstGeom>
          <a:solidFill>
            <a:srgbClr val="E4EFE9"/>
          </a:solidFill>
          <a:ln/>
        </p:spPr>
      </p:sp>
      <p:sp>
        <p:nvSpPr>
          <p:cNvPr id="69" name="Text 65"/>
          <p:cNvSpPr txBox="1"/>
          <p:nvPr/>
        </p:nvSpPr>
        <p:spPr>
          <a:xfrm>
            <a:off x="5004694" y="6419088"/>
            <a:ext cx="218230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spc="40" kern="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TECH</a:t>
            </a:r>
            <a:endParaRPr lang="en-US" sz="860" dirty="0"/>
          </a:p>
        </p:txBody>
      </p:sp>
      <p:sp>
        <p:nvSpPr>
          <p:cNvPr id="70" name="Shape 66"/>
          <p:cNvSpPr/>
          <p:nvPr/>
        </p:nvSpPr>
        <p:spPr>
          <a:xfrm>
            <a:off x="7278441" y="6419088"/>
            <a:ext cx="2182307" cy="310896"/>
          </a:xfrm>
          <a:prstGeom prst="roundRect">
            <a:avLst>
              <a:gd name="adj" fmla="val 50000"/>
            </a:avLst>
          </a:prstGeom>
          <a:solidFill>
            <a:srgbClr val="E4EFE9"/>
          </a:solidFill>
          <a:ln/>
        </p:spPr>
      </p:sp>
      <p:sp>
        <p:nvSpPr>
          <p:cNvPr id="71" name="Text 67"/>
          <p:cNvSpPr txBox="1"/>
          <p:nvPr/>
        </p:nvSpPr>
        <p:spPr>
          <a:xfrm>
            <a:off x="7278441" y="6419088"/>
            <a:ext cx="218230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spc="40" kern="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&amp; PILOT</a:t>
            </a:r>
            <a:endParaRPr lang="en-US" sz="860" dirty="0"/>
          </a:p>
        </p:txBody>
      </p:sp>
      <p:sp>
        <p:nvSpPr>
          <p:cNvPr id="72" name="Shape 68"/>
          <p:cNvSpPr/>
          <p:nvPr/>
        </p:nvSpPr>
        <p:spPr>
          <a:xfrm>
            <a:off x="9552188" y="6419088"/>
            <a:ext cx="2182307" cy="310896"/>
          </a:xfrm>
          <a:prstGeom prst="roundRect">
            <a:avLst>
              <a:gd name="adj" fmla="val 50000"/>
            </a:avLst>
          </a:prstGeom>
          <a:solidFill>
            <a:srgbClr val="E4EFE9"/>
          </a:solidFill>
          <a:ln/>
        </p:spPr>
      </p:sp>
      <p:sp>
        <p:nvSpPr>
          <p:cNvPr id="73" name="Text 69"/>
          <p:cNvSpPr txBox="1"/>
          <p:nvPr/>
        </p:nvSpPr>
        <p:spPr>
          <a:xfrm>
            <a:off x="9552188" y="6419088"/>
            <a:ext cx="218230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spc="40" kern="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&amp; ROADMAP</a:t>
            </a:r>
            <a:endParaRPr lang="en-US" sz="86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12064" cy="512064"/>
          </a:xfrm>
          <a:prstGeom prst="ellipse">
            <a:avLst/>
          </a:prstGeom>
          <a:solidFill>
            <a:srgbClr val="E4EFE9"/>
          </a:solidFill>
          <a:ln/>
        </p:spPr>
      </p:sp>
      <p:pic>
        <p:nvPicPr>
          <p:cNvPr id="3" name="Image 0" descr="/tmp/claude-0/-home-claude/f50031d9-b5ad-5737-9b32-1977a75a6c42/scratchpad/deck/icons/exclamationTriangle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0337" y="498897"/>
            <a:ext cx="245791" cy="245791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115568" y="365760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C98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1 · FOUNDATION</a:t>
            </a:r>
            <a:endParaRPr lang="en-US" sz="1050" dirty="0"/>
          </a:p>
        </p:txBody>
      </p:sp>
      <p:sp>
        <p:nvSpPr>
          <p:cNvPr id="5" name="Text 2"/>
          <p:cNvSpPr txBox="1"/>
          <p:nvPr/>
        </p:nvSpPr>
        <p:spPr>
          <a:xfrm>
            <a:off x="1115568" y="5486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E4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Problem: Rural India’s Credit-Assessment Gap</a:t>
            </a:r>
            <a:endParaRPr lang="en-US" sz="2700" dirty="0"/>
          </a:p>
        </p:txBody>
      </p:sp>
      <p:sp>
        <p:nvSpPr>
          <p:cNvPr id="6" name="Text 3"/>
          <p:cNvSpPr txBox="1"/>
          <p:nvPr/>
        </p:nvSpPr>
        <p:spPr>
          <a:xfrm>
            <a:off x="8808415" y="38404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CREDITTECH  ·  MID-TERM REVIEW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8808415" y="56692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76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02 / 20  ·  FOUNDATION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" y="6419088"/>
            <a:ext cx="2182307" cy="310896"/>
          </a:xfrm>
          <a:prstGeom prst="roundRect">
            <a:avLst>
              <a:gd name="adj" fmla="val 50000"/>
            </a:avLst>
          </a:prstGeom>
          <a:solidFill>
            <a:srgbClr val="0E4B43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457200" y="6419088"/>
            <a:ext cx="218230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860" dirty="0"/>
          </a:p>
        </p:txBody>
      </p:sp>
      <p:sp>
        <p:nvSpPr>
          <p:cNvPr id="10" name="Shape 7"/>
          <p:cNvSpPr/>
          <p:nvPr/>
        </p:nvSpPr>
        <p:spPr>
          <a:xfrm>
            <a:off x="2730947" y="6419088"/>
            <a:ext cx="2182307" cy="310896"/>
          </a:xfrm>
          <a:prstGeom prst="roundRect">
            <a:avLst>
              <a:gd name="adj" fmla="val 50000"/>
            </a:avLst>
          </a:prstGeom>
          <a:solidFill>
            <a:srgbClr val="E4EFE9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2730947" y="6419088"/>
            <a:ext cx="218230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spc="40" kern="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AI PIPELINE</a:t>
            </a:r>
            <a:endParaRPr lang="en-US" sz="860" dirty="0"/>
          </a:p>
        </p:txBody>
      </p:sp>
      <p:sp>
        <p:nvSpPr>
          <p:cNvPr id="12" name="Shape 9"/>
          <p:cNvSpPr/>
          <p:nvPr/>
        </p:nvSpPr>
        <p:spPr>
          <a:xfrm>
            <a:off x="5004694" y="6419088"/>
            <a:ext cx="2182307" cy="310896"/>
          </a:xfrm>
          <a:prstGeom prst="roundRect">
            <a:avLst>
              <a:gd name="adj" fmla="val 50000"/>
            </a:avLst>
          </a:prstGeom>
          <a:solidFill>
            <a:srgbClr val="E4EFE9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004694" y="6419088"/>
            <a:ext cx="218230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spc="40" kern="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TECH</a:t>
            </a:r>
            <a:endParaRPr lang="en-US" sz="860" dirty="0"/>
          </a:p>
        </p:txBody>
      </p:sp>
      <p:sp>
        <p:nvSpPr>
          <p:cNvPr id="14" name="Shape 11"/>
          <p:cNvSpPr/>
          <p:nvPr/>
        </p:nvSpPr>
        <p:spPr>
          <a:xfrm>
            <a:off x="7278441" y="6419088"/>
            <a:ext cx="2182307" cy="310896"/>
          </a:xfrm>
          <a:prstGeom prst="roundRect">
            <a:avLst>
              <a:gd name="adj" fmla="val 50000"/>
            </a:avLst>
          </a:prstGeom>
          <a:solidFill>
            <a:srgbClr val="E4EFE9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278441" y="6419088"/>
            <a:ext cx="218230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spc="40" kern="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&amp; PILOT</a:t>
            </a:r>
            <a:endParaRPr lang="en-US" sz="860" dirty="0"/>
          </a:p>
        </p:txBody>
      </p:sp>
      <p:sp>
        <p:nvSpPr>
          <p:cNvPr id="16" name="Shape 13"/>
          <p:cNvSpPr/>
          <p:nvPr/>
        </p:nvSpPr>
        <p:spPr>
          <a:xfrm>
            <a:off x="9552188" y="6419088"/>
            <a:ext cx="2182307" cy="310896"/>
          </a:xfrm>
          <a:prstGeom prst="roundRect">
            <a:avLst>
              <a:gd name="adj" fmla="val 50000"/>
            </a:avLst>
          </a:prstGeom>
          <a:solidFill>
            <a:srgbClr val="E4EFE9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9552188" y="6419088"/>
            <a:ext cx="218230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spc="40" kern="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&amp; ROADMAP</a:t>
            </a:r>
            <a:endParaRPr lang="en-US" sz="860" dirty="0"/>
          </a:p>
        </p:txBody>
      </p:sp>
      <p:sp>
        <p:nvSpPr>
          <p:cNvPr id="18" name="Shape 15"/>
          <p:cNvSpPr/>
          <p:nvPr/>
        </p:nvSpPr>
        <p:spPr>
          <a:xfrm>
            <a:off x="457200" y="1207008"/>
            <a:ext cx="3667658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D9E7E1"/>
            </a:solidFill>
            <a:prstDash val="solid"/>
          </a:ln>
          <a:effectLst>
            <a:outerShdw sx="100000" sy="100000" kx="0" ky="0" algn="bl" rotWithShape="0" blurRad="101600" dist="38100" dir="5400000">
              <a:srgbClr val="0A322C">
                <a:alpha val="18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603504" y="1298448"/>
            <a:ext cx="337505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E4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160M+</a:t>
            </a:r>
            <a:endParaRPr lang="en-US" sz="2700" dirty="0"/>
          </a:p>
        </p:txBody>
      </p:sp>
      <p:sp>
        <p:nvSpPr>
          <p:cNvPr id="20" name="Text 17"/>
          <p:cNvSpPr txBox="1"/>
          <p:nvPr/>
        </p:nvSpPr>
        <p:spPr>
          <a:xfrm>
            <a:off x="603504" y="1753819"/>
            <a:ext cx="3375050" cy="4626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Indians are credit-underserved — no bureau file, or too thin to score reliably (TransUnion CIBIL)</a:t>
            </a:r>
            <a:endParaRPr lang="en-US" sz="880" dirty="0"/>
          </a:p>
        </p:txBody>
      </p:sp>
      <p:sp>
        <p:nvSpPr>
          <p:cNvPr id="21" name="Shape 18"/>
          <p:cNvSpPr/>
          <p:nvPr/>
        </p:nvSpPr>
        <p:spPr>
          <a:xfrm>
            <a:off x="4262018" y="1207008"/>
            <a:ext cx="3667658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D9E7E1"/>
            </a:solidFill>
            <a:prstDash val="solid"/>
          </a:ln>
          <a:effectLst>
            <a:outerShdw sx="100000" sy="100000" kx="0" ky="0" algn="bl" rotWithShape="0" blurRad="101600" dist="38100" dir="5400000">
              <a:srgbClr val="0A322C">
                <a:alpha val="18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4408322" y="1298448"/>
            <a:ext cx="337505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E4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₹80L Cr</a:t>
            </a:r>
            <a:endParaRPr lang="en-US" sz="2700" dirty="0"/>
          </a:p>
        </p:txBody>
      </p:sp>
      <p:sp>
        <p:nvSpPr>
          <p:cNvPr id="23" name="Text 20"/>
          <p:cNvSpPr txBox="1"/>
          <p:nvPr/>
        </p:nvSpPr>
        <p:spPr>
          <a:xfrm>
            <a:off x="4408322" y="1753819"/>
            <a:ext cx="3375050" cy="4626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MSME credit gap — only ~19% of MSME credit demand met through formal channels in FY21 (NITI Aayog / Institute for Competitiveness)</a:t>
            </a:r>
            <a:endParaRPr lang="en-US" sz="880" dirty="0"/>
          </a:p>
        </p:txBody>
      </p:sp>
      <p:sp>
        <p:nvSpPr>
          <p:cNvPr id="24" name="Shape 21"/>
          <p:cNvSpPr/>
          <p:nvPr/>
        </p:nvSpPr>
        <p:spPr>
          <a:xfrm>
            <a:off x="8066837" y="1207008"/>
            <a:ext cx="3667658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D9E7E1"/>
            </a:solidFill>
            <a:prstDash val="solid"/>
          </a:ln>
          <a:effectLst>
            <a:outerShdw sx="100000" sy="100000" kx="0" ky="0" algn="bl" rotWithShape="0" blurRad="101600" dist="38100" dir="5400000">
              <a:srgbClr val="0A322C">
                <a:alpha val="18000"/>
              </a:srgbClr>
            </a:outerShdw>
          </a:effectLst>
        </p:spPr>
      </p:sp>
      <p:sp>
        <p:nvSpPr>
          <p:cNvPr id="25" name="Text 22"/>
          <p:cNvSpPr txBox="1"/>
          <p:nvPr/>
        </p:nvSpPr>
        <p:spPr>
          <a:xfrm>
            <a:off x="8213141" y="1298448"/>
            <a:ext cx="337505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E4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63×</a:t>
            </a:r>
            <a:endParaRPr lang="en-US" sz="2700" dirty="0"/>
          </a:p>
        </p:txBody>
      </p:sp>
      <p:sp>
        <p:nvSpPr>
          <p:cNvPr id="26" name="Text 23"/>
          <p:cNvSpPr txBox="1"/>
          <p:nvPr/>
        </p:nvSpPr>
        <p:spPr>
          <a:xfrm>
            <a:off x="8213141" y="1753819"/>
            <a:ext cx="3375050" cy="4626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disposable income owed by the average indebted rural household (NABARD NAFIS 2021-22)</a:t>
            </a:r>
            <a:endParaRPr lang="en-US" sz="880" dirty="0"/>
          </a:p>
        </p:txBody>
      </p:sp>
      <p:sp>
        <p:nvSpPr>
          <p:cNvPr id="27" name="Shape 24"/>
          <p:cNvSpPr/>
          <p:nvPr/>
        </p:nvSpPr>
        <p:spPr>
          <a:xfrm>
            <a:off x="457200" y="2414016"/>
            <a:ext cx="11277295" cy="566928"/>
          </a:xfrm>
          <a:prstGeom prst="roundRect">
            <a:avLst>
              <a:gd name="adj" fmla="val 12903"/>
            </a:avLst>
          </a:prstGeom>
          <a:solidFill>
            <a:srgbClr val="F3E4C8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640080" y="2414016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5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nuance: NAFIS 2021-22 shows 87% of borrowing value now comes from institutional sources (up sharply from 2016-17). The remaining gap is less about loan availability and more about HOW risk is assessed — bureau-only scoring still misreads thin-file farmers, SHGs and rural enterprises with real repayment capacity.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457200" y="3163824"/>
            <a:ext cx="5501488" cy="310896"/>
          </a:xfrm>
          <a:prstGeom prst="roundRect">
            <a:avLst>
              <a:gd name="adj" fmla="val 20588"/>
            </a:avLst>
          </a:prstGeom>
          <a:solidFill>
            <a:srgbClr val="0E4B43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603504" y="3163824"/>
            <a:ext cx="522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TRADITIONAL CREDIT SCORING FAILS RURAL BORROWERS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457200" y="3474720"/>
            <a:ext cx="5501488" cy="2212848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 w="9525">
            <a:solidFill>
              <a:srgbClr val="D9E7E1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58368" y="3621024"/>
            <a:ext cx="329184" cy="329184"/>
          </a:xfrm>
          <a:prstGeom prst="ellipse">
            <a:avLst/>
          </a:prstGeom>
          <a:solidFill>
            <a:srgbClr val="E4EFE9"/>
          </a:solidFill>
          <a:ln/>
        </p:spPr>
      </p:sp>
      <p:pic>
        <p:nvPicPr>
          <p:cNvPr id="33" name="Image 1" descr="/tmp/claude-0/-home-claude/f50031d9-b5ad-5737-9b32-1977a75a6c42/scratchpad/deck/icons/fileContract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956" y="3706612"/>
            <a:ext cx="158008" cy="158008"/>
          </a:xfrm>
          <a:prstGeom prst="rect">
            <a:avLst/>
          </a:prstGeom>
        </p:spPr>
      </p:pic>
      <p:sp>
        <p:nvSpPr>
          <p:cNvPr id="34" name="Text 30"/>
          <p:cNvSpPr txBox="1"/>
          <p:nvPr/>
        </p:nvSpPr>
        <p:spPr>
          <a:xfrm>
            <a:off x="1133856" y="3602736"/>
            <a:ext cx="466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30" b="1" dirty="0">
                <a:solidFill>
                  <a:srgbClr val="0E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/ thin bureau file</a:t>
            </a:r>
            <a:endParaRPr lang="en-US" sz="1030" dirty="0"/>
          </a:p>
        </p:txBody>
      </p:sp>
      <p:sp>
        <p:nvSpPr>
          <p:cNvPr id="35" name="Text 31"/>
          <p:cNvSpPr txBox="1"/>
          <p:nvPr/>
        </p:nvSpPr>
        <p:spPr>
          <a:xfrm>
            <a:off x="1133856" y="3803904"/>
            <a:ext cx="466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6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Owning land or livestock isn’t reflected in a CIC score — informal history is invisible.</a:t>
            </a:r>
            <a:endParaRPr lang="en-US" sz="860" dirty="0"/>
          </a:p>
        </p:txBody>
      </p:sp>
      <p:sp>
        <p:nvSpPr>
          <p:cNvPr id="36" name="Shape 32"/>
          <p:cNvSpPr/>
          <p:nvPr/>
        </p:nvSpPr>
        <p:spPr>
          <a:xfrm>
            <a:off x="658368" y="4151376"/>
            <a:ext cx="329184" cy="329184"/>
          </a:xfrm>
          <a:prstGeom prst="ellipse">
            <a:avLst/>
          </a:prstGeom>
          <a:solidFill>
            <a:srgbClr val="E4EFE9"/>
          </a:solidFill>
          <a:ln/>
        </p:spPr>
      </p:sp>
      <p:pic>
        <p:nvPicPr>
          <p:cNvPr id="37" name="Image 2" descr="/tmp/claude-0/-home-claude/f50031d9-b5ad-5737-9b32-1977a75a6c42/scratchpad/deck/icons/cloudSun_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956" y="4236964"/>
            <a:ext cx="158008" cy="158008"/>
          </a:xfrm>
          <a:prstGeom prst="rect">
            <a:avLst/>
          </a:prstGeom>
        </p:spPr>
      </p:pic>
      <p:sp>
        <p:nvSpPr>
          <p:cNvPr id="38" name="Text 33"/>
          <p:cNvSpPr txBox="1"/>
          <p:nvPr/>
        </p:nvSpPr>
        <p:spPr>
          <a:xfrm>
            <a:off x="1133856" y="4133088"/>
            <a:ext cx="466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30" b="1" dirty="0">
                <a:solidFill>
                  <a:srgbClr val="0E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Seasonal, not monthly, cash flow</a:t>
            </a:r>
            <a:endParaRPr lang="en-US" sz="1030" dirty="0"/>
          </a:p>
        </p:txBody>
      </p:sp>
      <p:sp>
        <p:nvSpPr>
          <p:cNvPr id="39" name="Text 34"/>
          <p:cNvSpPr txBox="1"/>
          <p:nvPr/>
        </p:nvSpPr>
        <p:spPr>
          <a:xfrm>
            <a:off x="1133856" y="4334256"/>
            <a:ext cx="466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6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Kharif/Rabi income cycles break bureau models built for salaried repayment patterns.</a:t>
            </a:r>
            <a:endParaRPr lang="en-US" sz="860" dirty="0"/>
          </a:p>
        </p:txBody>
      </p:sp>
      <p:sp>
        <p:nvSpPr>
          <p:cNvPr id="40" name="Shape 35"/>
          <p:cNvSpPr/>
          <p:nvPr/>
        </p:nvSpPr>
        <p:spPr>
          <a:xfrm>
            <a:off x="658368" y="4681728"/>
            <a:ext cx="329184" cy="329184"/>
          </a:xfrm>
          <a:prstGeom prst="ellipse">
            <a:avLst/>
          </a:prstGeom>
          <a:solidFill>
            <a:srgbClr val="E4EFE9"/>
          </a:solidFill>
          <a:ln/>
        </p:spPr>
      </p:sp>
      <p:pic>
        <p:nvPicPr>
          <p:cNvPr id="41" name="Image 3" descr="/tmp/claude-0/-home-claude/f50031d9-b5ad-5737-9b32-1977a75a6c42/scratchpad/deck/icons/mapMarker_te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956" y="4767316"/>
            <a:ext cx="158008" cy="158008"/>
          </a:xfrm>
          <a:prstGeom prst="rect">
            <a:avLst/>
          </a:prstGeom>
        </p:spPr>
      </p:pic>
      <p:sp>
        <p:nvSpPr>
          <p:cNvPr id="42" name="Text 36"/>
          <p:cNvSpPr txBox="1"/>
          <p:nvPr/>
        </p:nvSpPr>
        <p:spPr>
          <a:xfrm>
            <a:off x="1133856" y="4663440"/>
            <a:ext cx="466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30" b="1" dirty="0">
                <a:solidFill>
                  <a:srgbClr val="0E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Informal land tenure</a:t>
            </a:r>
            <a:endParaRPr lang="en-US" sz="1030" dirty="0"/>
          </a:p>
        </p:txBody>
      </p:sp>
      <p:sp>
        <p:nvSpPr>
          <p:cNvPr id="43" name="Text 37"/>
          <p:cNvSpPr txBox="1"/>
          <p:nvPr/>
        </p:nvSpPr>
        <p:spPr>
          <a:xfrm>
            <a:off x="1133856" y="4864608"/>
            <a:ext cx="466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6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Undocumented or shared land records mean no bankable collateral proof.</a:t>
            </a:r>
            <a:endParaRPr lang="en-US" sz="860" dirty="0"/>
          </a:p>
        </p:txBody>
      </p:sp>
      <p:sp>
        <p:nvSpPr>
          <p:cNvPr id="44" name="Shape 38"/>
          <p:cNvSpPr/>
          <p:nvPr/>
        </p:nvSpPr>
        <p:spPr>
          <a:xfrm>
            <a:off x="658368" y="5212080"/>
            <a:ext cx="329184" cy="329184"/>
          </a:xfrm>
          <a:prstGeom prst="ellipse">
            <a:avLst/>
          </a:prstGeom>
          <a:solidFill>
            <a:srgbClr val="E4EFE9"/>
          </a:solidFill>
          <a:ln/>
        </p:spPr>
      </p:sp>
      <p:pic>
        <p:nvPicPr>
          <p:cNvPr id="45" name="Image 4" descr="/tmp/claude-0/-home-claude/f50031d9-b5ad-5737-9b32-1977a75a6c42/scratchpad/deck/icons/building_tea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3956" y="5297668"/>
            <a:ext cx="158008" cy="158008"/>
          </a:xfrm>
          <a:prstGeom prst="rect">
            <a:avLst/>
          </a:prstGeom>
        </p:spPr>
      </p:pic>
      <p:sp>
        <p:nvSpPr>
          <p:cNvPr id="46" name="Text 39"/>
          <p:cNvSpPr txBox="1"/>
          <p:nvPr/>
        </p:nvSpPr>
        <p:spPr>
          <a:xfrm>
            <a:off x="1133856" y="5193792"/>
            <a:ext cx="466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30" b="1" dirty="0">
                <a:solidFill>
                  <a:srgbClr val="0E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cost-to-serve</a:t>
            </a:r>
            <a:endParaRPr lang="en-US" sz="1030" dirty="0"/>
          </a:p>
        </p:txBody>
      </p:sp>
      <p:sp>
        <p:nvSpPr>
          <p:cNvPr id="47" name="Text 40"/>
          <p:cNvSpPr txBox="1"/>
          <p:nvPr/>
        </p:nvSpPr>
        <p:spPr>
          <a:xfrm>
            <a:off x="1133856" y="5394960"/>
            <a:ext cx="466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6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Branch-based underwriting for small-ticket rural loans rarely clears unit-economics.</a:t>
            </a:r>
            <a:endParaRPr lang="en-US" sz="860" dirty="0"/>
          </a:p>
        </p:txBody>
      </p:sp>
      <p:sp>
        <p:nvSpPr>
          <p:cNvPr id="48" name="Shape 41"/>
          <p:cNvSpPr/>
          <p:nvPr/>
        </p:nvSpPr>
        <p:spPr>
          <a:xfrm>
            <a:off x="6233008" y="3163824"/>
            <a:ext cx="5501488" cy="310896"/>
          </a:xfrm>
          <a:prstGeom prst="roundRect">
            <a:avLst>
              <a:gd name="adj" fmla="val 20588"/>
            </a:avLst>
          </a:prstGeom>
          <a:solidFill>
            <a:srgbClr val="5C8A72"/>
          </a:solidFill>
          <a:ln/>
        </p:spPr>
      </p:sp>
      <p:sp>
        <p:nvSpPr>
          <p:cNvPr id="49" name="Text 42"/>
          <p:cNvSpPr txBox="1"/>
          <p:nvPr/>
        </p:nvSpPr>
        <p:spPr>
          <a:xfrm>
            <a:off x="6379312" y="3163824"/>
            <a:ext cx="522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SEGMENTS — VILLAGE-LEVEL NEED</a:t>
            </a:r>
            <a:endParaRPr lang="en-US" sz="1150" dirty="0"/>
          </a:p>
        </p:txBody>
      </p:sp>
      <p:sp>
        <p:nvSpPr>
          <p:cNvPr id="50" name="Shape 43"/>
          <p:cNvSpPr/>
          <p:nvPr/>
        </p:nvSpPr>
        <p:spPr>
          <a:xfrm>
            <a:off x="6233008" y="3474720"/>
            <a:ext cx="5501488" cy="2212848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 w="9525">
            <a:solidFill>
              <a:srgbClr val="D9E7E1"/>
            </a:solidFill>
            <a:prstDash val="solid"/>
          </a:ln>
        </p:spPr>
      </p:sp>
      <p:sp>
        <p:nvSpPr>
          <p:cNvPr id="51" name="Shape 44"/>
          <p:cNvSpPr/>
          <p:nvPr/>
        </p:nvSpPr>
        <p:spPr>
          <a:xfrm>
            <a:off x="6434176" y="3621024"/>
            <a:ext cx="329184" cy="329184"/>
          </a:xfrm>
          <a:prstGeom prst="ellipse">
            <a:avLst/>
          </a:prstGeom>
          <a:solidFill>
            <a:srgbClr val="E4EFE9"/>
          </a:solidFill>
          <a:ln/>
        </p:spPr>
      </p:sp>
      <p:pic>
        <p:nvPicPr>
          <p:cNvPr id="52" name="Image 5" descr="/tmp/claude-0/-home-claude/f50031d9-b5ad-5737-9b32-1977a75a6c42/scratchpad/deck/icons/tractor_teal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9763" y="3706612"/>
            <a:ext cx="158008" cy="158008"/>
          </a:xfrm>
          <a:prstGeom prst="rect">
            <a:avLst/>
          </a:prstGeom>
        </p:spPr>
      </p:pic>
      <p:sp>
        <p:nvSpPr>
          <p:cNvPr id="53" name="Text 45"/>
          <p:cNvSpPr txBox="1"/>
          <p:nvPr/>
        </p:nvSpPr>
        <p:spPr>
          <a:xfrm>
            <a:off x="6909664" y="3602736"/>
            <a:ext cx="466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30" b="1" dirty="0">
                <a:solidFill>
                  <a:srgbClr val="0E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Smallholder &amp; marginal farmers</a:t>
            </a:r>
            <a:endParaRPr lang="en-US" sz="1030" dirty="0"/>
          </a:p>
        </p:txBody>
      </p:sp>
      <p:sp>
        <p:nvSpPr>
          <p:cNvPr id="54" name="Text 46"/>
          <p:cNvSpPr txBox="1"/>
          <p:nvPr/>
        </p:nvSpPr>
        <p:spPr>
          <a:xfrm>
            <a:off x="6909664" y="3803904"/>
            <a:ext cx="466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6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86% of India’s operational holdings are below 2 hectares (Agriculture Census 2015-16) — the core thin-file segment.</a:t>
            </a:r>
            <a:endParaRPr lang="en-US" sz="860" dirty="0"/>
          </a:p>
        </p:txBody>
      </p:sp>
      <p:sp>
        <p:nvSpPr>
          <p:cNvPr id="55" name="Shape 47"/>
          <p:cNvSpPr/>
          <p:nvPr/>
        </p:nvSpPr>
        <p:spPr>
          <a:xfrm>
            <a:off x="6434176" y="4151376"/>
            <a:ext cx="329184" cy="329184"/>
          </a:xfrm>
          <a:prstGeom prst="ellipse">
            <a:avLst/>
          </a:prstGeom>
          <a:solidFill>
            <a:srgbClr val="E4EFE9"/>
          </a:solidFill>
          <a:ln/>
        </p:spPr>
      </p:sp>
      <p:pic>
        <p:nvPicPr>
          <p:cNvPr id="56" name="Image 6" descr="/tmp/claude-0/-home-claude/f50031d9-b5ad-5737-9b32-1977a75a6c42/scratchpad/deck/icons/users_teal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19763" y="4236964"/>
            <a:ext cx="158008" cy="158008"/>
          </a:xfrm>
          <a:prstGeom prst="rect">
            <a:avLst/>
          </a:prstGeom>
        </p:spPr>
      </p:pic>
      <p:sp>
        <p:nvSpPr>
          <p:cNvPr id="57" name="Text 48"/>
          <p:cNvSpPr txBox="1"/>
          <p:nvPr/>
        </p:nvSpPr>
        <p:spPr>
          <a:xfrm>
            <a:off x="6909664" y="4133088"/>
            <a:ext cx="466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30" b="1" dirty="0">
                <a:solidFill>
                  <a:srgbClr val="0E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Self-Help Groups (SHGs)</a:t>
            </a:r>
            <a:endParaRPr lang="en-US" sz="1030" dirty="0"/>
          </a:p>
        </p:txBody>
      </p:sp>
      <p:sp>
        <p:nvSpPr>
          <p:cNvPr id="58" name="Text 49"/>
          <p:cNvSpPr txBox="1"/>
          <p:nvPr/>
        </p:nvSpPr>
        <p:spPr>
          <a:xfrm>
            <a:off x="6909664" y="4334256"/>
            <a:ext cx="466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6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12M+ credit-linked SHGs, ~90% women-led, ₹1.5L Cr+ credit outstanding (NABARD SHG-BLP).</a:t>
            </a:r>
            <a:endParaRPr lang="en-US" sz="860" dirty="0"/>
          </a:p>
        </p:txBody>
      </p:sp>
      <p:sp>
        <p:nvSpPr>
          <p:cNvPr id="59" name="Shape 50"/>
          <p:cNvSpPr/>
          <p:nvPr/>
        </p:nvSpPr>
        <p:spPr>
          <a:xfrm>
            <a:off x="6434176" y="4681728"/>
            <a:ext cx="329184" cy="329184"/>
          </a:xfrm>
          <a:prstGeom prst="ellipse">
            <a:avLst/>
          </a:prstGeom>
          <a:solidFill>
            <a:srgbClr val="E4EFE9"/>
          </a:solidFill>
          <a:ln/>
        </p:spPr>
      </p:sp>
      <p:pic>
        <p:nvPicPr>
          <p:cNvPr id="60" name="Image 7" descr="/tmp/claude-0/-home-claude/f50031d9-b5ad-5737-9b32-1977a75a6c42/scratchpad/deck/icons/seedling_teal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19763" y="4767316"/>
            <a:ext cx="158008" cy="158008"/>
          </a:xfrm>
          <a:prstGeom prst="rect">
            <a:avLst/>
          </a:prstGeom>
        </p:spPr>
      </p:pic>
      <p:sp>
        <p:nvSpPr>
          <p:cNvPr id="61" name="Text 51"/>
          <p:cNvSpPr txBox="1"/>
          <p:nvPr/>
        </p:nvSpPr>
        <p:spPr>
          <a:xfrm>
            <a:off x="6909664" y="4663440"/>
            <a:ext cx="466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30" b="1" dirty="0">
                <a:solidFill>
                  <a:srgbClr val="0E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 Producer Organisations (FPOs)</a:t>
            </a:r>
            <a:endParaRPr lang="en-US" sz="1030" dirty="0"/>
          </a:p>
        </p:txBody>
      </p:sp>
      <p:sp>
        <p:nvSpPr>
          <p:cNvPr id="62" name="Text 52"/>
          <p:cNvSpPr txBox="1"/>
          <p:nvPr/>
        </p:nvSpPr>
        <p:spPr>
          <a:xfrm>
            <a:off x="6909664" y="4864608"/>
            <a:ext cx="466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6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produce &amp; inputs at village scale — group creditworthiness, not individual bureau files.</a:t>
            </a:r>
            <a:endParaRPr lang="en-US" sz="860" dirty="0"/>
          </a:p>
        </p:txBody>
      </p:sp>
      <p:sp>
        <p:nvSpPr>
          <p:cNvPr id="63" name="Shape 53"/>
          <p:cNvSpPr/>
          <p:nvPr/>
        </p:nvSpPr>
        <p:spPr>
          <a:xfrm>
            <a:off x="6434176" y="5212080"/>
            <a:ext cx="329184" cy="329184"/>
          </a:xfrm>
          <a:prstGeom prst="ellipse">
            <a:avLst/>
          </a:prstGeom>
          <a:solidFill>
            <a:srgbClr val="E4EFE9"/>
          </a:solidFill>
          <a:ln/>
        </p:spPr>
      </p:sp>
      <p:pic>
        <p:nvPicPr>
          <p:cNvPr id="64" name="Image 8" descr="/tmp/claude-0/-home-claude/f50031d9-b5ad-5737-9b32-1977a75a6c42/scratchpad/deck/icons/handshake_teal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19763" y="5297668"/>
            <a:ext cx="158008" cy="158008"/>
          </a:xfrm>
          <a:prstGeom prst="rect">
            <a:avLst/>
          </a:prstGeom>
        </p:spPr>
      </p:pic>
      <p:sp>
        <p:nvSpPr>
          <p:cNvPr id="65" name="Text 54"/>
          <p:cNvSpPr txBox="1"/>
          <p:nvPr/>
        </p:nvSpPr>
        <p:spPr>
          <a:xfrm>
            <a:off x="6909664" y="5193792"/>
            <a:ext cx="466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30" b="1" dirty="0">
                <a:solidFill>
                  <a:srgbClr val="0E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micro-enterprises</a:t>
            </a:r>
            <a:endParaRPr lang="en-US" sz="1030" dirty="0"/>
          </a:p>
        </p:txBody>
      </p:sp>
      <p:sp>
        <p:nvSpPr>
          <p:cNvPr id="66" name="Text 55"/>
          <p:cNvSpPr txBox="1"/>
          <p:nvPr/>
        </p:nvSpPr>
        <p:spPr>
          <a:xfrm>
            <a:off x="6909664" y="5394960"/>
            <a:ext cx="466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6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Non-farm rural livelihoods (trade, services, agri-processing) with irregular, cash-heavy income.</a:t>
            </a:r>
            <a:endParaRPr lang="en-US" sz="86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12064" cy="512064"/>
          </a:xfrm>
          <a:prstGeom prst="ellipse">
            <a:avLst/>
          </a:prstGeom>
          <a:solidFill>
            <a:srgbClr val="E4EFE9"/>
          </a:solidFill>
          <a:ln/>
        </p:spPr>
      </p:sp>
      <p:pic>
        <p:nvPicPr>
          <p:cNvPr id="3" name="Image 0" descr="/tmp/claude-0/-home-claude/f50031d9-b5ad-5737-9b32-1977a75a6c42/scratchpad/deck/icons/sitemap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0337" y="498897"/>
            <a:ext cx="245791" cy="245791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115568" y="365760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C98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1 · FOUNDATION</a:t>
            </a:r>
            <a:endParaRPr lang="en-US" sz="1050" dirty="0"/>
          </a:p>
        </p:txBody>
      </p:sp>
      <p:sp>
        <p:nvSpPr>
          <p:cNvPr id="5" name="Text 2"/>
          <p:cNvSpPr txBox="1"/>
          <p:nvPr/>
        </p:nvSpPr>
        <p:spPr>
          <a:xfrm>
            <a:off x="1115568" y="5486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E4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Stakeholder &amp; Institutional Mapping</a:t>
            </a:r>
            <a:endParaRPr lang="en-US" sz="2700" dirty="0"/>
          </a:p>
        </p:txBody>
      </p:sp>
      <p:sp>
        <p:nvSpPr>
          <p:cNvPr id="6" name="Text 3"/>
          <p:cNvSpPr txBox="1"/>
          <p:nvPr/>
        </p:nvSpPr>
        <p:spPr>
          <a:xfrm>
            <a:off x="8808415" y="38404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CREDITTECH  ·  MID-TERM REVIEW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8808415" y="56692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76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03 / 20  ·  FOUNDATION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" y="6419088"/>
            <a:ext cx="2182307" cy="310896"/>
          </a:xfrm>
          <a:prstGeom prst="roundRect">
            <a:avLst>
              <a:gd name="adj" fmla="val 50000"/>
            </a:avLst>
          </a:prstGeom>
          <a:solidFill>
            <a:srgbClr val="0E4B43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457200" y="6419088"/>
            <a:ext cx="218230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860" dirty="0"/>
          </a:p>
        </p:txBody>
      </p:sp>
      <p:sp>
        <p:nvSpPr>
          <p:cNvPr id="10" name="Shape 7"/>
          <p:cNvSpPr/>
          <p:nvPr/>
        </p:nvSpPr>
        <p:spPr>
          <a:xfrm>
            <a:off x="2730947" y="6419088"/>
            <a:ext cx="2182307" cy="310896"/>
          </a:xfrm>
          <a:prstGeom prst="roundRect">
            <a:avLst>
              <a:gd name="adj" fmla="val 50000"/>
            </a:avLst>
          </a:prstGeom>
          <a:solidFill>
            <a:srgbClr val="E4EFE9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2730947" y="6419088"/>
            <a:ext cx="218230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spc="40" kern="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AI PIPELINE</a:t>
            </a:r>
            <a:endParaRPr lang="en-US" sz="860" dirty="0"/>
          </a:p>
        </p:txBody>
      </p:sp>
      <p:sp>
        <p:nvSpPr>
          <p:cNvPr id="12" name="Shape 9"/>
          <p:cNvSpPr/>
          <p:nvPr/>
        </p:nvSpPr>
        <p:spPr>
          <a:xfrm>
            <a:off x="5004694" y="6419088"/>
            <a:ext cx="2182307" cy="310896"/>
          </a:xfrm>
          <a:prstGeom prst="roundRect">
            <a:avLst>
              <a:gd name="adj" fmla="val 50000"/>
            </a:avLst>
          </a:prstGeom>
          <a:solidFill>
            <a:srgbClr val="E4EFE9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004694" y="6419088"/>
            <a:ext cx="218230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spc="40" kern="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TECH</a:t>
            </a:r>
            <a:endParaRPr lang="en-US" sz="860" dirty="0"/>
          </a:p>
        </p:txBody>
      </p:sp>
      <p:sp>
        <p:nvSpPr>
          <p:cNvPr id="14" name="Shape 11"/>
          <p:cNvSpPr/>
          <p:nvPr/>
        </p:nvSpPr>
        <p:spPr>
          <a:xfrm>
            <a:off x="7278441" y="6419088"/>
            <a:ext cx="2182307" cy="310896"/>
          </a:xfrm>
          <a:prstGeom prst="roundRect">
            <a:avLst>
              <a:gd name="adj" fmla="val 50000"/>
            </a:avLst>
          </a:prstGeom>
          <a:solidFill>
            <a:srgbClr val="E4EFE9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278441" y="6419088"/>
            <a:ext cx="218230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spc="40" kern="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&amp; PILOT</a:t>
            </a:r>
            <a:endParaRPr lang="en-US" sz="860" dirty="0"/>
          </a:p>
        </p:txBody>
      </p:sp>
      <p:sp>
        <p:nvSpPr>
          <p:cNvPr id="16" name="Shape 13"/>
          <p:cNvSpPr/>
          <p:nvPr/>
        </p:nvSpPr>
        <p:spPr>
          <a:xfrm>
            <a:off x="9552188" y="6419088"/>
            <a:ext cx="2182307" cy="310896"/>
          </a:xfrm>
          <a:prstGeom prst="roundRect">
            <a:avLst>
              <a:gd name="adj" fmla="val 50000"/>
            </a:avLst>
          </a:prstGeom>
          <a:solidFill>
            <a:srgbClr val="E4EFE9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9552188" y="6419088"/>
            <a:ext cx="218230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spc="40" kern="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&amp; ROADMAP</a:t>
            </a:r>
            <a:endParaRPr lang="en-US" sz="860" dirty="0"/>
          </a:p>
        </p:txBody>
      </p:sp>
      <p:sp>
        <p:nvSpPr>
          <p:cNvPr id="18" name="Shape 15"/>
          <p:cNvSpPr/>
          <p:nvPr/>
        </p:nvSpPr>
        <p:spPr>
          <a:xfrm>
            <a:off x="4769968" y="1207008"/>
            <a:ext cx="2651760" cy="868680"/>
          </a:xfrm>
          <a:prstGeom prst="roundRect">
            <a:avLst>
              <a:gd name="adj" fmla="val 12632"/>
            </a:avLst>
          </a:prstGeom>
          <a:solidFill>
            <a:srgbClr val="0E4B43"/>
          </a:solidFill>
          <a:ln/>
          <a:effectLst>
            <a:outerShdw sx="100000" sy="100000" kx="0" ky="0" algn="bl" rotWithShape="0" blurRad="101600" dist="38100" dir="5400000">
              <a:srgbClr val="0A322C">
                <a:alpha val="18000"/>
              </a:srgbClr>
            </a:outerShdw>
          </a:effectLst>
        </p:spPr>
      </p:sp>
      <p:pic>
        <p:nvPicPr>
          <p:cNvPr id="19" name="Image 1" descr="/tmp/claude-0/-home-claude/f50031d9-b5ad-5737-9b32-1977a75a6c42/scratchpad/deck/icons/cube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4560" y="1408176"/>
            <a:ext cx="457200" cy="457200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5483200" y="1335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CreditTech Platform</a:t>
            </a:r>
            <a:endParaRPr lang="en-US" sz="1300" dirty="0"/>
          </a:p>
        </p:txBody>
      </p:sp>
      <p:sp>
        <p:nvSpPr>
          <p:cNvPr id="21" name="Text 17"/>
          <p:cNvSpPr txBox="1"/>
          <p:nvPr/>
        </p:nvSpPr>
        <p:spPr>
          <a:xfrm>
            <a:off x="5483200" y="1609344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BFD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Consent-gated scoring &amp; decision-support engine</a:t>
            </a:r>
            <a:endParaRPr lang="en-US" sz="860" dirty="0"/>
          </a:p>
        </p:txBody>
      </p:sp>
      <p:sp>
        <p:nvSpPr>
          <p:cNvPr id="22" name="Shape 18"/>
          <p:cNvSpPr/>
          <p:nvPr/>
        </p:nvSpPr>
        <p:spPr>
          <a:xfrm>
            <a:off x="457200" y="2350008"/>
            <a:ext cx="3637178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9525">
            <a:solidFill>
              <a:srgbClr val="D9E7E1"/>
            </a:solidFill>
            <a:prstDash val="solid"/>
          </a:ln>
          <a:effectLst>
            <a:outerShdw sx="100000" sy="100000" kx="0" ky="0" algn="bl" rotWithShape="0" blurRad="101600" dist="38100" dir="5400000">
              <a:srgbClr val="0A322C">
                <a:alpha val="18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21792" y="2496312"/>
            <a:ext cx="402336" cy="402336"/>
          </a:xfrm>
          <a:prstGeom prst="ellipse">
            <a:avLst/>
          </a:prstGeom>
          <a:solidFill>
            <a:srgbClr val="E4EFE9"/>
          </a:solidFill>
          <a:ln/>
        </p:spPr>
      </p:sp>
      <p:pic>
        <p:nvPicPr>
          <p:cNvPr id="24" name="Image 2" descr="/tmp/claude-0/-home-claude/f50031d9-b5ad-5737-9b32-1977a75a6c42/scratchpad/deck/icons/userFriends_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399" y="2600919"/>
            <a:ext cx="193121" cy="193121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1133856" y="2478024"/>
            <a:ext cx="281421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E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Borrowers</a:t>
            </a:r>
            <a:endParaRPr lang="en-US" sz="1150" dirty="0"/>
          </a:p>
        </p:txBody>
      </p:sp>
      <p:sp>
        <p:nvSpPr>
          <p:cNvPr id="26" name="Text 21"/>
          <p:cNvSpPr txBox="1"/>
          <p:nvPr/>
        </p:nvSpPr>
        <p:spPr>
          <a:xfrm>
            <a:off x="1133856" y="2715768"/>
            <a:ext cx="281421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40" i="1" dirty="0">
                <a:solidFill>
                  <a:srgbClr val="C98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 / SHG member / FPO / rural enterprise</a:t>
            </a:r>
            <a:endParaRPr lang="en-US" sz="840" dirty="0"/>
          </a:p>
        </p:txBody>
      </p:sp>
      <p:sp>
        <p:nvSpPr>
          <p:cNvPr id="27" name="Text 22"/>
          <p:cNvSpPr txBox="1"/>
          <p:nvPr/>
        </p:nvSpPr>
        <p:spPr>
          <a:xfrm>
            <a:off x="621792" y="3063240"/>
            <a:ext cx="330799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consent &amp; data → receives score + reason codes → can appeal</a:t>
            </a:r>
            <a:endParaRPr lang="en-US" sz="880" dirty="0"/>
          </a:p>
        </p:txBody>
      </p:sp>
      <p:sp>
        <p:nvSpPr>
          <p:cNvPr id="28" name="Shape 23"/>
          <p:cNvSpPr/>
          <p:nvPr/>
        </p:nvSpPr>
        <p:spPr>
          <a:xfrm>
            <a:off x="4277258" y="2350008"/>
            <a:ext cx="3637178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9525">
            <a:solidFill>
              <a:srgbClr val="D9E7E1"/>
            </a:solidFill>
            <a:prstDash val="solid"/>
          </a:ln>
          <a:effectLst>
            <a:outerShdw sx="100000" sy="100000" kx="0" ky="0" algn="bl" rotWithShape="0" blurRad="101600" dist="38100" dir="5400000">
              <a:srgbClr val="0A322C">
                <a:alpha val="18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4441850" y="2496312"/>
            <a:ext cx="402336" cy="402336"/>
          </a:xfrm>
          <a:prstGeom prst="ellipse">
            <a:avLst/>
          </a:prstGeom>
          <a:solidFill>
            <a:srgbClr val="E4EFE9"/>
          </a:solidFill>
          <a:ln/>
        </p:spPr>
      </p:sp>
      <p:pic>
        <p:nvPicPr>
          <p:cNvPr id="30" name="Image 3" descr="/tmp/claude-0/-home-claude/f50031d9-b5ad-5737-9b32-1977a75a6c42/scratchpad/deck/icons/userTie_te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6458" y="2600919"/>
            <a:ext cx="193121" cy="193121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4953914" y="2478024"/>
            <a:ext cx="281421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E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Sakhi / Field Officer</a:t>
            </a:r>
            <a:endParaRPr lang="en-US" sz="1150" dirty="0"/>
          </a:p>
        </p:txBody>
      </p:sp>
      <p:sp>
        <p:nvSpPr>
          <p:cNvPr id="32" name="Text 26"/>
          <p:cNvSpPr txBox="1"/>
          <p:nvPr/>
        </p:nvSpPr>
        <p:spPr>
          <a:xfrm>
            <a:off x="4953914" y="2715768"/>
            <a:ext cx="281421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40" i="1" dirty="0">
                <a:solidFill>
                  <a:srgbClr val="C98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Offline-first assisted onboarding</a:t>
            </a:r>
            <a:endParaRPr lang="en-US" sz="840" dirty="0"/>
          </a:p>
        </p:txBody>
      </p:sp>
      <p:sp>
        <p:nvSpPr>
          <p:cNvPr id="33" name="Text 27"/>
          <p:cNvSpPr txBox="1"/>
          <p:nvPr/>
        </p:nvSpPr>
        <p:spPr>
          <a:xfrm>
            <a:off x="4441850" y="3063240"/>
            <a:ext cx="330799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Digitises SHG/FPO data for digitally-excluded applicants</a:t>
            </a:r>
            <a:endParaRPr lang="en-US" sz="880" dirty="0"/>
          </a:p>
        </p:txBody>
      </p:sp>
      <p:sp>
        <p:nvSpPr>
          <p:cNvPr id="34" name="Shape 28"/>
          <p:cNvSpPr/>
          <p:nvPr/>
        </p:nvSpPr>
        <p:spPr>
          <a:xfrm>
            <a:off x="8097317" y="2350008"/>
            <a:ext cx="3637178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9525">
            <a:solidFill>
              <a:srgbClr val="D9E7E1"/>
            </a:solidFill>
            <a:prstDash val="solid"/>
          </a:ln>
          <a:effectLst>
            <a:outerShdw sx="100000" sy="100000" kx="0" ky="0" algn="bl" rotWithShape="0" blurRad="101600" dist="38100" dir="5400000">
              <a:srgbClr val="0A322C">
                <a:alpha val="18000"/>
              </a:srgbClr>
            </a:outerShdw>
          </a:effectLst>
        </p:spPr>
      </p:sp>
      <p:sp>
        <p:nvSpPr>
          <p:cNvPr id="35" name="Shape 29"/>
          <p:cNvSpPr/>
          <p:nvPr/>
        </p:nvSpPr>
        <p:spPr>
          <a:xfrm>
            <a:off x="8261909" y="2496312"/>
            <a:ext cx="402336" cy="402336"/>
          </a:xfrm>
          <a:prstGeom prst="ellipse">
            <a:avLst/>
          </a:prstGeom>
          <a:solidFill>
            <a:srgbClr val="E4EFE9"/>
          </a:solidFill>
          <a:ln/>
        </p:spPr>
      </p:sp>
      <p:pic>
        <p:nvPicPr>
          <p:cNvPr id="36" name="Image 4" descr="/tmp/claude-0/-home-claude/f50031d9-b5ad-5737-9b32-1977a75a6c42/scratchpad/deck/icons/university_tea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6516" y="2600919"/>
            <a:ext cx="193121" cy="193121"/>
          </a:xfrm>
          <a:prstGeom prst="rect">
            <a:avLst/>
          </a:prstGeom>
        </p:spPr>
      </p:pic>
      <p:sp>
        <p:nvSpPr>
          <p:cNvPr id="37" name="Text 30"/>
          <p:cNvSpPr txBox="1"/>
          <p:nvPr/>
        </p:nvSpPr>
        <p:spPr>
          <a:xfrm>
            <a:off x="8773973" y="2478024"/>
            <a:ext cx="281421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E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Lending Institution (RE)</a:t>
            </a:r>
            <a:endParaRPr lang="en-US" sz="1150" dirty="0"/>
          </a:p>
        </p:txBody>
      </p:sp>
      <p:sp>
        <p:nvSpPr>
          <p:cNvPr id="38" name="Text 31"/>
          <p:cNvSpPr txBox="1"/>
          <p:nvPr/>
        </p:nvSpPr>
        <p:spPr>
          <a:xfrm>
            <a:off x="8773973" y="2715768"/>
            <a:ext cx="281421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40" i="1" dirty="0">
                <a:solidFill>
                  <a:srgbClr val="C98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/ NBFC / MFI partner</a:t>
            </a:r>
            <a:endParaRPr lang="en-US" sz="840" dirty="0"/>
          </a:p>
        </p:txBody>
      </p:sp>
      <p:sp>
        <p:nvSpPr>
          <p:cNvPr id="39" name="Text 32"/>
          <p:cNvSpPr txBox="1"/>
          <p:nvPr/>
        </p:nvSpPr>
        <p:spPr>
          <a:xfrm>
            <a:off x="8261909" y="3063240"/>
            <a:ext cx="330799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structured score + reason-code handoff → makes final decision</a:t>
            </a:r>
            <a:endParaRPr lang="en-US" sz="880" dirty="0"/>
          </a:p>
        </p:txBody>
      </p:sp>
      <p:sp>
        <p:nvSpPr>
          <p:cNvPr id="40" name="Shape 33"/>
          <p:cNvSpPr/>
          <p:nvPr/>
        </p:nvSpPr>
        <p:spPr>
          <a:xfrm>
            <a:off x="457200" y="4087368"/>
            <a:ext cx="3637178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9525">
            <a:solidFill>
              <a:srgbClr val="D9E7E1"/>
            </a:solidFill>
            <a:prstDash val="solid"/>
          </a:ln>
          <a:effectLst>
            <a:outerShdw sx="100000" sy="100000" kx="0" ky="0" algn="bl" rotWithShape="0" blurRad="101600" dist="38100" dir="5400000">
              <a:srgbClr val="0A322C">
                <a:alpha val="18000"/>
              </a:srgbClr>
            </a:outerShdw>
          </a:effectLst>
        </p:spPr>
      </p:sp>
      <p:sp>
        <p:nvSpPr>
          <p:cNvPr id="41" name="Shape 34"/>
          <p:cNvSpPr/>
          <p:nvPr/>
        </p:nvSpPr>
        <p:spPr>
          <a:xfrm>
            <a:off x="621792" y="4233672"/>
            <a:ext cx="402336" cy="402336"/>
          </a:xfrm>
          <a:prstGeom prst="ellipse">
            <a:avLst/>
          </a:prstGeom>
          <a:solidFill>
            <a:srgbClr val="E4EFE9"/>
          </a:solidFill>
          <a:ln/>
        </p:spPr>
      </p:sp>
      <p:pic>
        <p:nvPicPr>
          <p:cNvPr id="42" name="Image 5" descr="/tmp/claude-0/-home-claude/f50031d9-b5ad-5737-9b32-1977a75a6c42/scratchpad/deck/icons/landmark_teal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6399" y="4338279"/>
            <a:ext cx="193121" cy="193121"/>
          </a:xfrm>
          <a:prstGeom prst="rect">
            <a:avLst/>
          </a:prstGeom>
        </p:spPr>
      </p:pic>
      <p:sp>
        <p:nvSpPr>
          <p:cNvPr id="43" name="Text 35"/>
          <p:cNvSpPr txBox="1"/>
          <p:nvPr/>
        </p:nvSpPr>
        <p:spPr>
          <a:xfrm>
            <a:off x="1133856" y="4215384"/>
            <a:ext cx="281421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E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Regulators</a:t>
            </a:r>
            <a:endParaRPr lang="en-US" sz="1150" dirty="0"/>
          </a:p>
        </p:txBody>
      </p:sp>
      <p:sp>
        <p:nvSpPr>
          <p:cNvPr id="44" name="Text 36"/>
          <p:cNvSpPr txBox="1"/>
          <p:nvPr/>
        </p:nvSpPr>
        <p:spPr>
          <a:xfrm>
            <a:off x="1133856" y="4453128"/>
            <a:ext cx="281421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40" i="1" dirty="0">
                <a:solidFill>
                  <a:srgbClr val="C98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RBI · NABARD · DPDP Board</a:t>
            </a:r>
            <a:endParaRPr lang="en-US" sz="840" dirty="0"/>
          </a:p>
        </p:txBody>
      </p:sp>
      <p:sp>
        <p:nvSpPr>
          <p:cNvPr id="45" name="Text 37"/>
          <p:cNvSpPr txBox="1"/>
          <p:nvPr/>
        </p:nvSpPr>
        <p:spPr>
          <a:xfrm>
            <a:off x="621792" y="4800600"/>
            <a:ext cx="330799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AA, Digital Lending &amp; DPDP compliance boundaries — a governance constraint, not an integration</a:t>
            </a:r>
            <a:endParaRPr lang="en-US" sz="880" dirty="0"/>
          </a:p>
        </p:txBody>
      </p:sp>
      <p:sp>
        <p:nvSpPr>
          <p:cNvPr id="46" name="Shape 38"/>
          <p:cNvSpPr/>
          <p:nvPr/>
        </p:nvSpPr>
        <p:spPr>
          <a:xfrm>
            <a:off x="4277258" y="4087368"/>
            <a:ext cx="3637178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9525">
            <a:solidFill>
              <a:srgbClr val="D9E7E1"/>
            </a:solidFill>
            <a:prstDash val="solid"/>
          </a:ln>
          <a:effectLst>
            <a:outerShdw sx="100000" sy="100000" kx="0" ky="0" algn="bl" rotWithShape="0" blurRad="101600" dist="38100" dir="5400000">
              <a:srgbClr val="0A322C">
                <a:alpha val="18000"/>
              </a:srgbClr>
            </a:outerShdw>
          </a:effectLst>
        </p:spPr>
      </p:sp>
      <p:sp>
        <p:nvSpPr>
          <p:cNvPr id="47" name="Shape 39"/>
          <p:cNvSpPr/>
          <p:nvPr/>
        </p:nvSpPr>
        <p:spPr>
          <a:xfrm>
            <a:off x="4441850" y="4233672"/>
            <a:ext cx="402336" cy="402336"/>
          </a:xfrm>
          <a:prstGeom prst="ellipse">
            <a:avLst/>
          </a:prstGeom>
          <a:solidFill>
            <a:srgbClr val="E4EFE9"/>
          </a:solidFill>
          <a:ln/>
        </p:spPr>
      </p:sp>
      <p:pic>
        <p:nvPicPr>
          <p:cNvPr id="48" name="Image 6" descr="/tmp/claude-0/-home-claude/f50031d9-b5ad-5737-9b32-1977a75a6c42/scratchpad/deck/icons/plug_teal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46458" y="4338279"/>
            <a:ext cx="193121" cy="193121"/>
          </a:xfrm>
          <a:prstGeom prst="rect">
            <a:avLst/>
          </a:prstGeom>
        </p:spPr>
      </p:pic>
      <p:sp>
        <p:nvSpPr>
          <p:cNvPr id="49" name="Text 40"/>
          <p:cNvSpPr txBox="1"/>
          <p:nvPr/>
        </p:nvSpPr>
        <p:spPr>
          <a:xfrm>
            <a:off x="4953914" y="4215384"/>
            <a:ext cx="281421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E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DPI Data Rails</a:t>
            </a:r>
            <a:endParaRPr lang="en-US" sz="1150" dirty="0"/>
          </a:p>
        </p:txBody>
      </p:sp>
      <p:sp>
        <p:nvSpPr>
          <p:cNvPr id="50" name="Text 41"/>
          <p:cNvSpPr txBox="1"/>
          <p:nvPr/>
        </p:nvSpPr>
        <p:spPr>
          <a:xfrm>
            <a:off x="4953914" y="4453128"/>
            <a:ext cx="281421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40" i="1" dirty="0">
                <a:solidFill>
                  <a:srgbClr val="C98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Aggregator · OCEN · Bureau/CIC</a:t>
            </a:r>
            <a:endParaRPr lang="en-US" sz="840" dirty="0"/>
          </a:p>
        </p:txBody>
      </p:sp>
      <p:sp>
        <p:nvSpPr>
          <p:cNvPr id="51" name="Text 42"/>
          <p:cNvSpPr txBox="1"/>
          <p:nvPr/>
        </p:nvSpPr>
        <p:spPr>
          <a:xfrm>
            <a:off x="4441850" y="4800600"/>
            <a:ext cx="330799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Consented channels for banking, cash-flow &amp; credit-bureau data</a:t>
            </a:r>
            <a:endParaRPr lang="en-US" sz="880" dirty="0"/>
          </a:p>
        </p:txBody>
      </p:sp>
      <p:sp>
        <p:nvSpPr>
          <p:cNvPr id="52" name="Shape 43"/>
          <p:cNvSpPr/>
          <p:nvPr/>
        </p:nvSpPr>
        <p:spPr>
          <a:xfrm>
            <a:off x="8097317" y="4087368"/>
            <a:ext cx="3637178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9525">
            <a:solidFill>
              <a:srgbClr val="D9E7E1"/>
            </a:solidFill>
            <a:prstDash val="solid"/>
          </a:ln>
          <a:effectLst>
            <a:outerShdw sx="100000" sy="100000" kx="0" ky="0" algn="bl" rotWithShape="0" blurRad="101600" dist="38100" dir="5400000">
              <a:srgbClr val="0A322C">
                <a:alpha val="18000"/>
              </a:srgbClr>
            </a:outerShdw>
          </a:effectLst>
        </p:spPr>
      </p:sp>
      <p:sp>
        <p:nvSpPr>
          <p:cNvPr id="53" name="Shape 44"/>
          <p:cNvSpPr/>
          <p:nvPr/>
        </p:nvSpPr>
        <p:spPr>
          <a:xfrm>
            <a:off x="8261909" y="4233672"/>
            <a:ext cx="402336" cy="402336"/>
          </a:xfrm>
          <a:prstGeom prst="ellipse">
            <a:avLst/>
          </a:prstGeom>
          <a:solidFill>
            <a:srgbClr val="E4EFE9"/>
          </a:solidFill>
          <a:ln/>
        </p:spPr>
      </p:sp>
      <p:pic>
        <p:nvPicPr>
          <p:cNvPr id="54" name="Image 7" descr="/tmp/claude-0/-home-claude/f50031d9-b5ad-5737-9b32-1977a75a6c42/scratchpad/deck/icons/satellite_teal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66516" y="4338279"/>
            <a:ext cx="193121" cy="193121"/>
          </a:xfrm>
          <a:prstGeom prst="rect">
            <a:avLst/>
          </a:prstGeom>
        </p:spPr>
      </p:pic>
      <p:sp>
        <p:nvSpPr>
          <p:cNvPr id="55" name="Text 45"/>
          <p:cNvSpPr txBox="1"/>
          <p:nvPr/>
        </p:nvSpPr>
        <p:spPr>
          <a:xfrm>
            <a:off x="8773973" y="4215384"/>
            <a:ext cx="281421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E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Geospatial &amp; Public-Data Providers</a:t>
            </a:r>
            <a:endParaRPr lang="en-US" sz="1150" dirty="0"/>
          </a:p>
        </p:txBody>
      </p:sp>
      <p:sp>
        <p:nvSpPr>
          <p:cNvPr id="56" name="Text 46"/>
          <p:cNvSpPr txBox="1"/>
          <p:nvPr/>
        </p:nvSpPr>
        <p:spPr>
          <a:xfrm>
            <a:off x="8773973" y="4453128"/>
            <a:ext cx="281421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40" i="1" dirty="0">
                <a:solidFill>
                  <a:srgbClr val="C98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Sentinel-2 EO · PM-KISAN · PMFBY</a:t>
            </a:r>
            <a:endParaRPr lang="en-US" sz="840" dirty="0"/>
          </a:p>
        </p:txBody>
      </p:sp>
      <p:sp>
        <p:nvSpPr>
          <p:cNvPr id="57" name="Text 47"/>
          <p:cNvSpPr txBox="1"/>
          <p:nvPr/>
        </p:nvSpPr>
        <p:spPr>
          <a:xfrm>
            <a:off x="8261909" y="4800600"/>
            <a:ext cx="330799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 NDVI/rainfall + government programme records</a:t>
            </a:r>
            <a:endParaRPr lang="en-US" sz="8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12064" cy="512064"/>
          </a:xfrm>
          <a:prstGeom prst="ellipse">
            <a:avLst/>
          </a:prstGeom>
          <a:solidFill>
            <a:srgbClr val="E4EFE9"/>
          </a:solidFill>
          <a:ln/>
        </p:spPr>
      </p:sp>
      <p:pic>
        <p:nvPicPr>
          <p:cNvPr id="3" name="Image 0" descr="/tmp/claude-0/-home-claude/f50031d9-b5ad-5737-9b32-1977a75a6c42/scratchpad/deck/icons/exchangeAlt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0337" y="498897"/>
            <a:ext cx="245791" cy="245791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115568" y="365760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C98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1 · FOUNDATION</a:t>
            </a:r>
            <a:endParaRPr lang="en-US" sz="1050" dirty="0"/>
          </a:p>
        </p:txBody>
      </p:sp>
      <p:sp>
        <p:nvSpPr>
          <p:cNvPr id="5" name="Text 2"/>
          <p:cNvSpPr txBox="1"/>
          <p:nvPr/>
        </p:nvSpPr>
        <p:spPr>
          <a:xfrm>
            <a:off x="1115568" y="5486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E4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As-Is to To-Be: Reimagining the Lending Process</a:t>
            </a:r>
            <a:endParaRPr lang="en-US" sz="2700" dirty="0"/>
          </a:p>
        </p:txBody>
      </p:sp>
      <p:sp>
        <p:nvSpPr>
          <p:cNvPr id="6" name="Text 3"/>
          <p:cNvSpPr txBox="1"/>
          <p:nvPr/>
        </p:nvSpPr>
        <p:spPr>
          <a:xfrm>
            <a:off x="8808415" y="38404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CREDITTECH  ·  MID-TERM REVIEW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8808415" y="56692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76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04 / 20  ·  FOUNDATION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" y="6419088"/>
            <a:ext cx="2182307" cy="310896"/>
          </a:xfrm>
          <a:prstGeom prst="roundRect">
            <a:avLst>
              <a:gd name="adj" fmla="val 50000"/>
            </a:avLst>
          </a:prstGeom>
          <a:solidFill>
            <a:srgbClr val="0E4B43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457200" y="6419088"/>
            <a:ext cx="218230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860" dirty="0"/>
          </a:p>
        </p:txBody>
      </p:sp>
      <p:sp>
        <p:nvSpPr>
          <p:cNvPr id="10" name="Shape 7"/>
          <p:cNvSpPr/>
          <p:nvPr/>
        </p:nvSpPr>
        <p:spPr>
          <a:xfrm>
            <a:off x="2730947" y="6419088"/>
            <a:ext cx="2182307" cy="310896"/>
          </a:xfrm>
          <a:prstGeom prst="roundRect">
            <a:avLst>
              <a:gd name="adj" fmla="val 50000"/>
            </a:avLst>
          </a:prstGeom>
          <a:solidFill>
            <a:srgbClr val="E4EFE9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2730947" y="6419088"/>
            <a:ext cx="218230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spc="40" kern="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AI PIPELINE</a:t>
            </a:r>
            <a:endParaRPr lang="en-US" sz="860" dirty="0"/>
          </a:p>
        </p:txBody>
      </p:sp>
      <p:sp>
        <p:nvSpPr>
          <p:cNvPr id="12" name="Shape 9"/>
          <p:cNvSpPr/>
          <p:nvPr/>
        </p:nvSpPr>
        <p:spPr>
          <a:xfrm>
            <a:off x="5004694" y="6419088"/>
            <a:ext cx="2182307" cy="310896"/>
          </a:xfrm>
          <a:prstGeom prst="roundRect">
            <a:avLst>
              <a:gd name="adj" fmla="val 50000"/>
            </a:avLst>
          </a:prstGeom>
          <a:solidFill>
            <a:srgbClr val="E4EFE9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004694" y="6419088"/>
            <a:ext cx="218230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spc="40" kern="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TECH</a:t>
            </a:r>
            <a:endParaRPr lang="en-US" sz="860" dirty="0"/>
          </a:p>
        </p:txBody>
      </p:sp>
      <p:sp>
        <p:nvSpPr>
          <p:cNvPr id="14" name="Shape 11"/>
          <p:cNvSpPr/>
          <p:nvPr/>
        </p:nvSpPr>
        <p:spPr>
          <a:xfrm>
            <a:off x="7278441" y="6419088"/>
            <a:ext cx="2182307" cy="310896"/>
          </a:xfrm>
          <a:prstGeom prst="roundRect">
            <a:avLst>
              <a:gd name="adj" fmla="val 50000"/>
            </a:avLst>
          </a:prstGeom>
          <a:solidFill>
            <a:srgbClr val="E4EFE9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278441" y="6419088"/>
            <a:ext cx="218230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spc="40" kern="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&amp; PILOT</a:t>
            </a:r>
            <a:endParaRPr lang="en-US" sz="860" dirty="0"/>
          </a:p>
        </p:txBody>
      </p:sp>
      <p:sp>
        <p:nvSpPr>
          <p:cNvPr id="16" name="Shape 13"/>
          <p:cNvSpPr/>
          <p:nvPr/>
        </p:nvSpPr>
        <p:spPr>
          <a:xfrm>
            <a:off x="9552188" y="6419088"/>
            <a:ext cx="2182307" cy="310896"/>
          </a:xfrm>
          <a:prstGeom prst="roundRect">
            <a:avLst>
              <a:gd name="adj" fmla="val 50000"/>
            </a:avLst>
          </a:prstGeom>
          <a:solidFill>
            <a:srgbClr val="E4EFE9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9552188" y="6419088"/>
            <a:ext cx="218230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spc="40" kern="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&amp; ROADMAP</a:t>
            </a:r>
            <a:endParaRPr lang="en-US" sz="860" dirty="0"/>
          </a:p>
        </p:txBody>
      </p:sp>
      <p:sp>
        <p:nvSpPr>
          <p:cNvPr id="18" name="Shape 15"/>
          <p:cNvSpPr/>
          <p:nvPr/>
        </p:nvSpPr>
        <p:spPr>
          <a:xfrm>
            <a:off x="457200" y="1207008"/>
            <a:ext cx="5501488" cy="310896"/>
          </a:xfrm>
          <a:prstGeom prst="roundRect">
            <a:avLst>
              <a:gd name="adj" fmla="val 20588"/>
            </a:avLst>
          </a:prstGeom>
          <a:solidFill>
            <a:srgbClr val="B5473D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603504" y="1207008"/>
            <a:ext cx="522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AS-IS — TODAY’S RURAL LENDING PROCESS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457200" y="1517904"/>
            <a:ext cx="5501488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9525">
            <a:solidFill>
              <a:srgbClr val="D9E7E1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58368" y="1664208"/>
            <a:ext cx="329184" cy="329184"/>
          </a:xfrm>
          <a:prstGeom prst="ellipse">
            <a:avLst/>
          </a:prstGeom>
          <a:solidFill>
            <a:srgbClr val="F4DEDB"/>
          </a:solidFill>
          <a:ln/>
        </p:spPr>
      </p:sp>
      <p:pic>
        <p:nvPicPr>
          <p:cNvPr id="22" name="Image 1" descr="/tmp/claude-0/-home-claude/f50031d9-b5ad-5737-9b32-1977a75a6c42/scratchpad/deck/icons/building_sla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956" y="1749796"/>
            <a:ext cx="158008" cy="158008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1133856" y="1645920"/>
            <a:ext cx="466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b="1" dirty="0">
                <a:solidFill>
                  <a:srgbClr val="0E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branch visits &amp; paper KYC</a:t>
            </a:r>
            <a:endParaRPr lang="en-US" sz="1020" dirty="0"/>
          </a:p>
        </p:txBody>
      </p:sp>
      <p:sp>
        <p:nvSpPr>
          <p:cNvPr id="24" name="Text 20"/>
          <p:cNvSpPr txBox="1"/>
          <p:nvPr/>
        </p:nvSpPr>
        <p:spPr>
          <a:xfrm>
            <a:off x="1133856" y="1847088"/>
            <a:ext cx="466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travel, paper forms, multi-day cycle for a small-ticket loan.</a:t>
            </a:r>
            <a:endParaRPr lang="en-US" sz="850" dirty="0"/>
          </a:p>
        </p:txBody>
      </p:sp>
      <p:sp>
        <p:nvSpPr>
          <p:cNvPr id="25" name="Shape 21"/>
          <p:cNvSpPr/>
          <p:nvPr/>
        </p:nvSpPr>
        <p:spPr>
          <a:xfrm>
            <a:off x="658368" y="2194560"/>
            <a:ext cx="329184" cy="329184"/>
          </a:xfrm>
          <a:prstGeom prst="ellipse">
            <a:avLst/>
          </a:prstGeom>
          <a:solidFill>
            <a:srgbClr val="F4DEDB"/>
          </a:solidFill>
          <a:ln/>
        </p:spPr>
      </p:sp>
      <p:pic>
        <p:nvPicPr>
          <p:cNvPr id="26" name="Image 2" descr="/tmp/claude-0/-home-claude/f50031d9-b5ad-5737-9b32-1977a75a6c42/scratchpad/deck/icons/fileInvoice_sla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956" y="2280148"/>
            <a:ext cx="158008" cy="158008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1133856" y="2176272"/>
            <a:ext cx="466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b="1" dirty="0">
                <a:solidFill>
                  <a:srgbClr val="0E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Bureau score / collateral only</a:t>
            </a:r>
            <a:endParaRPr lang="en-US" sz="1020" dirty="0"/>
          </a:p>
        </p:txBody>
      </p:sp>
      <p:sp>
        <p:nvSpPr>
          <p:cNvPr id="28" name="Text 23"/>
          <p:cNvSpPr txBox="1"/>
          <p:nvPr/>
        </p:nvSpPr>
        <p:spPr>
          <a:xfrm>
            <a:off x="1133856" y="2377440"/>
            <a:ext cx="466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lean on CIC score or land-title collateral — blind to alternative signals.</a:t>
            </a:r>
            <a:endParaRPr lang="en-US" sz="850" dirty="0"/>
          </a:p>
        </p:txBody>
      </p:sp>
      <p:sp>
        <p:nvSpPr>
          <p:cNvPr id="29" name="Shape 24"/>
          <p:cNvSpPr/>
          <p:nvPr/>
        </p:nvSpPr>
        <p:spPr>
          <a:xfrm>
            <a:off x="658368" y="2724912"/>
            <a:ext cx="329184" cy="329184"/>
          </a:xfrm>
          <a:prstGeom prst="ellipse">
            <a:avLst/>
          </a:prstGeom>
          <a:solidFill>
            <a:srgbClr val="F4DEDB"/>
          </a:solidFill>
          <a:ln/>
        </p:spPr>
      </p:sp>
      <p:pic>
        <p:nvPicPr>
          <p:cNvPr id="30" name="Image 3" descr="/tmp/claude-0/-home-claude/f50031d9-b5ad-5737-9b32-1977a75a6c42/scratchpad/deck/icons/listUl_sla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956" y="2810500"/>
            <a:ext cx="158008" cy="158008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1133856" y="2706624"/>
            <a:ext cx="466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b="1" dirty="0">
                <a:solidFill>
                  <a:srgbClr val="0E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SHG/FPO data in paper registers</a:t>
            </a:r>
            <a:endParaRPr lang="en-US" sz="1020" dirty="0"/>
          </a:p>
        </p:txBody>
      </p:sp>
      <p:sp>
        <p:nvSpPr>
          <p:cNvPr id="32" name="Text 26"/>
          <p:cNvSpPr txBox="1"/>
          <p:nvPr/>
        </p:nvSpPr>
        <p:spPr>
          <a:xfrm>
            <a:off x="1133856" y="2907792"/>
            <a:ext cx="466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repayment history rarely reaches the lender’s decision system.</a:t>
            </a:r>
            <a:endParaRPr lang="en-US" sz="850" dirty="0"/>
          </a:p>
        </p:txBody>
      </p:sp>
      <p:sp>
        <p:nvSpPr>
          <p:cNvPr id="33" name="Shape 27"/>
          <p:cNvSpPr/>
          <p:nvPr/>
        </p:nvSpPr>
        <p:spPr>
          <a:xfrm>
            <a:off x="658368" y="3255264"/>
            <a:ext cx="329184" cy="329184"/>
          </a:xfrm>
          <a:prstGeom prst="ellipse">
            <a:avLst/>
          </a:prstGeom>
          <a:solidFill>
            <a:srgbClr val="F4DEDB"/>
          </a:solidFill>
          <a:ln/>
        </p:spPr>
      </p:sp>
      <p:pic>
        <p:nvPicPr>
          <p:cNvPr id="34" name="Image 4" descr="/tmp/claude-0/-home-claude/f50031d9-b5ad-5737-9b32-1977a75a6c42/scratchpad/deck/icons/timesCircle_sla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3956" y="3340852"/>
            <a:ext cx="158008" cy="158008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1133856" y="3236976"/>
            <a:ext cx="466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b="1" dirty="0">
                <a:solidFill>
                  <a:srgbClr val="0E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Opaque outcome, no reason codes</a:t>
            </a:r>
            <a:endParaRPr lang="en-US" sz="1020" dirty="0"/>
          </a:p>
        </p:txBody>
      </p:sp>
      <p:sp>
        <p:nvSpPr>
          <p:cNvPr id="36" name="Text 29"/>
          <p:cNvSpPr txBox="1"/>
          <p:nvPr/>
        </p:nvSpPr>
        <p:spPr>
          <a:xfrm>
            <a:off x="1133856" y="3438144"/>
            <a:ext cx="466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Rejections carry little explanation — hard to contest or improve on.</a:t>
            </a:r>
            <a:endParaRPr lang="en-US" sz="850" dirty="0"/>
          </a:p>
        </p:txBody>
      </p:sp>
      <p:sp>
        <p:nvSpPr>
          <p:cNvPr id="37" name="Shape 30"/>
          <p:cNvSpPr/>
          <p:nvPr/>
        </p:nvSpPr>
        <p:spPr>
          <a:xfrm>
            <a:off x="658368" y="3785616"/>
            <a:ext cx="329184" cy="329184"/>
          </a:xfrm>
          <a:prstGeom prst="ellipse">
            <a:avLst/>
          </a:prstGeom>
          <a:solidFill>
            <a:srgbClr val="F4DEDB"/>
          </a:solidFill>
          <a:ln/>
        </p:spPr>
      </p:sp>
      <p:pic>
        <p:nvPicPr>
          <p:cNvPr id="38" name="Image 5" descr="/tmp/claude-0/-home-claude/f50031d9-b5ad-5737-9b32-1977a75a6c42/scratchpad/deck/icons/clock_sla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3956" y="3871204"/>
            <a:ext cx="158008" cy="158008"/>
          </a:xfrm>
          <a:prstGeom prst="rect">
            <a:avLst/>
          </a:prstGeom>
        </p:spPr>
      </p:pic>
      <p:sp>
        <p:nvSpPr>
          <p:cNvPr id="39" name="Text 31"/>
          <p:cNvSpPr txBox="1"/>
          <p:nvPr/>
        </p:nvSpPr>
        <p:spPr>
          <a:xfrm>
            <a:off x="1133856" y="3767328"/>
            <a:ext cx="466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b="1" dirty="0">
                <a:solidFill>
                  <a:srgbClr val="0E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Weeks-long turnaround</a:t>
            </a:r>
            <a:endParaRPr lang="en-US" sz="1020" dirty="0"/>
          </a:p>
        </p:txBody>
      </p:sp>
      <p:sp>
        <p:nvSpPr>
          <p:cNvPr id="40" name="Text 32"/>
          <p:cNvSpPr txBox="1"/>
          <p:nvPr/>
        </p:nvSpPr>
        <p:spPr>
          <a:xfrm>
            <a:off x="1133856" y="3968496"/>
            <a:ext cx="466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officer travel cost per small loan; slow, inconsistent decisioning.</a:t>
            </a:r>
            <a:endParaRPr lang="en-US" sz="850" dirty="0"/>
          </a:p>
        </p:txBody>
      </p:sp>
      <p:sp>
        <p:nvSpPr>
          <p:cNvPr id="41" name="Shape 33"/>
          <p:cNvSpPr/>
          <p:nvPr/>
        </p:nvSpPr>
        <p:spPr>
          <a:xfrm>
            <a:off x="6233008" y="1207008"/>
            <a:ext cx="5501488" cy="310896"/>
          </a:xfrm>
          <a:prstGeom prst="roundRect">
            <a:avLst>
              <a:gd name="adj" fmla="val 20588"/>
            </a:avLst>
          </a:prstGeom>
          <a:solidFill>
            <a:srgbClr val="5C8A72"/>
          </a:solidFill>
          <a:ln/>
        </p:spPr>
      </p:sp>
      <p:sp>
        <p:nvSpPr>
          <p:cNvPr id="42" name="Text 34"/>
          <p:cNvSpPr txBox="1"/>
          <p:nvPr/>
        </p:nvSpPr>
        <p:spPr>
          <a:xfrm>
            <a:off x="6379312" y="1207008"/>
            <a:ext cx="522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TO-BE — CREDITTECH-ENABLED PROCESS</a:t>
            </a:r>
            <a:endParaRPr lang="en-US" sz="1150" dirty="0"/>
          </a:p>
        </p:txBody>
      </p:sp>
      <p:sp>
        <p:nvSpPr>
          <p:cNvPr id="43" name="Shape 35"/>
          <p:cNvSpPr/>
          <p:nvPr/>
        </p:nvSpPr>
        <p:spPr>
          <a:xfrm>
            <a:off x="6233008" y="1517904"/>
            <a:ext cx="5501488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9525">
            <a:solidFill>
              <a:srgbClr val="D9E7E1"/>
            </a:solidFill>
            <a:prstDash val="solid"/>
          </a:ln>
        </p:spPr>
      </p:sp>
      <p:sp>
        <p:nvSpPr>
          <p:cNvPr id="44" name="Shape 36"/>
          <p:cNvSpPr/>
          <p:nvPr/>
        </p:nvSpPr>
        <p:spPr>
          <a:xfrm>
            <a:off x="6434176" y="1664208"/>
            <a:ext cx="329184" cy="329184"/>
          </a:xfrm>
          <a:prstGeom prst="ellipse">
            <a:avLst/>
          </a:prstGeom>
          <a:solidFill>
            <a:srgbClr val="E4EFE9"/>
          </a:solidFill>
          <a:ln/>
        </p:spPr>
      </p:sp>
      <p:pic>
        <p:nvPicPr>
          <p:cNvPr id="45" name="Image 6" descr="/tmp/claude-0/-home-claude/f50031d9-b5ad-5737-9b32-1977a75a6c42/scratchpad/deck/icons/mobileAlt_teal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19763" y="1749796"/>
            <a:ext cx="158008" cy="158008"/>
          </a:xfrm>
          <a:prstGeom prst="rect">
            <a:avLst/>
          </a:prstGeom>
        </p:spPr>
      </p:pic>
      <p:sp>
        <p:nvSpPr>
          <p:cNvPr id="46" name="Text 37"/>
          <p:cNvSpPr txBox="1"/>
          <p:nvPr/>
        </p:nvSpPr>
        <p:spPr>
          <a:xfrm>
            <a:off x="6909664" y="1645920"/>
            <a:ext cx="466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b="1" dirty="0">
                <a:solidFill>
                  <a:srgbClr val="0E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Sakhi-assisted digital onboarding</a:t>
            </a:r>
            <a:endParaRPr lang="en-US" sz="1020" dirty="0"/>
          </a:p>
        </p:txBody>
      </p:sp>
      <p:sp>
        <p:nvSpPr>
          <p:cNvPr id="47" name="Text 38"/>
          <p:cNvSpPr txBox="1"/>
          <p:nvPr/>
        </p:nvSpPr>
        <p:spPr>
          <a:xfrm>
            <a:off x="6909664" y="1847088"/>
            <a:ext cx="466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Aadhaar e-KYC + AA consent capture, offline-first for low connectivity.</a:t>
            </a:r>
            <a:endParaRPr lang="en-US" sz="850" dirty="0"/>
          </a:p>
        </p:txBody>
      </p:sp>
      <p:sp>
        <p:nvSpPr>
          <p:cNvPr id="48" name="Shape 39"/>
          <p:cNvSpPr/>
          <p:nvPr/>
        </p:nvSpPr>
        <p:spPr>
          <a:xfrm>
            <a:off x="6434176" y="2194560"/>
            <a:ext cx="329184" cy="329184"/>
          </a:xfrm>
          <a:prstGeom prst="ellipse">
            <a:avLst/>
          </a:prstGeom>
          <a:solidFill>
            <a:srgbClr val="E4EFE9"/>
          </a:solidFill>
          <a:ln/>
        </p:spPr>
      </p:sp>
      <p:pic>
        <p:nvPicPr>
          <p:cNvPr id="49" name="Image 7" descr="/tmp/claude-0/-home-claude/f50031d9-b5ad-5737-9b32-1977a75a6c42/scratchpad/deck/icons/brain_teal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19763" y="2280148"/>
            <a:ext cx="158008" cy="158008"/>
          </a:xfrm>
          <a:prstGeom prst="rect">
            <a:avLst/>
          </a:prstGeom>
        </p:spPr>
      </p:pic>
      <p:sp>
        <p:nvSpPr>
          <p:cNvPr id="50" name="Text 40"/>
          <p:cNvSpPr txBox="1"/>
          <p:nvPr/>
        </p:nvSpPr>
        <p:spPr>
          <a:xfrm>
            <a:off x="6909664" y="2176272"/>
            <a:ext cx="466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b="1" dirty="0">
                <a:solidFill>
                  <a:srgbClr val="0E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5-Cs alternative-data score</a:t>
            </a:r>
            <a:endParaRPr lang="en-US" sz="1020" dirty="0"/>
          </a:p>
        </p:txBody>
      </p:sp>
      <p:sp>
        <p:nvSpPr>
          <p:cNvPr id="51" name="Text 41"/>
          <p:cNvSpPr txBox="1"/>
          <p:nvPr/>
        </p:nvSpPr>
        <p:spPr>
          <a:xfrm>
            <a:off x="6909664" y="2377440"/>
            <a:ext cx="466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Bureau + AA + geospatial + SHG signals, calibrated to a 300–900 scale.</a:t>
            </a:r>
            <a:endParaRPr lang="en-US" sz="850" dirty="0"/>
          </a:p>
        </p:txBody>
      </p:sp>
      <p:sp>
        <p:nvSpPr>
          <p:cNvPr id="52" name="Shape 42"/>
          <p:cNvSpPr/>
          <p:nvPr/>
        </p:nvSpPr>
        <p:spPr>
          <a:xfrm>
            <a:off x="6434176" y="2724912"/>
            <a:ext cx="329184" cy="329184"/>
          </a:xfrm>
          <a:prstGeom prst="ellipse">
            <a:avLst/>
          </a:prstGeom>
          <a:solidFill>
            <a:srgbClr val="E4EFE9"/>
          </a:solidFill>
          <a:ln/>
        </p:spPr>
      </p:sp>
      <p:pic>
        <p:nvPicPr>
          <p:cNvPr id="53" name="Image 8" descr="/tmp/claude-0/-home-claude/f50031d9-b5ad-5737-9b32-1977a75a6c42/scratchpad/deck/icons/checkCircle_teal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19763" y="2810500"/>
            <a:ext cx="158008" cy="158008"/>
          </a:xfrm>
          <a:prstGeom prst="rect">
            <a:avLst/>
          </a:prstGeom>
        </p:spPr>
      </p:pic>
      <p:sp>
        <p:nvSpPr>
          <p:cNvPr id="54" name="Text 43"/>
          <p:cNvSpPr txBox="1"/>
          <p:nvPr/>
        </p:nvSpPr>
        <p:spPr>
          <a:xfrm>
            <a:off x="6909664" y="2706624"/>
            <a:ext cx="466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b="1" dirty="0">
                <a:solidFill>
                  <a:srgbClr val="0E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Explainable, reason-coded output</a:t>
            </a:r>
            <a:endParaRPr lang="en-US" sz="1020" dirty="0"/>
          </a:p>
        </p:txBody>
      </p:sp>
      <p:sp>
        <p:nvSpPr>
          <p:cNvPr id="55" name="Text 44"/>
          <p:cNvSpPr txBox="1"/>
          <p:nvPr/>
        </p:nvSpPr>
        <p:spPr>
          <a:xfrm>
            <a:off x="6909664" y="2907792"/>
            <a:ext cx="466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reason codes handed to the officer as decision support, not auto-approval.</a:t>
            </a:r>
            <a:endParaRPr lang="en-US" sz="850" dirty="0"/>
          </a:p>
        </p:txBody>
      </p:sp>
      <p:sp>
        <p:nvSpPr>
          <p:cNvPr id="56" name="Shape 45"/>
          <p:cNvSpPr/>
          <p:nvPr/>
        </p:nvSpPr>
        <p:spPr>
          <a:xfrm>
            <a:off x="6434176" y="3255264"/>
            <a:ext cx="329184" cy="329184"/>
          </a:xfrm>
          <a:prstGeom prst="ellipse">
            <a:avLst/>
          </a:prstGeom>
          <a:solidFill>
            <a:srgbClr val="E4EFE9"/>
          </a:solidFill>
          <a:ln/>
        </p:spPr>
      </p:sp>
      <p:pic>
        <p:nvPicPr>
          <p:cNvPr id="57" name="Image 9" descr="/tmp/claude-0/-home-claude/f50031d9-b5ad-5737-9b32-1977a75a6c42/scratchpad/deck/icons/userCheck_teal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19763" y="3340852"/>
            <a:ext cx="158008" cy="158008"/>
          </a:xfrm>
          <a:prstGeom prst="rect">
            <a:avLst/>
          </a:prstGeom>
        </p:spPr>
      </p:pic>
      <p:sp>
        <p:nvSpPr>
          <p:cNvPr id="58" name="Text 46"/>
          <p:cNvSpPr txBox="1"/>
          <p:nvPr/>
        </p:nvSpPr>
        <p:spPr>
          <a:xfrm>
            <a:off x="6909664" y="3236976"/>
            <a:ext cx="466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b="1" dirty="0">
                <a:solidFill>
                  <a:srgbClr val="0E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decisioning</a:t>
            </a:r>
            <a:endParaRPr lang="en-US" sz="1020" dirty="0"/>
          </a:p>
        </p:txBody>
      </p:sp>
      <p:sp>
        <p:nvSpPr>
          <p:cNvPr id="59" name="Text 47"/>
          <p:cNvSpPr txBox="1"/>
          <p:nvPr/>
        </p:nvSpPr>
        <p:spPr>
          <a:xfrm>
            <a:off x="6909664" y="3438144"/>
            <a:ext cx="466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 approves / rejects / requests more info — override always logged.</a:t>
            </a:r>
            <a:endParaRPr lang="en-US" sz="850" dirty="0"/>
          </a:p>
        </p:txBody>
      </p:sp>
      <p:sp>
        <p:nvSpPr>
          <p:cNvPr id="60" name="Shape 48"/>
          <p:cNvSpPr/>
          <p:nvPr/>
        </p:nvSpPr>
        <p:spPr>
          <a:xfrm>
            <a:off x="6434176" y="3785616"/>
            <a:ext cx="329184" cy="329184"/>
          </a:xfrm>
          <a:prstGeom prst="ellipse">
            <a:avLst/>
          </a:prstGeom>
          <a:solidFill>
            <a:srgbClr val="E4EFE9"/>
          </a:solidFill>
          <a:ln/>
        </p:spPr>
      </p:sp>
      <p:pic>
        <p:nvPicPr>
          <p:cNvPr id="61" name="Image 10" descr="/tmp/claude-0/-home-claude/f50031d9-b5ad-5737-9b32-1977a75a6c42/scratchpad/deck/icons/route_teal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19763" y="3871204"/>
            <a:ext cx="158008" cy="158008"/>
          </a:xfrm>
          <a:prstGeom prst="rect">
            <a:avLst/>
          </a:prstGeom>
        </p:spPr>
      </p:pic>
      <p:sp>
        <p:nvSpPr>
          <p:cNvPr id="62" name="Text 49"/>
          <p:cNvSpPr txBox="1"/>
          <p:nvPr/>
        </p:nvSpPr>
        <p:spPr>
          <a:xfrm>
            <a:off x="6909664" y="3767328"/>
            <a:ext cx="466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b="1" dirty="0">
                <a:solidFill>
                  <a:srgbClr val="0E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Faster, auditable, appealable</a:t>
            </a:r>
            <a:endParaRPr lang="en-US" sz="1020" dirty="0"/>
          </a:p>
        </p:txBody>
      </p:sp>
      <p:sp>
        <p:nvSpPr>
          <p:cNvPr id="63" name="Text 50"/>
          <p:cNvSpPr txBox="1"/>
          <p:nvPr/>
        </p:nvSpPr>
        <p:spPr>
          <a:xfrm>
            <a:off x="6909664" y="3968496"/>
            <a:ext cx="466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handoff to the partner RE; borrower notified with an appeal channel.</a:t>
            </a:r>
            <a:endParaRPr lang="en-US" sz="850" dirty="0"/>
          </a:p>
        </p:txBody>
      </p:sp>
      <p:sp>
        <p:nvSpPr>
          <p:cNvPr id="64" name="Shape 51"/>
          <p:cNvSpPr/>
          <p:nvPr/>
        </p:nvSpPr>
        <p:spPr>
          <a:xfrm>
            <a:off x="457200" y="4892040"/>
            <a:ext cx="11277295" cy="457200"/>
          </a:xfrm>
          <a:prstGeom prst="roundRect">
            <a:avLst>
              <a:gd name="adj" fmla="val 16000"/>
            </a:avLst>
          </a:prstGeom>
          <a:solidFill>
            <a:srgbClr val="F3E4C8"/>
          </a:solidFill>
          <a:ln/>
        </p:spPr>
      </p:sp>
      <p:sp>
        <p:nvSpPr>
          <p:cNvPr id="65" name="Text 52"/>
          <p:cNvSpPr txBox="1"/>
          <p:nvPr/>
        </p:nvSpPr>
        <p:spPr>
          <a:xfrm>
            <a:off x="640080" y="4892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15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regulatory perimeter throughout (RBI Digital Lending Directions, DPDP Act) — the process is re-engineered, not replaced. Human-in-the-loop is preserved at every stage: an MVP-level, non-negotiable design principle.</a:t>
            </a:r>
            <a:endParaRPr lang="en-US" sz="9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12064" cy="512064"/>
          </a:xfrm>
          <a:prstGeom prst="ellipse">
            <a:avLst/>
          </a:prstGeom>
          <a:solidFill>
            <a:srgbClr val="E4EFE9"/>
          </a:solidFill>
          <a:ln/>
        </p:spPr>
      </p:sp>
      <p:pic>
        <p:nvPicPr>
          <p:cNvPr id="3" name="Image 0" descr="/tmp/claude-0/-home-claude/f50031d9-b5ad-5737-9b32-1977a75a6c42/scratchpad/deck/icons/database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0337" y="498897"/>
            <a:ext cx="245791" cy="245791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115568" y="365760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C98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2 · DATA &amp; AI PIPELINE</a:t>
            </a:r>
            <a:endParaRPr lang="en-US" sz="1050" dirty="0"/>
          </a:p>
        </p:txBody>
      </p:sp>
      <p:sp>
        <p:nvSpPr>
          <p:cNvPr id="5" name="Text 2"/>
          <p:cNvSpPr txBox="1"/>
          <p:nvPr/>
        </p:nvSpPr>
        <p:spPr>
          <a:xfrm>
            <a:off x="1115568" y="5486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E4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Architecture &amp; Sources</a:t>
            </a:r>
            <a:endParaRPr lang="en-US" sz="2700" dirty="0"/>
          </a:p>
        </p:txBody>
      </p:sp>
      <p:sp>
        <p:nvSpPr>
          <p:cNvPr id="6" name="Text 3"/>
          <p:cNvSpPr txBox="1"/>
          <p:nvPr/>
        </p:nvSpPr>
        <p:spPr>
          <a:xfrm>
            <a:off x="8808415" y="38404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CREDITTECH  ·  MID-TERM REVIEW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8808415" y="56692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76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05 / 20  ·  DATA &amp; AI PIPELINE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" y="6419088"/>
            <a:ext cx="2182307" cy="310896"/>
          </a:xfrm>
          <a:prstGeom prst="roundRect">
            <a:avLst>
              <a:gd name="adj" fmla="val 50000"/>
            </a:avLst>
          </a:prstGeom>
          <a:solidFill>
            <a:srgbClr val="E4EFE9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457200" y="6419088"/>
            <a:ext cx="218230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spc="40" kern="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860" dirty="0"/>
          </a:p>
        </p:txBody>
      </p:sp>
      <p:sp>
        <p:nvSpPr>
          <p:cNvPr id="10" name="Shape 7"/>
          <p:cNvSpPr/>
          <p:nvPr/>
        </p:nvSpPr>
        <p:spPr>
          <a:xfrm>
            <a:off x="2730947" y="6419088"/>
            <a:ext cx="2182307" cy="310896"/>
          </a:xfrm>
          <a:prstGeom prst="roundRect">
            <a:avLst>
              <a:gd name="adj" fmla="val 50000"/>
            </a:avLst>
          </a:prstGeom>
          <a:solidFill>
            <a:srgbClr val="0E4B43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2730947" y="6419088"/>
            <a:ext cx="218230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AI PIPELINE</a:t>
            </a:r>
            <a:endParaRPr lang="en-US" sz="860" dirty="0"/>
          </a:p>
        </p:txBody>
      </p:sp>
      <p:sp>
        <p:nvSpPr>
          <p:cNvPr id="12" name="Shape 9"/>
          <p:cNvSpPr/>
          <p:nvPr/>
        </p:nvSpPr>
        <p:spPr>
          <a:xfrm>
            <a:off x="5004694" y="6419088"/>
            <a:ext cx="2182307" cy="310896"/>
          </a:xfrm>
          <a:prstGeom prst="roundRect">
            <a:avLst>
              <a:gd name="adj" fmla="val 50000"/>
            </a:avLst>
          </a:prstGeom>
          <a:solidFill>
            <a:srgbClr val="E4EFE9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004694" y="6419088"/>
            <a:ext cx="218230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spc="40" kern="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TECH</a:t>
            </a:r>
            <a:endParaRPr lang="en-US" sz="860" dirty="0"/>
          </a:p>
        </p:txBody>
      </p:sp>
      <p:sp>
        <p:nvSpPr>
          <p:cNvPr id="14" name="Shape 11"/>
          <p:cNvSpPr/>
          <p:nvPr/>
        </p:nvSpPr>
        <p:spPr>
          <a:xfrm>
            <a:off x="7278441" y="6419088"/>
            <a:ext cx="2182307" cy="310896"/>
          </a:xfrm>
          <a:prstGeom prst="roundRect">
            <a:avLst>
              <a:gd name="adj" fmla="val 50000"/>
            </a:avLst>
          </a:prstGeom>
          <a:solidFill>
            <a:srgbClr val="E4EFE9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278441" y="6419088"/>
            <a:ext cx="218230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spc="40" kern="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&amp; PILOT</a:t>
            </a:r>
            <a:endParaRPr lang="en-US" sz="860" dirty="0"/>
          </a:p>
        </p:txBody>
      </p:sp>
      <p:sp>
        <p:nvSpPr>
          <p:cNvPr id="16" name="Shape 13"/>
          <p:cNvSpPr/>
          <p:nvPr/>
        </p:nvSpPr>
        <p:spPr>
          <a:xfrm>
            <a:off x="9552188" y="6419088"/>
            <a:ext cx="2182307" cy="310896"/>
          </a:xfrm>
          <a:prstGeom prst="roundRect">
            <a:avLst>
              <a:gd name="adj" fmla="val 50000"/>
            </a:avLst>
          </a:prstGeom>
          <a:solidFill>
            <a:srgbClr val="E4EFE9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9552188" y="6419088"/>
            <a:ext cx="218230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spc="40" kern="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&amp; ROADMAP</a:t>
            </a:r>
            <a:endParaRPr lang="en-US" sz="860" dirty="0"/>
          </a:p>
        </p:txBody>
      </p:sp>
      <p:sp>
        <p:nvSpPr>
          <p:cNvPr id="18" name="Shape 15"/>
          <p:cNvSpPr/>
          <p:nvPr/>
        </p:nvSpPr>
        <p:spPr>
          <a:xfrm>
            <a:off x="457200" y="1207008"/>
            <a:ext cx="2716454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D9E7E1"/>
            </a:solidFill>
            <a:prstDash val="solid"/>
          </a:ln>
          <a:effectLst>
            <a:outerShdw sx="100000" sy="100000" kx="0" ky="0" algn="bl" rotWithShape="0" blurRad="101600" dist="38100" dir="5400000">
              <a:srgbClr val="0A322C">
                <a:alpha val="1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03504" y="1353312"/>
            <a:ext cx="384048" cy="384048"/>
          </a:xfrm>
          <a:prstGeom prst="ellipse">
            <a:avLst/>
          </a:prstGeom>
          <a:solidFill>
            <a:srgbClr val="E4EFE9"/>
          </a:solidFill>
          <a:ln/>
        </p:spPr>
      </p:sp>
      <p:pic>
        <p:nvPicPr>
          <p:cNvPr id="20" name="Image 1" descr="/tmp/claude-0/-home-claude/f50031d9-b5ad-5737-9b32-1977a75a6c42/scratchpad/deck/icons/university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356" y="1453164"/>
            <a:ext cx="184343" cy="184343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2259254" y="1371600"/>
            <a:ext cx="937260" cy="219456"/>
          </a:xfrm>
          <a:prstGeom prst="roundRect">
            <a:avLst>
              <a:gd name="adj" fmla="val 50000"/>
            </a:avLst>
          </a:prstGeom>
          <a:solidFill>
            <a:srgbClr val="5C8A72"/>
          </a:solidFill>
          <a:ln/>
        </p:spPr>
      </p:sp>
      <p:sp>
        <p:nvSpPr>
          <p:cNvPr id="22" name="Text 18"/>
          <p:cNvSpPr txBox="1"/>
          <p:nvPr/>
        </p:nvSpPr>
        <p:spPr>
          <a:xfrm>
            <a:off x="2259254" y="1371600"/>
            <a:ext cx="9372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800" dirty="0"/>
          </a:p>
        </p:txBody>
      </p:sp>
      <p:sp>
        <p:nvSpPr>
          <p:cNvPr id="23" name="Text 19"/>
          <p:cNvSpPr txBox="1"/>
          <p:nvPr/>
        </p:nvSpPr>
        <p:spPr>
          <a:xfrm>
            <a:off x="603504" y="1810512"/>
            <a:ext cx="242384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E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Aggregator (Banking)</a:t>
            </a:r>
            <a:endParaRPr lang="en-US" sz="1000" dirty="0"/>
          </a:p>
        </p:txBody>
      </p:sp>
      <p:sp>
        <p:nvSpPr>
          <p:cNvPr id="24" name="Text 20"/>
          <p:cNvSpPr txBox="1"/>
          <p:nvPr/>
        </p:nvSpPr>
        <p:spPr>
          <a:xfrm>
            <a:off x="603504" y="2176272"/>
            <a:ext cx="242384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Consent-based bank statements, cash-flow inflow regularity</a:t>
            </a:r>
            <a:endParaRPr lang="en-US" sz="830" dirty="0"/>
          </a:p>
        </p:txBody>
      </p:sp>
      <p:sp>
        <p:nvSpPr>
          <p:cNvPr id="25" name="Shape 21"/>
          <p:cNvSpPr/>
          <p:nvPr/>
        </p:nvSpPr>
        <p:spPr>
          <a:xfrm>
            <a:off x="3310814" y="1207008"/>
            <a:ext cx="2716454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D9E7E1"/>
            </a:solidFill>
            <a:prstDash val="solid"/>
          </a:ln>
          <a:effectLst>
            <a:outerShdw sx="100000" sy="100000" kx="0" ky="0" algn="bl" rotWithShape="0" blurRad="101600" dist="38100" dir="5400000">
              <a:srgbClr val="0A322C">
                <a:alpha val="18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3457118" y="1353312"/>
            <a:ext cx="384048" cy="384048"/>
          </a:xfrm>
          <a:prstGeom prst="ellipse">
            <a:avLst/>
          </a:prstGeom>
          <a:solidFill>
            <a:srgbClr val="E4EFE9"/>
          </a:solidFill>
          <a:ln/>
        </p:spPr>
      </p:sp>
      <p:pic>
        <p:nvPicPr>
          <p:cNvPr id="27" name="Image 2" descr="/tmp/claude-0/-home-claude/f50031d9-b5ad-5737-9b32-1977a75a6c42/scratchpad/deck/icons/satellite_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6970" y="1453164"/>
            <a:ext cx="184343" cy="184343"/>
          </a:xfrm>
          <a:prstGeom prst="rect">
            <a:avLst/>
          </a:prstGeom>
        </p:spPr>
      </p:pic>
      <p:sp>
        <p:nvSpPr>
          <p:cNvPr id="28" name="Shape 23"/>
          <p:cNvSpPr/>
          <p:nvPr/>
        </p:nvSpPr>
        <p:spPr>
          <a:xfrm>
            <a:off x="5112868" y="1371600"/>
            <a:ext cx="1024128" cy="219456"/>
          </a:xfrm>
          <a:prstGeom prst="roundRect">
            <a:avLst>
              <a:gd name="adj" fmla="val 50000"/>
            </a:avLst>
          </a:prstGeom>
          <a:solidFill>
            <a:srgbClr val="E4EFE9"/>
          </a:solidFill>
          <a:ln/>
        </p:spPr>
      </p:sp>
      <p:sp>
        <p:nvSpPr>
          <p:cNvPr id="29" name="Text 24"/>
          <p:cNvSpPr txBox="1"/>
          <p:nvPr/>
        </p:nvSpPr>
        <p:spPr>
          <a:xfrm>
            <a:off x="5112868" y="1371600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" kern="0" dirty="0">
                <a:solidFill>
                  <a:srgbClr val="0E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MOCKED</a:t>
            </a:r>
            <a:endParaRPr lang="en-US" sz="800" dirty="0"/>
          </a:p>
        </p:txBody>
      </p:sp>
      <p:sp>
        <p:nvSpPr>
          <p:cNvPr id="30" name="Text 25"/>
          <p:cNvSpPr txBox="1"/>
          <p:nvPr/>
        </p:nvSpPr>
        <p:spPr>
          <a:xfrm>
            <a:off x="3457118" y="1810512"/>
            <a:ext cx="242384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E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Geospatial / Earth Observation</a:t>
            </a:r>
            <a:endParaRPr lang="en-US" sz="1000" dirty="0"/>
          </a:p>
        </p:txBody>
      </p:sp>
      <p:sp>
        <p:nvSpPr>
          <p:cNvPr id="31" name="Text 26"/>
          <p:cNvSpPr txBox="1"/>
          <p:nvPr/>
        </p:nvSpPr>
        <p:spPr>
          <a:xfrm>
            <a:off x="3457118" y="2176272"/>
            <a:ext cx="242384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Sentinel-2 NDVI, rainfall deviation, land quality</a:t>
            </a:r>
            <a:endParaRPr lang="en-US" sz="830" dirty="0"/>
          </a:p>
        </p:txBody>
      </p:sp>
      <p:sp>
        <p:nvSpPr>
          <p:cNvPr id="32" name="Shape 27"/>
          <p:cNvSpPr/>
          <p:nvPr/>
        </p:nvSpPr>
        <p:spPr>
          <a:xfrm>
            <a:off x="6164428" y="1207008"/>
            <a:ext cx="2716454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D9E7E1"/>
            </a:solidFill>
            <a:prstDash val="solid"/>
          </a:ln>
          <a:effectLst>
            <a:outerShdw sx="100000" sy="100000" kx="0" ky="0" algn="bl" rotWithShape="0" blurRad="101600" dist="38100" dir="5400000">
              <a:srgbClr val="0A322C">
                <a:alpha val="18000"/>
              </a:srgbClr>
            </a:outerShdw>
          </a:effectLst>
        </p:spPr>
      </p:sp>
      <p:sp>
        <p:nvSpPr>
          <p:cNvPr id="33" name="Shape 28"/>
          <p:cNvSpPr/>
          <p:nvPr/>
        </p:nvSpPr>
        <p:spPr>
          <a:xfrm>
            <a:off x="6310732" y="1353312"/>
            <a:ext cx="384048" cy="384048"/>
          </a:xfrm>
          <a:prstGeom prst="ellipse">
            <a:avLst/>
          </a:prstGeom>
          <a:solidFill>
            <a:srgbClr val="E4EFE9"/>
          </a:solidFill>
          <a:ln/>
        </p:spPr>
      </p:sp>
      <p:pic>
        <p:nvPicPr>
          <p:cNvPr id="34" name="Image 3" descr="/tmp/claude-0/-home-claude/f50031d9-b5ad-5737-9b32-1977a75a6c42/scratchpad/deck/icons/fileInvoice_te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0584" y="1453164"/>
            <a:ext cx="184343" cy="184343"/>
          </a:xfrm>
          <a:prstGeom prst="rect">
            <a:avLst/>
          </a:prstGeom>
        </p:spPr>
      </p:pic>
      <p:sp>
        <p:nvSpPr>
          <p:cNvPr id="35" name="Shape 29"/>
          <p:cNvSpPr/>
          <p:nvPr/>
        </p:nvSpPr>
        <p:spPr>
          <a:xfrm>
            <a:off x="7966481" y="1371600"/>
            <a:ext cx="1024128" cy="219456"/>
          </a:xfrm>
          <a:prstGeom prst="roundRect">
            <a:avLst>
              <a:gd name="adj" fmla="val 50000"/>
            </a:avLst>
          </a:prstGeom>
          <a:solidFill>
            <a:srgbClr val="E4EFE9"/>
          </a:solidFill>
          <a:ln/>
        </p:spPr>
      </p:sp>
      <p:sp>
        <p:nvSpPr>
          <p:cNvPr id="36" name="Text 30"/>
          <p:cNvSpPr txBox="1"/>
          <p:nvPr/>
        </p:nvSpPr>
        <p:spPr>
          <a:xfrm>
            <a:off x="7966481" y="1371600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" kern="0" dirty="0">
                <a:solidFill>
                  <a:srgbClr val="0E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MOCKED</a:t>
            </a:r>
            <a:endParaRPr lang="en-US" sz="800" dirty="0"/>
          </a:p>
        </p:txBody>
      </p:sp>
      <p:sp>
        <p:nvSpPr>
          <p:cNvPr id="37" name="Text 31"/>
          <p:cNvSpPr txBox="1"/>
          <p:nvPr/>
        </p:nvSpPr>
        <p:spPr>
          <a:xfrm>
            <a:off x="6310732" y="1810512"/>
            <a:ext cx="242384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E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Bureau / CIC</a:t>
            </a:r>
            <a:endParaRPr lang="en-US" sz="1000" dirty="0"/>
          </a:p>
        </p:txBody>
      </p:sp>
      <p:sp>
        <p:nvSpPr>
          <p:cNvPr id="38" name="Text 32"/>
          <p:cNvSpPr txBox="1"/>
          <p:nvPr/>
        </p:nvSpPr>
        <p:spPr>
          <a:xfrm>
            <a:off x="6310732" y="2176272"/>
            <a:ext cx="242384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credit history where available (thin/no-file common)</a:t>
            </a:r>
            <a:endParaRPr lang="en-US" sz="830" dirty="0"/>
          </a:p>
        </p:txBody>
      </p:sp>
      <p:sp>
        <p:nvSpPr>
          <p:cNvPr id="39" name="Shape 33"/>
          <p:cNvSpPr/>
          <p:nvPr/>
        </p:nvSpPr>
        <p:spPr>
          <a:xfrm>
            <a:off x="9018041" y="1207008"/>
            <a:ext cx="2716454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D9E7E1"/>
            </a:solidFill>
            <a:prstDash val="solid"/>
          </a:ln>
          <a:effectLst>
            <a:outerShdw sx="100000" sy="100000" kx="0" ky="0" algn="bl" rotWithShape="0" blurRad="101600" dist="38100" dir="5400000">
              <a:srgbClr val="0A322C">
                <a:alpha val="18000"/>
              </a:srgbClr>
            </a:outerShdw>
          </a:effectLst>
        </p:spPr>
      </p:sp>
      <p:sp>
        <p:nvSpPr>
          <p:cNvPr id="40" name="Shape 34"/>
          <p:cNvSpPr/>
          <p:nvPr/>
        </p:nvSpPr>
        <p:spPr>
          <a:xfrm>
            <a:off x="9164345" y="1353312"/>
            <a:ext cx="384048" cy="384048"/>
          </a:xfrm>
          <a:prstGeom prst="ellipse">
            <a:avLst/>
          </a:prstGeom>
          <a:solidFill>
            <a:srgbClr val="E4EFE9"/>
          </a:solidFill>
          <a:ln/>
        </p:spPr>
      </p:sp>
      <p:pic>
        <p:nvPicPr>
          <p:cNvPr id="41" name="Image 4" descr="/tmp/claude-0/-home-claude/f50031d9-b5ad-5737-9b32-1977a75a6c42/scratchpad/deck/icons/users_tea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64198" y="1453164"/>
            <a:ext cx="184343" cy="184343"/>
          </a:xfrm>
          <a:prstGeom prst="rect">
            <a:avLst/>
          </a:prstGeom>
        </p:spPr>
      </p:pic>
      <p:sp>
        <p:nvSpPr>
          <p:cNvPr id="42" name="Shape 35"/>
          <p:cNvSpPr/>
          <p:nvPr/>
        </p:nvSpPr>
        <p:spPr>
          <a:xfrm>
            <a:off x="10820095" y="1371600"/>
            <a:ext cx="937260" cy="219456"/>
          </a:xfrm>
          <a:prstGeom prst="roundRect">
            <a:avLst>
              <a:gd name="adj" fmla="val 50000"/>
            </a:avLst>
          </a:prstGeom>
          <a:solidFill>
            <a:srgbClr val="5C8A72"/>
          </a:solidFill>
          <a:ln/>
        </p:spPr>
      </p:sp>
      <p:sp>
        <p:nvSpPr>
          <p:cNvPr id="43" name="Text 36"/>
          <p:cNvSpPr txBox="1"/>
          <p:nvPr/>
        </p:nvSpPr>
        <p:spPr>
          <a:xfrm>
            <a:off x="10820095" y="1371600"/>
            <a:ext cx="9372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800" dirty="0"/>
          </a:p>
        </p:txBody>
      </p:sp>
      <p:sp>
        <p:nvSpPr>
          <p:cNvPr id="44" name="Text 37"/>
          <p:cNvSpPr txBox="1"/>
          <p:nvPr/>
        </p:nvSpPr>
        <p:spPr>
          <a:xfrm>
            <a:off x="9164345" y="1810512"/>
            <a:ext cx="242384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E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SHG / FPO Manual Entry</a:t>
            </a:r>
            <a:endParaRPr lang="en-US" sz="1000" dirty="0"/>
          </a:p>
        </p:txBody>
      </p:sp>
      <p:sp>
        <p:nvSpPr>
          <p:cNvPr id="45" name="Text 38"/>
          <p:cNvSpPr txBox="1"/>
          <p:nvPr/>
        </p:nvSpPr>
        <p:spPr>
          <a:xfrm>
            <a:off x="9164345" y="2176272"/>
            <a:ext cx="242384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Sakhi offline-first app — group attendance &amp; repayment</a:t>
            </a:r>
            <a:endParaRPr lang="en-US" sz="830" dirty="0"/>
          </a:p>
        </p:txBody>
      </p:sp>
      <p:sp>
        <p:nvSpPr>
          <p:cNvPr id="46" name="Shape 39"/>
          <p:cNvSpPr/>
          <p:nvPr/>
        </p:nvSpPr>
        <p:spPr>
          <a:xfrm>
            <a:off x="457200" y="2898648"/>
            <a:ext cx="11277295" cy="310896"/>
          </a:xfrm>
          <a:prstGeom prst="roundRect">
            <a:avLst>
              <a:gd name="adj" fmla="val 20588"/>
            </a:avLst>
          </a:prstGeom>
          <a:solidFill>
            <a:srgbClr val="0E4B43"/>
          </a:solidFill>
          <a:ln/>
        </p:spPr>
      </p:sp>
      <p:sp>
        <p:nvSpPr>
          <p:cNvPr id="47" name="Text 40"/>
          <p:cNvSpPr txBox="1"/>
          <p:nvPr/>
        </p:nvSpPr>
        <p:spPr>
          <a:xfrm>
            <a:off x="603504" y="2898648"/>
            <a:ext cx="110029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PIPELINE — CONSENT-GATED, MULTI-RAIL</a:t>
            </a:r>
            <a:endParaRPr lang="en-US" sz="1150" dirty="0"/>
          </a:p>
        </p:txBody>
      </p:sp>
      <p:sp>
        <p:nvSpPr>
          <p:cNvPr id="48" name="Shape 41"/>
          <p:cNvSpPr/>
          <p:nvPr/>
        </p:nvSpPr>
        <p:spPr>
          <a:xfrm>
            <a:off x="457200" y="3209544"/>
            <a:ext cx="11277295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D9E7E1"/>
            </a:solidFill>
            <a:prstDash val="solid"/>
          </a:ln>
        </p:spPr>
      </p:sp>
      <p:sp>
        <p:nvSpPr>
          <p:cNvPr id="49" name="Shape 42"/>
          <p:cNvSpPr/>
          <p:nvPr/>
        </p:nvSpPr>
        <p:spPr>
          <a:xfrm>
            <a:off x="640080" y="3355848"/>
            <a:ext cx="1783080" cy="1051560"/>
          </a:xfrm>
          <a:prstGeom prst="roundRect">
            <a:avLst>
              <a:gd name="adj" fmla="val 6957"/>
            </a:avLst>
          </a:prstGeom>
          <a:solidFill>
            <a:srgbClr val="E4EFE9"/>
          </a:solidFill>
          <a:ln w="9525">
            <a:solidFill>
              <a:srgbClr val="D9E7E1"/>
            </a:solidFill>
            <a:prstDash val="solid"/>
          </a:ln>
          <a:effectLst>
            <a:outerShdw sx="100000" sy="100000" kx="0" ky="0" algn="bl" rotWithShape="0" blurRad="101600" dist="38100" dir="5400000">
              <a:srgbClr val="0A322C">
                <a:alpha val="18000"/>
              </a:srgbClr>
            </a:outerShdw>
          </a:effectLst>
        </p:spPr>
      </p:sp>
      <p:sp>
        <p:nvSpPr>
          <p:cNvPr id="50" name="Shape 43"/>
          <p:cNvSpPr/>
          <p:nvPr/>
        </p:nvSpPr>
        <p:spPr>
          <a:xfrm>
            <a:off x="1367028" y="3447288"/>
            <a:ext cx="329184" cy="329184"/>
          </a:xfrm>
          <a:prstGeom prst="ellipse">
            <a:avLst/>
          </a:prstGeom>
          <a:solidFill>
            <a:srgbClr val="0E4B43"/>
          </a:solidFill>
          <a:ln/>
        </p:spPr>
      </p:sp>
      <p:pic>
        <p:nvPicPr>
          <p:cNvPr id="51" name="Image 5" descr="/tmp/claude-0/-home-claude/f50031d9-b5ad-5737-9b32-1977a75a6c42/scratchpad/deck/icons/fingerprint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52616" y="3532876"/>
            <a:ext cx="158008" cy="158008"/>
          </a:xfrm>
          <a:prstGeom prst="rect">
            <a:avLst/>
          </a:prstGeom>
        </p:spPr>
      </p:pic>
      <p:sp>
        <p:nvSpPr>
          <p:cNvPr id="52" name="Text 44"/>
          <p:cNvSpPr txBox="1"/>
          <p:nvPr/>
        </p:nvSpPr>
        <p:spPr>
          <a:xfrm>
            <a:off x="685800" y="3831336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endParaRPr lang="en-US" sz="860" dirty="0"/>
          </a:p>
        </p:txBody>
      </p:sp>
      <p:sp>
        <p:nvSpPr>
          <p:cNvPr id="53" name="Text 45"/>
          <p:cNvSpPr txBox="1"/>
          <p:nvPr/>
        </p:nvSpPr>
        <p:spPr>
          <a:xfrm>
            <a:off x="640080" y="3813048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Capture</a:t>
            </a:r>
            <a:endParaRPr lang="en-US" sz="900" dirty="0"/>
          </a:p>
        </p:txBody>
      </p:sp>
      <p:sp>
        <p:nvSpPr>
          <p:cNvPr id="54" name="Text 46"/>
          <p:cNvSpPr txBox="1"/>
          <p:nvPr/>
        </p:nvSpPr>
        <p:spPr>
          <a:xfrm>
            <a:off x="640080" y="405079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Hash-chained, revocable ledger</a:t>
            </a:r>
            <a:endParaRPr lang="en-US" sz="780" dirty="0"/>
          </a:p>
        </p:txBody>
      </p:sp>
      <p:sp>
        <p:nvSpPr>
          <p:cNvPr id="55" name="Text 47"/>
          <p:cNvSpPr txBox="1"/>
          <p:nvPr/>
        </p:nvSpPr>
        <p:spPr>
          <a:xfrm>
            <a:off x="2423160" y="3675888"/>
            <a:ext cx="499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C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56" name="Shape 48"/>
          <p:cNvSpPr/>
          <p:nvPr/>
        </p:nvSpPr>
        <p:spPr>
          <a:xfrm>
            <a:off x="2922194" y="3355848"/>
            <a:ext cx="1783080" cy="1051560"/>
          </a:xfrm>
          <a:prstGeom prst="roundRect">
            <a:avLst>
              <a:gd name="adj" fmla="val 6957"/>
            </a:avLst>
          </a:prstGeom>
          <a:solidFill>
            <a:srgbClr val="E4EFE9"/>
          </a:solidFill>
          <a:ln w="9525">
            <a:solidFill>
              <a:srgbClr val="D9E7E1"/>
            </a:solidFill>
            <a:prstDash val="solid"/>
          </a:ln>
          <a:effectLst>
            <a:outerShdw sx="100000" sy="100000" kx="0" ky="0" algn="bl" rotWithShape="0" blurRad="101600" dist="38100" dir="5400000">
              <a:srgbClr val="0A322C">
                <a:alpha val="18000"/>
              </a:srgbClr>
            </a:outerShdw>
          </a:effectLst>
        </p:spPr>
      </p:sp>
      <p:sp>
        <p:nvSpPr>
          <p:cNvPr id="57" name="Shape 49"/>
          <p:cNvSpPr/>
          <p:nvPr/>
        </p:nvSpPr>
        <p:spPr>
          <a:xfrm>
            <a:off x="3649142" y="3447288"/>
            <a:ext cx="329184" cy="329184"/>
          </a:xfrm>
          <a:prstGeom prst="ellipse">
            <a:avLst/>
          </a:prstGeom>
          <a:solidFill>
            <a:srgbClr val="0E4B43"/>
          </a:solidFill>
          <a:ln/>
        </p:spPr>
      </p:sp>
      <p:pic>
        <p:nvPicPr>
          <p:cNvPr id="58" name="Image 6" descr="/tmp/claude-0/-home-claude/f50031d9-b5ad-5737-9b32-1977a75a6c42/scratchpad/deck/icons/exchangeAlt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34730" y="3532876"/>
            <a:ext cx="158008" cy="158008"/>
          </a:xfrm>
          <a:prstGeom prst="rect">
            <a:avLst/>
          </a:prstGeom>
        </p:spPr>
      </p:pic>
      <p:sp>
        <p:nvSpPr>
          <p:cNvPr id="59" name="Text 50"/>
          <p:cNvSpPr txBox="1"/>
          <p:nvPr/>
        </p:nvSpPr>
        <p:spPr>
          <a:xfrm>
            <a:off x="2967914" y="3831336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endParaRPr lang="en-US" sz="860" dirty="0"/>
          </a:p>
        </p:txBody>
      </p:sp>
      <p:sp>
        <p:nvSpPr>
          <p:cNvPr id="60" name="Text 51"/>
          <p:cNvSpPr txBox="1"/>
          <p:nvPr/>
        </p:nvSpPr>
        <p:spPr>
          <a:xfrm>
            <a:off x="2922194" y="3813048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Orchestrator</a:t>
            </a:r>
            <a:endParaRPr lang="en-US" sz="900" dirty="0"/>
          </a:p>
        </p:txBody>
      </p:sp>
      <p:sp>
        <p:nvSpPr>
          <p:cNvPr id="61" name="Text 52"/>
          <p:cNvSpPr txBox="1"/>
          <p:nvPr/>
        </p:nvSpPr>
        <p:spPr>
          <a:xfrm>
            <a:off x="2922194" y="405079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per-rail connector calls</a:t>
            </a:r>
            <a:endParaRPr lang="en-US" sz="780" dirty="0"/>
          </a:p>
        </p:txBody>
      </p:sp>
      <p:sp>
        <p:nvSpPr>
          <p:cNvPr id="62" name="Text 53"/>
          <p:cNvSpPr txBox="1"/>
          <p:nvPr/>
        </p:nvSpPr>
        <p:spPr>
          <a:xfrm>
            <a:off x="4705274" y="3675888"/>
            <a:ext cx="499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C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63" name="Shape 54"/>
          <p:cNvSpPr/>
          <p:nvPr/>
        </p:nvSpPr>
        <p:spPr>
          <a:xfrm>
            <a:off x="5204308" y="3355848"/>
            <a:ext cx="1783080" cy="1051560"/>
          </a:xfrm>
          <a:prstGeom prst="roundRect">
            <a:avLst>
              <a:gd name="adj" fmla="val 6957"/>
            </a:avLst>
          </a:prstGeom>
          <a:solidFill>
            <a:srgbClr val="E4EFE9"/>
          </a:solidFill>
          <a:ln w="9525">
            <a:solidFill>
              <a:srgbClr val="D9E7E1"/>
            </a:solidFill>
            <a:prstDash val="solid"/>
          </a:ln>
          <a:effectLst>
            <a:outerShdw sx="100000" sy="100000" kx="0" ky="0" algn="bl" rotWithShape="0" blurRad="101600" dist="38100" dir="5400000">
              <a:srgbClr val="0A322C">
                <a:alpha val="18000"/>
              </a:srgbClr>
            </a:outerShdw>
          </a:effectLst>
        </p:spPr>
      </p:sp>
      <p:sp>
        <p:nvSpPr>
          <p:cNvPr id="64" name="Shape 55"/>
          <p:cNvSpPr/>
          <p:nvPr/>
        </p:nvSpPr>
        <p:spPr>
          <a:xfrm>
            <a:off x="5931256" y="3447288"/>
            <a:ext cx="329184" cy="329184"/>
          </a:xfrm>
          <a:prstGeom prst="ellipse">
            <a:avLst/>
          </a:prstGeom>
          <a:solidFill>
            <a:srgbClr val="0E4B43"/>
          </a:solidFill>
          <a:ln/>
        </p:spPr>
      </p:sp>
      <p:pic>
        <p:nvPicPr>
          <p:cNvPr id="65" name="Image 7" descr="/tmp/claude-0/-home-claude/f50031d9-b5ad-5737-9b32-1977a75a6c42/scratchpad/deck/icons/shieldAlt_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16843" y="3532876"/>
            <a:ext cx="158008" cy="158008"/>
          </a:xfrm>
          <a:prstGeom prst="rect">
            <a:avLst/>
          </a:prstGeom>
        </p:spPr>
      </p:pic>
      <p:sp>
        <p:nvSpPr>
          <p:cNvPr id="66" name="Text 56"/>
          <p:cNvSpPr txBox="1"/>
          <p:nvPr/>
        </p:nvSpPr>
        <p:spPr>
          <a:xfrm>
            <a:off x="5250028" y="3831336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endParaRPr lang="en-US" sz="860" dirty="0"/>
          </a:p>
        </p:txBody>
      </p:sp>
      <p:sp>
        <p:nvSpPr>
          <p:cNvPr id="67" name="Text 57"/>
          <p:cNvSpPr txBox="1"/>
          <p:nvPr/>
        </p:nvSpPr>
        <p:spPr>
          <a:xfrm>
            <a:off x="5204308" y="3813048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900" dirty="0"/>
          </a:p>
        </p:txBody>
      </p:sp>
      <p:sp>
        <p:nvSpPr>
          <p:cNvPr id="68" name="Text 58"/>
          <p:cNvSpPr txBox="1"/>
          <p:nvPr/>
        </p:nvSpPr>
        <p:spPr>
          <a:xfrm>
            <a:off x="5204308" y="405079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+ consent-scope check</a:t>
            </a:r>
            <a:endParaRPr lang="en-US" sz="780" dirty="0"/>
          </a:p>
        </p:txBody>
      </p:sp>
      <p:sp>
        <p:nvSpPr>
          <p:cNvPr id="69" name="Text 59"/>
          <p:cNvSpPr txBox="1"/>
          <p:nvPr/>
        </p:nvSpPr>
        <p:spPr>
          <a:xfrm>
            <a:off x="6987388" y="3675888"/>
            <a:ext cx="499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C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70" name="Shape 60"/>
          <p:cNvSpPr/>
          <p:nvPr/>
        </p:nvSpPr>
        <p:spPr>
          <a:xfrm>
            <a:off x="7486421" y="3355848"/>
            <a:ext cx="1783080" cy="1051560"/>
          </a:xfrm>
          <a:prstGeom prst="roundRect">
            <a:avLst>
              <a:gd name="adj" fmla="val 6957"/>
            </a:avLst>
          </a:prstGeom>
          <a:solidFill>
            <a:srgbClr val="E4EFE9"/>
          </a:solidFill>
          <a:ln w="9525">
            <a:solidFill>
              <a:srgbClr val="D9E7E1"/>
            </a:solidFill>
            <a:prstDash val="solid"/>
          </a:ln>
          <a:effectLst>
            <a:outerShdw sx="100000" sy="100000" kx="0" ky="0" algn="bl" rotWithShape="0" blurRad="101600" dist="38100" dir="5400000">
              <a:srgbClr val="0A322C">
                <a:alpha val="18000"/>
              </a:srgbClr>
            </a:outerShdw>
          </a:effectLst>
        </p:spPr>
      </p:sp>
      <p:sp>
        <p:nvSpPr>
          <p:cNvPr id="71" name="Shape 61"/>
          <p:cNvSpPr/>
          <p:nvPr/>
        </p:nvSpPr>
        <p:spPr>
          <a:xfrm>
            <a:off x="8213369" y="3447288"/>
            <a:ext cx="329184" cy="329184"/>
          </a:xfrm>
          <a:prstGeom prst="ellipse">
            <a:avLst/>
          </a:prstGeom>
          <a:solidFill>
            <a:srgbClr val="0E4B43"/>
          </a:solidFill>
          <a:ln/>
        </p:spPr>
      </p:sp>
      <p:pic>
        <p:nvPicPr>
          <p:cNvPr id="72" name="Image 8" descr="/tmp/claude-0/-home-claude/f50031d9-b5ad-5737-9b32-1977a75a6c42/scratchpad/deck/icons/cogs_whit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98957" y="3532876"/>
            <a:ext cx="158008" cy="158008"/>
          </a:xfrm>
          <a:prstGeom prst="rect">
            <a:avLst/>
          </a:prstGeom>
        </p:spPr>
      </p:pic>
      <p:sp>
        <p:nvSpPr>
          <p:cNvPr id="73" name="Text 62"/>
          <p:cNvSpPr txBox="1"/>
          <p:nvPr/>
        </p:nvSpPr>
        <p:spPr>
          <a:xfrm>
            <a:off x="7532141" y="3831336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endParaRPr lang="en-US" sz="860" dirty="0"/>
          </a:p>
        </p:txBody>
      </p:sp>
      <p:sp>
        <p:nvSpPr>
          <p:cNvPr id="74" name="Text 63"/>
          <p:cNvSpPr txBox="1"/>
          <p:nvPr/>
        </p:nvSpPr>
        <p:spPr>
          <a:xfrm>
            <a:off x="7486421" y="3813048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Computation</a:t>
            </a:r>
            <a:endParaRPr lang="en-US" sz="900" dirty="0"/>
          </a:p>
        </p:txBody>
      </p:sp>
      <p:sp>
        <p:nvSpPr>
          <p:cNvPr id="75" name="Text 64"/>
          <p:cNvSpPr txBox="1"/>
          <p:nvPr/>
        </p:nvSpPr>
        <p:spPr>
          <a:xfrm>
            <a:off x="7486421" y="405079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5-Cs feature pipeline</a:t>
            </a:r>
            <a:endParaRPr lang="en-US" sz="780" dirty="0"/>
          </a:p>
        </p:txBody>
      </p:sp>
      <p:sp>
        <p:nvSpPr>
          <p:cNvPr id="76" name="Text 65"/>
          <p:cNvSpPr txBox="1"/>
          <p:nvPr/>
        </p:nvSpPr>
        <p:spPr>
          <a:xfrm>
            <a:off x="9269501" y="3675888"/>
            <a:ext cx="499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C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77" name="Shape 66"/>
          <p:cNvSpPr/>
          <p:nvPr/>
        </p:nvSpPr>
        <p:spPr>
          <a:xfrm>
            <a:off x="9768535" y="3355848"/>
            <a:ext cx="1783080" cy="1051560"/>
          </a:xfrm>
          <a:prstGeom prst="roundRect">
            <a:avLst>
              <a:gd name="adj" fmla="val 6957"/>
            </a:avLst>
          </a:prstGeom>
          <a:solidFill>
            <a:srgbClr val="E4EFE9"/>
          </a:solidFill>
          <a:ln w="9525">
            <a:solidFill>
              <a:srgbClr val="D9E7E1"/>
            </a:solidFill>
            <a:prstDash val="solid"/>
          </a:ln>
          <a:effectLst>
            <a:outerShdw sx="100000" sy="100000" kx="0" ky="0" algn="bl" rotWithShape="0" blurRad="101600" dist="38100" dir="5400000">
              <a:srgbClr val="0A322C">
                <a:alpha val="18000"/>
              </a:srgbClr>
            </a:outerShdw>
          </a:effectLst>
        </p:spPr>
      </p:sp>
      <p:sp>
        <p:nvSpPr>
          <p:cNvPr id="78" name="Shape 67"/>
          <p:cNvSpPr/>
          <p:nvPr/>
        </p:nvSpPr>
        <p:spPr>
          <a:xfrm>
            <a:off x="10495483" y="3447288"/>
            <a:ext cx="329184" cy="329184"/>
          </a:xfrm>
          <a:prstGeom prst="ellipse">
            <a:avLst/>
          </a:prstGeom>
          <a:solidFill>
            <a:srgbClr val="0E4B43"/>
          </a:solidFill>
          <a:ln/>
        </p:spPr>
      </p:sp>
      <p:pic>
        <p:nvPicPr>
          <p:cNvPr id="79" name="Image 9" descr="/tmp/claude-0/-home-claude/f50031d9-b5ad-5737-9b32-1977a75a6c42/scratchpad/deck/icons/database_whit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81071" y="3532876"/>
            <a:ext cx="158008" cy="158008"/>
          </a:xfrm>
          <a:prstGeom prst="rect">
            <a:avLst/>
          </a:prstGeom>
        </p:spPr>
      </p:pic>
      <p:sp>
        <p:nvSpPr>
          <p:cNvPr id="80" name="Text 68"/>
          <p:cNvSpPr txBox="1"/>
          <p:nvPr/>
        </p:nvSpPr>
        <p:spPr>
          <a:xfrm>
            <a:off x="9814255" y="3831336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endParaRPr lang="en-US" sz="860" dirty="0"/>
          </a:p>
        </p:txBody>
      </p:sp>
      <p:sp>
        <p:nvSpPr>
          <p:cNvPr id="81" name="Text 69"/>
          <p:cNvSpPr txBox="1"/>
          <p:nvPr/>
        </p:nvSpPr>
        <p:spPr>
          <a:xfrm>
            <a:off x="9768535" y="3813048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Store</a:t>
            </a:r>
            <a:endParaRPr lang="en-US" sz="900" dirty="0"/>
          </a:p>
        </p:txBody>
      </p:sp>
      <p:sp>
        <p:nvSpPr>
          <p:cNvPr id="82" name="Text 70"/>
          <p:cNvSpPr txBox="1"/>
          <p:nvPr/>
        </p:nvSpPr>
        <p:spPr>
          <a:xfrm>
            <a:off x="9768535" y="405079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Feast — versioned, queryable</a:t>
            </a:r>
            <a:endParaRPr lang="en-US" sz="780" dirty="0"/>
          </a:p>
        </p:txBody>
      </p:sp>
      <p:sp>
        <p:nvSpPr>
          <p:cNvPr id="83" name="Text 71"/>
          <p:cNvSpPr txBox="1"/>
          <p:nvPr/>
        </p:nvSpPr>
        <p:spPr>
          <a:xfrm>
            <a:off x="457200" y="4745736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ADR-7 (2026 addition): where the geospatial vendor contract is still open, Sentinel-2 imagery via Google Earth Engine runs as a free, parallel open-data fallback — not a replacement — to unblock pilot testing.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12064" cy="512064"/>
          </a:xfrm>
          <a:prstGeom prst="ellipse">
            <a:avLst/>
          </a:prstGeom>
          <a:solidFill>
            <a:srgbClr val="E4EFE9"/>
          </a:solidFill>
          <a:ln/>
        </p:spPr>
      </p:sp>
      <p:pic>
        <p:nvPicPr>
          <p:cNvPr id="3" name="Image 0" descr="/tmp/claude-0/-home-claude/f50031d9-b5ad-5737-9b32-1977a75a6c42/scratchpad/deck/icons/chartBar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0337" y="498897"/>
            <a:ext cx="245791" cy="245791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115568" y="365760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C98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2 · DATA &amp; AI PIPELINE</a:t>
            </a:r>
            <a:endParaRPr lang="en-US" sz="1050" dirty="0"/>
          </a:p>
        </p:txBody>
      </p:sp>
      <p:sp>
        <p:nvSpPr>
          <p:cNvPr id="5" name="Text 2"/>
          <p:cNvSpPr txBox="1"/>
          <p:nvPr/>
        </p:nvSpPr>
        <p:spPr>
          <a:xfrm>
            <a:off x="1115568" y="5486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E4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Data Analysis Plan</a:t>
            </a:r>
            <a:endParaRPr lang="en-US" sz="2700" dirty="0"/>
          </a:p>
        </p:txBody>
      </p:sp>
      <p:sp>
        <p:nvSpPr>
          <p:cNvPr id="6" name="Text 3"/>
          <p:cNvSpPr txBox="1"/>
          <p:nvPr/>
        </p:nvSpPr>
        <p:spPr>
          <a:xfrm>
            <a:off x="8808415" y="38404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CREDITTECH  ·  MID-TERM REVIEW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8808415" y="56692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76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06 / 20  ·  DATA &amp; AI PIPELINE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" y="6419088"/>
            <a:ext cx="2182307" cy="310896"/>
          </a:xfrm>
          <a:prstGeom prst="roundRect">
            <a:avLst>
              <a:gd name="adj" fmla="val 50000"/>
            </a:avLst>
          </a:prstGeom>
          <a:solidFill>
            <a:srgbClr val="E4EFE9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457200" y="6419088"/>
            <a:ext cx="218230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spc="40" kern="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860" dirty="0"/>
          </a:p>
        </p:txBody>
      </p:sp>
      <p:sp>
        <p:nvSpPr>
          <p:cNvPr id="10" name="Shape 7"/>
          <p:cNvSpPr/>
          <p:nvPr/>
        </p:nvSpPr>
        <p:spPr>
          <a:xfrm>
            <a:off x="2730947" y="6419088"/>
            <a:ext cx="2182307" cy="310896"/>
          </a:xfrm>
          <a:prstGeom prst="roundRect">
            <a:avLst>
              <a:gd name="adj" fmla="val 50000"/>
            </a:avLst>
          </a:prstGeom>
          <a:solidFill>
            <a:srgbClr val="0E4B43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2730947" y="6419088"/>
            <a:ext cx="218230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AI PIPELINE</a:t>
            </a:r>
            <a:endParaRPr lang="en-US" sz="860" dirty="0"/>
          </a:p>
        </p:txBody>
      </p:sp>
      <p:sp>
        <p:nvSpPr>
          <p:cNvPr id="12" name="Shape 9"/>
          <p:cNvSpPr/>
          <p:nvPr/>
        </p:nvSpPr>
        <p:spPr>
          <a:xfrm>
            <a:off x="5004694" y="6419088"/>
            <a:ext cx="2182307" cy="310896"/>
          </a:xfrm>
          <a:prstGeom prst="roundRect">
            <a:avLst>
              <a:gd name="adj" fmla="val 50000"/>
            </a:avLst>
          </a:prstGeom>
          <a:solidFill>
            <a:srgbClr val="E4EFE9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004694" y="6419088"/>
            <a:ext cx="218230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spc="40" kern="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TECH</a:t>
            </a:r>
            <a:endParaRPr lang="en-US" sz="860" dirty="0"/>
          </a:p>
        </p:txBody>
      </p:sp>
      <p:sp>
        <p:nvSpPr>
          <p:cNvPr id="14" name="Shape 11"/>
          <p:cNvSpPr/>
          <p:nvPr/>
        </p:nvSpPr>
        <p:spPr>
          <a:xfrm>
            <a:off x="7278441" y="6419088"/>
            <a:ext cx="2182307" cy="310896"/>
          </a:xfrm>
          <a:prstGeom prst="roundRect">
            <a:avLst>
              <a:gd name="adj" fmla="val 50000"/>
            </a:avLst>
          </a:prstGeom>
          <a:solidFill>
            <a:srgbClr val="E4EFE9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278441" y="6419088"/>
            <a:ext cx="218230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spc="40" kern="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&amp; PILOT</a:t>
            </a:r>
            <a:endParaRPr lang="en-US" sz="860" dirty="0"/>
          </a:p>
        </p:txBody>
      </p:sp>
      <p:sp>
        <p:nvSpPr>
          <p:cNvPr id="16" name="Shape 13"/>
          <p:cNvSpPr/>
          <p:nvPr/>
        </p:nvSpPr>
        <p:spPr>
          <a:xfrm>
            <a:off x="9552188" y="6419088"/>
            <a:ext cx="2182307" cy="310896"/>
          </a:xfrm>
          <a:prstGeom prst="roundRect">
            <a:avLst>
              <a:gd name="adj" fmla="val 50000"/>
            </a:avLst>
          </a:prstGeom>
          <a:solidFill>
            <a:srgbClr val="E4EFE9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9552188" y="6419088"/>
            <a:ext cx="218230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spc="40" kern="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&amp; ROADMAP</a:t>
            </a:r>
            <a:endParaRPr lang="en-US" sz="860" dirty="0"/>
          </a:p>
        </p:txBody>
      </p:sp>
      <p:sp>
        <p:nvSpPr>
          <p:cNvPr id="18" name="Shape 15"/>
          <p:cNvSpPr/>
          <p:nvPr/>
        </p:nvSpPr>
        <p:spPr>
          <a:xfrm>
            <a:off x="457200" y="1207008"/>
            <a:ext cx="6309360" cy="310896"/>
          </a:xfrm>
          <a:prstGeom prst="roundRect">
            <a:avLst>
              <a:gd name="adj" fmla="val 20588"/>
            </a:avLst>
          </a:prstGeom>
          <a:solidFill>
            <a:srgbClr val="0E4B43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603504" y="1207008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CHECKLIST — RUN ONCE PILOT DATA LANDS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457200" y="1517904"/>
            <a:ext cx="6309360" cy="3703320"/>
          </a:xfrm>
          <a:prstGeom prst="roundRect">
            <a:avLst>
              <a:gd name="adj" fmla="val 1975"/>
            </a:avLst>
          </a:prstGeom>
          <a:solidFill>
            <a:srgbClr val="FFFFFF"/>
          </a:solidFill>
          <a:ln w="9525">
            <a:solidFill>
              <a:srgbClr val="D9E7E1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58368" y="1664208"/>
            <a:ext cx="329184" cy="329184"/>
          </a:xfrm>
          <a:prstGeom prst="ellipse">
            <a:avLst/>
          </a:prstGeom>
          <a:solidFill>
            <a:srgbClr val="E4EFE9"/>
          </a:solidFill>
          <a:ln/>
        </p:spPr>
      </p:sp>
      <p:pic>
        <p:nvPicPr>
          <p:cNvPr id="22" name="Image 1" descr="/tmp/claude-0/-home-claude/f50031d9-b5ad-5737-9b32-1977a75a6c42/scratchpad/deck/icons/search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956" y="1749796"/>
            <a:ext cx="158008" cy="158008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1133856" y="1645920"/>
            <a:ext cx="5468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b="1" dirty="0">
                <a:solidFill>
                  <a:srgbClr val="0E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Univariate &amp; bivariate profiling</a:t>
            </a:r>
            <a:endParaRPr lang="en-US" sz="1020" dirty="0"/>
          </a:p>
        </p:txBody>
      </p:sp>
      <p:sp>
        <p:nvSpPr>
          <p:cNvPr id="24" name="Text 20"/>
          <p:cNvSpPr txBox="1"/>
          <p:nvPr/>
        </p:nvSpPr>
        <p:spPr>
          <a:xfrm>
            <a:off x="1133856" y="1847088"/>
            <a:ext cx="5468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Distribution, range and target-rate checks per feature and per 5-Cs bucket.</a:t>
            </a:r>
            <a:endParaRPr lang="en-US" sz="850" dirty="0"/>
          </a:p>
        </p:txBody>
      </p:sp>
      <p:sp>
        <p:nvSpPr>
          <p:cNvPr id="25" name="Shape 21"/>
          <p:cNvSpPr/>
          <p:nvPr/>
        </p:nvSpPr>
        <p:spPr>
          <a:xfrm>
            <a:off x="658368" y="2231136"/>
            <a:ext cx="329184" cy="329184"/>
          </a:xfrm>
          <a:prstGeom prst="ellipse">
            <a:avLst/>
          </a:prstGeom>
          <a:solidFill>
            <a:srgbClr val="E4EFE9"/>
          </a:solidFill>
          <a:ln/>
        </p:spPr>
      </p:sp>
      <p:pic>
        <p:nvPicPr>
          <p:cNvPr id="26" name="Image 2" descr="/tmp/claude-0/-home-claude/f50031d9-b5ad-5737-9b32-1977a75a6c42/scratchpad/deck/icons/chartPie_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956" y="2316724"/>
            <a:ext cx="158008" cy="158008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1133856" y="2212848"/>
            <a:ext cx="5468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b="1" dirty="0">
                <a:solidFill>
                  <a:srgbClr val="0E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Missingness heatmap</a:t>
            </a:r>
            <a:endParaRPr lang="en-US" sz="1020" dirty="0"/>
          </a:p>
        </p:txBody>
      </p:sp>
      <p:sp>
        <p:nvSpPr>
          <p:cNvPr id="28" name="Text 23"/>
          <p:cNvSpPr txBox="1"/>
          <p:nvPr/>
        </p:nvSpPr>
        <p:spPr>
          <a:xfrm>
            <a:off x="1133856" y="2414016"/>
            <a:ext cx="5468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Per-feature missingness by rail — confirms indicator-column strategy before imputation.</a:t>
            </a:r>
            <a:endParaRPr lang="en-US" sz="850" dirty="0"/>
          </a:p>
        </p:txBody>
      </p:sp>
      <p:sp>
        <p:nvSpPr>
          <p:cNvPr id="29" name="Shape 24"/>
          <p:cNvSpPr/>
          <p:nvPr/>
        </p:nvSpPr>
        <p:spPr>
          <a:xfrm>
            <a:off x="658368" y="2798064"/>
            <a:ext cx="329184" cy="329184"/>
          </a:xfrm>
          <a:prstGeom prst="ellipse">
            <a:avLst/>
          </a:prstGeom>
          <a:solidFill>
            <a:srgbClr val="E4EFE9"/>
          </a:solidFill>
          <a:ln/>
        </p:spPr>
      </p:sp>
      <p:pic>
        <p:nvPicPr>
          <p:cNvPr id="30" name="Image 3" descr="/tmp/claude-0/-home-claude/f50031d9-b5ad-5737-9b32-1977a75a6c42/scratchpad/deck/icons/balanceScale_te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956" y="2883652"/>
            <a:ext cx="158008" cy="158008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1133856" y="2779776"/>
            <a:ext cx="5468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b="1" dirty="0">
                <a:solidFill>
                  <a:srgbClr val="0E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Target-rate by segment</a:t>
            </a:r>
            <a:endParaRPr lang="en-US" sz="1020" dirty="0"/>
          </a:p>
        </p:txBody>
      </p:sp>
      <p:sp>
        <p:nvSpPr>
          <p:cNvPr id="32" name="Text 26"/>
          <p:cNvSpPr txBox="1"/>
          <p:nvPr/>
        </p:nvSpPr>
        <p:spPr>
          <a:xfrm>
            <a:off x="1133856" y="2980944"/>
            <a:ext cx="5468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Default-proxy rate sliced by geography, landholding band, loan purpose — fairness pre-screen.</a:t>
            </a:r>
            <a:endParaRPr lang="en-US" sz="850" dirty="0"/>
          </a:p>
        </p:txBody>
      </p:sp>
      <p:sp>
        <p:nvSpPr>
          <p:cNvPr id="33" name="Shape 27"/>
          <p:cNvSpPr/>
          <p:nvPr/>
        </p:nvSpPr>
        <p:spPr>
          <a:xfrm>
            <a:off x="658368" y="3364992"/>
            <a:ext cx="329184" cy="329184"/>
          </a:xfrm>
          <a:prstGeom prst="ellipse">
            <a:avLst/>
          </a:prstGeom>
          <a:solidFill>
            <a:srgbClr val="E4EFE9"/>
          </a:solidFill>
          <a:ln/>
        </p:spPr>
      </p:sp>
      <p:pic>
        <p:nvPicPr>
          <p:cNvPr id="34" name="Image 4" descr="/tmp/claude-0/-home-claude/f50031d9-b5ad-5737-9b32-1977a75a6c42/scratchpad/deck/icons/random_tea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3956" y="3450580"/>
            <a:ext cx="158008" cy="158008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1133856" y="3346704"/>
            <a:ext cx="5468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b="1" dirty="0">
                <a:solidFill>
                  <a:srgbClr val="0E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&amp; IV pre-screen</a:t>
            </a:r>
            <a:endParaRPr lang="en-US" sz="1020" dirty="0"/>
          </a:p>
        </p:txBody>
      </p:sp>
      <p:sp>
        <p:nvSpPr>
          <p:cNvPr id="36" name="Text 29"/>
          <p:cNvSpPr txBox="1"/>
          <p:nvPr/>
        </p:nvSpPr>
        <p:spPr>
          <a:xfrm>
            <a:off x="1133856" y="3547872"/>
            <a:ext cx="5468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Weight-of-Evidence Information Value scan (drop IV&lt;0.02, flag IV&gt;0.5 as leakage-suspect).</a:t>
            </a:r>
            <a:endParaRPr lang="en-US" sz="850" dirty="0"/>
          </a:p>
        </p:txBody>
      </p:sp>
      <p:sp>
        <p:nvSpPr>
          <p:cNvPr id="37" name="Shape 30"/>
          <p:cNvSpPr/>
          <p:nvPr/>
        </p:nvSpPr>
        <p:spPr>
          <a:xfrm>
            <a:off x="658368" y="3931920"/>
            <a:ext cx="329184" cy="329184"/>
          </a:xfrm>
          <a:prstGeom prst="ellipse">
            <a:avLst/>
          </a:prstGeom>
          <a:solidFill>
            <a:srgbClr val="E4EFE9"/>
          </a:solidFill>
          <a:ln/>
        </p:spPr>
      </p:sp>
      <p:pic>
        <p:nvPicPr>
          <p:cNvPr id="38" name="Image 5" descr="/tmp/claude-0/-home-claude/f50031d9-b5ad-5737-9b32-1977a75a6c42/scratchpad/deck/icons/exclamationTriangle_teal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3956" y="4017508"/>
            <a:ext cx="158008" cy="158008"/>
          </a:xfrm>
          <a:prstGeom prst="rect">
            <a:avLst/>
          </a:prstGeom>
        </p:spPr>
      </p:pic>
      <p:sp>
        <p:nvSpPr>
          <p:cNvPr id="39" name="Text 31"/>
          <p:cNvSpPr txBox="1"/>
          <p:nvPr/>
        </p:nvSpPr>
        <p:spPr>
          <a:xfrm>
            <a:off x="1133856" y="3913632"/>
            <a:ext cx="5468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b="1" dirty="0">
                <a:solidFill>
                  <a:srgbClr val="0E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Class-imbalance check</a:t>
            </a:r>
            <a:endParaRPr lang="en-US" sz="1020" dirty="0"/>
          </a:p>
        </p:txBody>
      </p:sp>
      <p:sp>
        <p:nvSpPr>
          <p:cNvPr id="40" name="Text 32"/>
          <p:cNvSpPr txBox="1"/>
          <p:nvPr/>
        </p:nvSpPr>
        <p:spPr>
          <a:xfrm>
            <a:off x="1133856" y="4114800"/>
            <a:ext cx="5468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cost-sensitive weighting (not SMOTE) is the right call before training.</a:t>
            </a:r>
            <a:endParaRPr lang="en-US" sz="850" dirty="0"/>
          </a:p>
        </p:txBody>
      </p:sp>
      <p:sp>
        <p:nvSpPr>
          <p:cNvPr id="41" name="Shape 33"/>
          <p:cNvSpPr/>
          <p:nvPr/>
        </p:nvSpPr>
        <p:spPr>
          <a:xfrm>
            <a:off x="658368" y="4498848"/>
            <a:ext cx="329184" cy="329184"/>
          </a:xfrm>
          <a:prstGeom prst="ellipse">
            <a:avLst/>
          </a:prstGeom>
          <a:solidFill>
            <a:srgbClr val="E4EFE9"/>
          </a:solidFill>
          <a:ln/>
        </p:spPr>
      </p:sp>
      <p:pic>
        <p:nvPicPr>
          <p:cNvPr id="42" name="Image 6" descr="/tmp/claude-0/-home-claude/f50031d9-b5ad-5737-9b32-1977a75a6c42/scratchpad/deck/icons/mapMarker_teal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3956" y="4584436"/>
            <a:ext cx="158008" cy="158008"/>
          </a:xfrm>
          <a:prstGeom prst="rect">
            <a:avLst/>
          </a:prstGeom>
        </p:spPr>
      </p:pic>
      <p:sp>
        <p:nvSpPr>
          <p:cNvPr id="43" name="Text 34"/>
          <p:cNvSpPr txBox="1"/>
          <p:nvPr/>
        </p:nvSpPr>
        <p:spPr>
          <a:xfrm>
            <a:off x="1133856" y="4480560"/>
            <a:ext cx="5468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b="1" dirty="0">
                <a:solidFill>
                  <a:srgbClr val="0E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Village/geography leakage check</a:t>
            </a:r>
            <a:endParaRPr lang="en-US" sz="1020" dirty="0"/>
          </a:p>
        </p:txBody>
      </p:sp>
      <p:sp>
        <p:nvSpPr>
          <p:cNvPr id="44" name="Text 35"/>
          <p:cNvSpPr txBox="1"/>
          <p:nvPr/>
        </p:nvSpPr>
        <p:spPr>
          <a:xfrm>
            <a:off x="1133856" y="4681728"/>
            <a:ext cx="5468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StratifiedGroupKFold-by-village_id before any split is trusted.</a:t>
            </a:r>
            <a:endParaRPr lang="en-US" sz="850" dirty="0"/>
          </a:p>
        </p:txBody>
      </p:sp>
      <p:sp>
        <p:nvSpPr>
          <p:cNvPr id="45" name="Shape 36"/>
          <p:cNvSpPr/>
          <p:nvPr/>
        </p:nvSpPr>
        <p:spPr>
          <a:xfrm>
            <a:off x="7040880" y="1207008"/>
            <a:ext cx="4693615" cy="310896"/>
          </a:xfrm>
          <a:prstGeom prst="roundRect">
            <a:avLst>
              <a:gd name="adj" fmla="val 20588"/>
            </a:avLst>
          </a:prstGeom>
          <a:solidFill>
            <a:srgbClr val="5C8A72"/>
          </a:solidFill>
          <a:ln/>
        </p:spPr>
      </p:sp>
      <p:sp>
        <p:nvSpPr>
          <p:cNvPr id="46" name="Text 37"/>
          <p:cNvSpPr txBox="1"/>
          <p:nvPr/>
        </p:nvSpPr>
        <p:spPr>
          <a:xfrm>
            <a:off x="7187184" y="1207008"/>
            <a:ext cx="44192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PRELIMINARY 5-Cs FEATURE INVENTORY</a:t>
            </a:r>
            <a:endParaRPr lang="en-US" sz="1150" dirty="0"/>
          </a:p>
        </p:txBody>
      </p:sp>
      <p:sp>
        <p:nvSpPr>
          <p:cNvPr id="47" name="Shape 38"/>
          <p:cNvSpPr/>
          <p:nvPr/>
        </p:nvSpPr>
        <p:spPr>
          <a:xfrm>
            <a:off x="7040880" y="1517904"/>
            <a:ext cx="4693615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D9E7E1"/>
            </a:solidFill>
            <a:prstDash val="solid"/>
          </a:ln>
        </p:spPr>
      </p:sp>
      <p:graphicFrame>
        <p:nvGraphicFramePr>
          <p:cNvPr id="48" name="Chart 0" descr=""/>
          <p:cNvGraphicFramePr/>
          <p:nvPr/>
        </p:nvGraphicFramePr>
        <p:xfrm>
          <a:off x="7178040" y="1627632"/>
          <a:ext cx="4419295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8"/>
          </a:graphicData>
        </a:graphic>
      </p:graphicFrame>
      <p:sp>
        <p:nvSpPr>
          <p:cNvPr id="49" name="Text 39"/>
          <p:cNvSpPr txBox="1"/>
          <p:nvPr/>
        </p:nvSpPr>
        <p:spPr>
          <a:xfrm>
            <a:off x="7040880" y="3493008"/>
            <a:ext cx="469361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— planning draft, docs/phase0/preliminary_feature_list.md (40+ features total)</a:t>
            </a:r>
            <a:endParaRPr lang="en-US" sz="900" dirty="0"/>
          </a:p>
        </p:txBody>
      </p:sp>
      <p:sp>
        <p:nvSpPr>
          <p:cNvPr id="50" name="Shape 40"/>
          <p:cNvSpPr/>
          <p:nvPr/>
        </p:nvSpPr>
        <p:spPr>
          <a:xfrm>
            <a:off x="7040880" y="3858768"/>
            <a:ext cx="4693615" cy="1371600"/>
          </a:xfrm>
          <a:prstGeom prst="roundRect">
            <a:avLst>
              <a:gd name="adj" fmla="val 5333"/>
            </a:avLst>
          </a:prstGeom>
          <a:solidFill>
            <a:srgbClr val="F4DEDB"/>
          </a:solidFill>
          <a:ln/>
        </p:spPr>
      </p:sp>
      <p:sp>
        <p:nvSpPr>
          <p:cNvPr id="51" name="Text 41"/>
          <p:cNvSpPr txBox="1"/>
          <p:nvPr/>
        </p:nvSpPr>
        <p:spPr>
          <a:xfrm>
            <a:off x="7205472" y="3950208"/>
            <a:ext cx="436443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60" kern="0" dirty="0">
                <a:solidFill>
                  <a:srgbClr val="B54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</a:t>
            </a:r>
            <a:endParaRPr lang="en-US" sz="950" dirty="0"/>
          </a:p>
        </p:txBody>
      </p:sp>
      <p:sp>
        <p:nvSpPr>
          <p:cNvPr id="52" name="Text 42"/>
          <p:cNvSpPr txBox="1"/>
          <p:nvPr/>
        </p:nvSpPr>
        <p:spPr>
          <a:xfrm>
            <a:off x="7205472" y="4187952"/>
            <a:ext cx="4364431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5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Caste, religion, health &amp; ethnicity are never collected as features — excluded by schema design, not post-hoc filtering. Geography is monitored for fairness but never used as a raw scoring feature (anti-proxy-discrimination).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12064" cy="512064"/>
          </a:xfrm>
          <a:prstGeom prst="ellipse">
            <a:avLst/>
          </a:prstGeom>
          <a:solidFill>
            <a:srgbClr val="E4EFE9"/>
          </a:solidFill>
          <a:ln/>
        </p:spPr>
      </p:sp>
      <p:pic>
        <p:nvPicPr>
          <p:cNvPr id="3" name="Image 0" descr="/tmp/claude-0/-home-claude/f50031d9-b5ad-5737-9b32-1977a75a6c42/scratchpad/deck/icons/filter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0337" y="498897"/>
            <a:ext cx="245791" cy="245791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115568" y="365760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C98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2 · DATA &amp; AI PIPELINE</a:t>
            </a:r>
            <a:endParaRPr lang="en-US" sz="1050" dirty="0"/>
          </a:p>
        </p:txBody>
      </p:sp>
      <p:sp>
        <p:nvSpPr>
          <p:cNvPr id="5" name="Text 2"/>
          <p:cNvSpPr txBox="1"/>
          <p:nvPr/>
        </p:nvSpPr>
        <p:spPr>
          <a:xfrm>
            <a:off x="1115568" y="5486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E4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Preprocessing Pipeline</a:t>
            </a:r>
            <a:endParaRPr lang="en-US" sz="2700" dirty="0"/>
          </a:p>
        </p:txBody>
      </p:sp>
      <p:sp>
        <p:nvSpPr>
          <p:cNvPr id="6" name="Text 3"/>
          <p:cNvSpPr txBox="1"/>
          <p:nvPr/>
        </p:nvSpPr>
        <p:spPr>
          <a:xfrm>
            <a:off x="8808415" y="38404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CREDITTECH  ·  MID-TERM REVIEW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8808415" y="56692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76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07 / 20  ·  DATA &amp; AI PIPELINE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" y="6419088"/>
            <a:ext cx="2182307" cy="310896"/>
          </a:xfrm>
          <a:prstGeom prst="roundRect">
            <a:avLst>
              <a:gd name="adj" fmla="val 50000"/>
            </a:avLst>
          </a:prstGeom>
          <a:solidFill>
            <a:srgbClr val="E4EFE9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457200" y="6419088"/>
            <a:ext cx="218230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spc="40" kern="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860" dirty="0"/>
          </a:p>
        </p:txBody>
      </p:sp>
      <p:sp>
        <p:nvSpPr>
          <p:cNvPr id="10" name="Shape 7"/>
          <p:cNvSpPr/>
          <p:nvPr/>
        </p:nvSpPr>
        <p:spPr>
          <a:xfrm>
            <a:off x="2730947" y="6419088"/>
            <a:ext cx="2182307" cy="310896"/>
          </a:xfrm>
          <a:prstGeom prst="roundRect">
            <a:avLst>
              <a:gd name="adj" fmla="val 50000"/>
            </a:avLst>
          </a:prstGeom>
          <a:solidFill>
            <a:srgbClr val="0E4B43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2730947" y="6419088"/>
            <a:ext cx="218230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AI PIPELINE</a:t>
            </a:r>
            <a:endParaRPr lang="en-US" sz="860" dirty="0"/>
          </a:p>
        </p:txBody>
      </p:sp>
      <p:sp>
        <p:nvSpPr>
          <p:cNvPr id="12" name="Shape 9"/>
          <p:cNvSpPr/>
          <p:nvPr/>
        </p:nvSpPr>
        <p:spPr>
          <a:xfrm>
            <a:off x="5004694" y="6419088"/>
            <a:ext cx="2182307" cy="310896"/>
          </a:xfrm>
          <a:prstGeom prst="roundRect">
            <a:avLst>
              <a:gd name="adj" fmla="val 50000"/>
            </a:avLst>
          </a:prstGeom>
          <a:solidFill>
            <a:srgbClr val="E4EFE9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004694" y="6419088"/>
            <a:ext cx="218230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spc="40" kern="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TECH</a:t>
            </a:r>
            <a:endParaRPr lang="en-US" sz="860" dirty="0"/>
          </a:p>
        </p:txBody>
      </p:sp>
      <p:sp>
        <p:nvSpPr>
          <p:cNvPr id="14" name="Shape 11"/>
          <p:cNvSpPr/>
          <p:nvPr/>
        </p:nvSpPr>
        <p:spPr>
          <a:xfrm>
            <a:off x="7278441" y="6419088"/>
            <a:ext cx="2182307" cy="310896"/>
          </a:xfrm>
          <a:prstGeom prst="roundRect">
            <a:avLst>
              <a:gd name="adj" fmla="val 50000"/>
            </a:avLst>
          </a:prstGeom>
          <a:solidFill>
            <a:srgbClr val="E4EFE9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278441" y="6419088"/>
            <a:ext cx="218230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spc="40" kern="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&amp; PILOT</a:t>
            </a:r>
            <a:endParaRPr lang="en-US" sz="860" dirty="0"/>
          </a:p>
        </p:txBody>
      </p:sp>
      <p:sp>
        <p:nvSpPr>
          <p:cNvPr id="16" name="Shape 13"/>
          <p:cNvSpPr/>
          <p:nvPr/>
        </p:nvSpPr>
        <p:spPr>
          <a:xfrm>
            <a:off x="9552188" y="6419088"/>
            <a:ext cx="2182307" cy="310896"/>
          </a:xfrm>
          <a:prstGeom prst="roundRect">
            <a:avLst>
              <a:gd name="adj" fmla="val 50000"/>
            </a:avLst>
          </a:prstGeom>
          <a:solidFill>
            <a:srgbClr val="E4EFE9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9552188" y="6419088"/>
            <a:ext cx="218230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spc="40" kern="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&amp; ROADMAP</a:t>
            </a:r>
            <a:endParaRPr lang="en-US" sz="860" dirty="0"/>
          </a:p>
        </p:txBody>
      </p:sp>
      <p:sp>
        <p:nvSpPr>
          <p:cNvPr id="18" name="Shape 15"/>
          <p:cNvSpPr/>
          <p:nvPr/>
        </p:nvSpPr>
        <p:spPr>
          <a:xfrm>
            <a:off x="457200" y="1207008"/>
            <a:ext cx="11277295" cy="310896"/>
          </a:xfrm>
          <a:prstGeom prst="roundRect">
            <a:avLst>
              <a:gd name="adj" fmla="val 20588"/>
            </a:avLst>
          </a:prstGeom>
          <a:solidFill>
            <a:srgbClr val="0E4B43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603504" y="1207008"/>
            <a:ext cx="110029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FLOW — RAW RAILS TO MODEL-READY FEATURES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457200" y="1517904"/>
            <a:ext cx="11277295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D9E7E1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40080" y="1664208"/>
            <a:ext cx="1742389" cy="1371600"/>
          </a:xfrm>
          <a:prstGeom prst="roundRect">
            <a:avLst>
              <a:gd name="adj" fmla="val 5333"/>
            </a:avLst>
          </a:prstGeom>
          <a:solidFill>
            <a:srgbClr val="E4EFE9"/>
          </a:solidFill>
          <a:ln w="9525">
            <a:solidFill>
              <a:srgbClr val="D9E7E1"/>
            </a:solidFill>
            <a:prstDash val="solid"/>
          </a:ln>
          <a:effectLst>
            <a:outerShdw sx="100000" sy="100000" kx="0" ky="0" algn="bl" rotWithShape="0" blurRad="101600" dist="38100" dir="5400000">
              <a:srgbClr val="0A322C">
                <a:alpha val="1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1346683" y="1755648"/>
            <a:ext cx="329184" cy="329184"/>
          </a:xfrm>
          <a:prstGeom prst="ellipse">
            <a:avLst/>
          </a:prstGeom>
          <a:solidFill>
            <a:srgbClr val="0E4B43"/>
          </a:solidFill>
          <a:ln/>
        </p:spPr>
      </p:sp>
      <p:pic>
        <p:nvPicPr>
          <p:cNvPr id="23" name="Image 1" descr="/tmp/claude-0/-home-claude/f50031d9-b5ad-5737-9b32-1977a75a6c42/scratchpad/deck/icons/shieldAl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2270" y="1841236"/>
            <a:ext cx="158008" cy="158008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685800" y="2139696"/>
            <a:ext cx="165094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endParaRPr lang="en-US" sz="860" dirty="0"/>
          </a:p>
        </p:txBody>
      </p:sp>
      <p:sp>
        <p:nvSpPr>
          <p:cNvPr id="25" name="Text 21"/>
          <p:cNvSpPr txBox="1"/>
          <p:nvPr/>
        </p:nvSpPr>
        <p:spPr>
          <a:xfrm>
            <a:off x="694944" y="2103120"/>
            <a:ext cx="163266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900" dirty="0"/>
          </a:p>
        </p:txBody>
      </p:sp>
      <p:sp>
        <p:nvSpPr>
          <p:cNvPr id="26" name="Text 22"/>
          <p:cNvSpPr txBox="1"/>
          <p:nvPr/>
        </p:nvSpPr>
        <p:spPr>
          <a:xfrm>
            <a:off x="694944" y="2359152"/>
            <a:ext cx="163266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Deepchecks schema &amp; range checks</a:t>
            </a:r>
            <a:endParaRPr lang="en-US" sz="750" dirty="0"/>
          </a:p>
        </p:txBody>
      </p:sp>
      <p:sp>
        <p:nvSpPr>
          <p:cNvPr id="27" name="Text 23"/>
          <p:cNvSpPr txBox="1"/>
          <p:nvPr/>
        </p:nvSpPr>
        <p:spPr>
          <a:xfrm>
            <a:off x="2382469" y="2029968"/>
            <a:ext cx="91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C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8" name="Shape 24"/>
          <p:cNvSpPr/>
          <p:nvPr/>
        </p:nvSpPr>
        <p:spPr>
          <a:xfrm>
            <a:off x="2473909" y="1664208"/>
            <a:ext cx="1742389" cy="1371600"/>
          </a:xfrm>
          <a:prstGeom prst="roundRect">
            <a:avLst>
              <a:gd name="adj" fmla="val 5333"/>
            </a:avLst>
          </a:prstGeom>
          <a:solidFill>
            <a:srgbClr val="E4EFE9"/>
          </a:solidFill>
          <a:ln w="9525">
            <a:solidFill>
              <a:srgbClr val="D9E7E1"/>
            </a:solidFill>
            <a:prstDash val="solid"/>
          </a:ln>
          <a:effectLst>
            <a:outerShdw sx="100000" sy="100000" kx="0" ky="0" algn="bl" rotWithShape="0" blurRad="101600" dist="38100" dir="5400000">
              <a:srgbClr val="0A322C">
                <a:alpha val="18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3180512" y="1755648"/>
            <a:ext cx="329184" cy="329184"/>
          </a:xfrm>
          <a:prstGeom prst="ellipse">
            <a:avLst/>
          </a:prstGeom>
          <a:solidFill>
            <a:srgbClr val="0E4B43"/>
          </a:solidFill>
          <a:ln/>
        </p:spPr>
      </p:sp>
      <p:pic>
        <p:nvPicPr>
          <p:cNvPr id="30" name="Image 2" descr="/tmp/claude-0/-home-claude/f50031d9-b5ad-5737-9b32-1977a75a6c42/scratchpad/deck/icons/filter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6100" y="1841236"/>
            <a:ext cx="158008" cy="158008"/>
          </a:xfrm>
          <a:prstGeom prst="rect">
            <a:avLst/>
          </a:prstGeom>
        </p:spPr>
      </p:pic>
      <p:sp>
        <p:nvSpPr>
          <p:cNvPr id="31" name="Text 26"/>
          <p:cNvSpPr txBox="1"/>
          <p:nvPr/>
        </p:nvSpPr>
        <p:spPr>
          <a:xfrm>
            <a:off x="2519629" y="2139696"/>
            <a:ext cx="165094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endParaRPr lang="en-US" sz="860" dirty="0"/>
          </a:p>
        </p:txBody>
      </p:sp>
      <p:sp>
        <p:nvSpPr>
          <p:cNvPr id="32" name="Text 27"/>
          <p:cNvSpPr txBox="1"/>
          <p:nvPr/>
        </p:nvSpPr>
        <p:spPr>
          <a:xfrm>
            <a:off x="2528773" y="2103120"/>
            <a:ext cx="163266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</a:t>
            </a:r>
            <a:endParaRPr lang="en-US" sz="900" dirty="0"/>
          </a:p>
        </p:txBody>
      </p:sp>
      <p:sp>
        <p:nvSpPr>
          <p:cNvPr id="33" name="Text 28"/>
          <p:cNvSpPr txBox="1"/>
          <p:nvPr/>
        </p:nvSpPr>
        <p:spPr>
          <a:xfrm>
            <a:off x="2528773" y="2359152"/>
            <a:ext cx="163266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(₹, acres), de-dup, label standardisation</a:t>
            </a:r>
            <a:endParaRPr lang="en-US" sz="750" dirty="0"/>
          </a:p>
        </p:txBody>
      </p:sp>
      <p:sp>
        <p:nvSpPr>
          <p:cNvPr id="34" name="Text 29"/>
          <p:cNvSpPr txBox="1"/>
          <p:nvPr/>
        </p:nvSpPr>
        <p:spPr>
          <a:xfrm>
            <a:off x="4216298" y="2029968"/>
            <a:ext cx="91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C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5" name="Shape 30"/>
          <p:cNvSpPr/>
          <p:nvPr/>
        </p:nvSpPr>
        <p:spPr>
          <a:xfrm>
            <a:off x="4307738" y="1664208"/>
            <a:ext cx="1742389" cy="1371600"/>
          </a:xfrm>
          <a:prstGeom prst="roundRect">
            <a:avLst>
              <a:gd name="adj" fmla="val 5333"/>
            </a:avLst>
          </a:prstGeom>
          <a:solidFill>
            <a:srgbClr val="E4EFE9"/>
          </a:solidFill>
          <a:ln w="9525">
            <a:solidFill>
              <a:srgbClr val="D9E7E1"/>
            </a:solidFill>
            <a:prstDash val="solid"/>
          </a:ln>
          <a:effectLst>
            <a:outerShdw sx="100000" sy="100000" kx="0" ky="0" algn="bl" rotWithShape="0" blurRad="101600" dist="38100" dir="5400000">
              <a:srgbClr val="0A322C">
                <a:alpha val="18000"/>
              </a:srgbClr>
            </a:outerShdw>
          </a:effectLst>
        </p:spPr>
      </p:sp>
      <p:sp>
        <p:nvSpPr>
          <p:cNvPr id="36" name="Shape 31"/>
          <p:cNvSpPr/>
          <p:nvPr/>
        </p:nvSpPr>
        <p:spPr>
          <a:xfrm>
            <a:off x="5014341" y="1755648"/>
            <a:ext cx="329184" cy="329184"/>
          </a:xfrm>
          <a:prstGeom prst="ellipse">
            <a:avLst/>
          </a:prstGeom>
          <a:solidFill>
            <a:srgbClr val="0E4B43"/>
          </a:solidFill>
          <a:ln/>
        </p:spPr>
      </p:sp>
      <p:pic>
        <p:nvPicPr>
          <p:cNvPr id="37" name="Image 3" descr="/tmp/claude-0/-home-claude/f50031d9-b5ad-5737-9b32-1977a75a6c42/scratchpad/deck/icons/searchPlus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9929" y="1841236"/>
            <a:ext cx="158008" cy="158008"/>
          </a:xfrm>
          <a:prstGeom prst="rect">
            <a:avLst/>
          </a:prstGeom>
        </p:spPr>
      </p:pic>
      <p:sp>
        <p:nvSpPr>
          <p:cNvPr id="38" name="Text 32"/>
          <p:cNvSpPr txBox="1"/>
          <p:nvPr/>
        </p:nvSpPr>
        <p:spPr>
          <a:xfrm>
            <a:off x="4353458" y="2139696"/>
            <a:ext cx="165094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endParaRPr lang="en-US" sz="860" dirty="0"/>
          </a:p>
        </p:txBody>
      </p:sp>
      <p:sp>
        <p:nvSpPr>
          <p:cNvPr id="39" name="Text 33"/>
          <p:cNvSpPr txBox="1"/>
          <p:nvPr/>
        </p:nvSpPr>
        <p:spPr>
          <a:xfrm>
            <a:off x="4362602" y="2103120"/>
            <a:ext cx="163266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Missingness</a:t>
            </a:r>
            <a:endParaRPr lang="en-US" sz="900" dirty="0"/>
          </a:p>
        </p:txBody>
      </p:sp>
      <p:sp>
        <p:nvSpPr>
          <p:cNvPr id="40" name="Text 34"/>
          <p:cNvSpPr txBox="1"/>
          <p:nvPr/>
        </p:nvSpPr>
        <p:spPr>
          <a:xfrm>
            <a:off x="4362602" y="2359152"/>
            <a:ext cx="163266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Indicator column + median/mode — never silently imputed</a:t>
            </a:r>
            <a:endParaRPr lang="en-US" sz="750" dirty="0"/>
          </a:p>
        </p:txBody>
      </p:sp>
      <p:sp>
        <p:nvSpPr>
          <p:cNvPr id="41" name="Text 35"/>
          <p:cNvSpPr txBox="1"/>
          <p:nvPr/>
        </p:nvSpPr>
        <p:spPr>
          <a:xfrm>
            <a:off x="6050128" y="2029968"/>
            <a:ext cx="91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C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42" name="Shape 36"/>
          <p:cNvSpPr/>
          <p:nvPr/>
        </p:nvSpPr>
        <p:spPr>
          <a:xfrm>
            <a:off x="6141568" y="1664208"/>
            <a:ext cx="1742389" cy="1371600"/>
          </a:xfrm>
          <a:prstGeom prst="roundRect">
            <a:avLst>
              <a:gd name="adj" fmla="val 5333"/>
            </a:avLst>
          </a:prstGeom>
          <a:solidFill>
            <a:srgbClr val="E4EFE9"/>
          </a:solidFill>
          <a:ln w="9525">
            <a:solidFill>
              <a:srgbClr val="D9E7E1"/>
            </a:solidFill>
            <a:prstDash val="solid"/>
          </a:ln>
          <a:effectLst>
            <a:outerShdw sx="100000" sy="100000" kx="0" ky="0" algn="bl" rotWithShape="0" blurRad="101600" dist="38100" dir="5400000">
              <a:srgbClr val="0A322C">
                <a:alpha val="18000"/>
              </a:srgbClr>
            </a:outerShdw>
          </a:effectLst>
        </p:spPr>
      </p:sp>
      <p:sp>
        <p:nvSpPr>
          <p:cNvPr id="43" name="Shape 37"/>
          <p:cNvSpPr/>
          <p:nvPr/>
        </p:nvSpPr>
        <p:spPr>
          <a:xfrm>
            <a:off x="6848170" y="1755648"/>
            <a:ext cx="329184" cy="329184"/>
          </a:xfrm>
          <a:prstGeom prst="ellipse">
            <a:avLst/>
          </a:prstGeom>
          <a:solidFill>
            <a:srgbClr val="0E4B43"/>
          </a:solidFill>
          <a:ln/>
        </p:spPr>
      </p:sp>
      <p:pic>
        <p:nvPicPr>
          <p:cNvPr id="44" name="Image 4" descr="/tmp/claude-0/-home-claude/f50031d9-b5ad-5737-9b32-1977a75a6c42/scratchpad/deck/icons/exclamationTriangle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33758" y="1841236"/>
            <a:ext cx="158008" cy="158008"/>
          </a:xfrm>
          <a:prstGeom prst="rect">
            <a:avLst/>
          </a:prstGeom>
        </p:spPr>
      </p:pic>
      <p:sp>
        <p:nvSpPr>
          <p:cNvPr id="45" name="Text 38"/>
          <p:cNvSpPr txBox="1"/>
          <p:nvPr/>
        </p:nvSpPr>
        <p:spPr>
          <a:xfrm>
            <a:off x="6187288" y="2139696"/>
            <a:ext cx="165094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endParaRPr lang="en-US" sz="860" dirty="0"/>
          </a:p>
        </p:txBody>
      </p:sp>
      <p:sp>
        <p:nvSpPr>
          <p:cNvPr id="46" name="Text 39"/>
          <p:cNvSpPr txBox="1"/>
          <p:nvPr/>
        </p:nvSpPr>
        <p:spPr>
          <a:xfrm>
            <a:off x="6196432" y="2103120"/>
            <a:ext cx="163266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treatment</a:t>
            </a:r>
            <a:endParaRPr lang="en-US" sz="900" dirty="0"/>
          </a:p>
        </p:txBody>
      </p:sp>
      <p:sp>
        <p:nvSpPr>
          <p:cNvPr id="47" name="Text 40"/>
          <p:cNvSpPr txBox="1"/>
          <p:nvPr/>
        </p:nvSpPr>
        <p:spPr>
          <a:xfrm>
            <a:off x="6196432" y="2359152"/>
            <a:ext cx="163266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Winsorising on continuous 5-Cs features</a:t>
            </a:r>
            <a:endParaRPr lang="en-US" sz="750" dirty="0"/>
          </a:p>
        </p:txBody>
      </p:sp>
      <p:sp>
        <p:nvSpPr>
          <p:cNvPr id="48" name="Text 41"/>
          <p:cNvSpPr txBox="1"/>
          <p:nvPr/>
        </p:nvSpPr>
        <p:spPr>
          <a:xfrm>
            <a:off x="7883957" y="2029968"/>
            <a:ext cx="91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C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49" name="Shape 42"/>
          <p:cNvSpPr/>
          <p:nvPr/>
        </p:nvSpPr>
        <p:spPr>
          <a:xfrm>
            <a:off x="7975397" y="1664208"/>
            <a:ext cx="1742389" cy="1371600"/>
          </a:xfrm>
          <a:prstGeom prst="roundRect">
            <a:avLst>
              <a:gd name="adj" fmla="val 5333"/>
            </a:avLst>
          </a:prstGeom>
          <a:solidFill>
            <a:srgbClr val="E4EFE9"/>
          </a:solidFill>
          <a:ln w="9525">
            <a:solidFill>
              <a:srgbClr val="D9E7E1"/>
            </a:solidFill>
            <a:prstDash val="solid"/>
          </a:ln>
          <a:effectLst>
            <a:outerShdw sx="100000" sy="100000" kx="0" ky="0" algn="bl" rotWithShape="0" blurRad="101600" dist="38100" dir="5400000">
              <a:srgbClr val="0A322C">
                <a:alpha val="18000"/>
              </a:srgbClr>
            </a:outerShdw>
          </a:effectLst>
        </p:spPr>
      </p:sp>
      <p:sp>
        <p:nvSpPr>
          <p:cNvPr id="50" name="Shape 43"/>
          <p:cNvSpPr/>
          <p:nvPr/>
        </p:nvSpPr>
        <p:spPr>
          <a:xfrm>
            <a:off x="8681999" y="1755648"/>
            <a:ext cx="329184" cy="329184"/>
          </a:xfrm>
          <a:prstGeom prst="ellipse">
            <a:avLst/>
          </a:prstGeom>
          <a:solidFill>
            <a:srgbClr val="0E4B43"/>
          </a:solidFill>
          <a:ln/>
        </p:spPr>
      </p:sp>
      <p:pic>
        <p:nvPicPr>
          <p:cNvPr id="51" name="Image 5" descr="/tmp/claude-0/-home-claude/f50031d9-b5ad-5737-9b32-1977a75a6c42/scratchpad/deck/icons/calculator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67587" y="1841236"/>
            <a:ext cx="158008" cy="158008"/>
          </a:xfrm>
          <a:prstGeom prst="rect">
            <a:avLst/>
          </a:prstGeom>
        </p:spPr>
      </p:pic>
      <p:sp>
        <p:nvSpPr>
          <p:cNvPr id="52" name="Text 44"/>
          <p:cNvSpPr txBox="1"/>
          <p:nvPr/>
        </p:nvSpPr>
        <p:spPr>
          <a:xfrm>
            <a:off x="8021117" y="2139696"/>
            <a:ext cx="165094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endParaRPr lang="en-US" sz="860" dirty="0"/>
          </a:p>
        </p:txBody>
      </p:sp>
      <p:sp>
        <p:nvSpPr>
          <p:cNvPr id="53" name="Text 45"/>
          <p:cNvSpPr txBox="1"/>
          <p:nvPr/>
        </p:nvSpPr>
        <p:spPr>
          <a:xfrm>
            <a:off x="8030261" y="2103120"/>
            <a:ext cx="163266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WoE / IV encoding</a:t>
            </a:r>
            <a:endParaRPr lang="en-US" sz="900" dirty="0"/>
          </a:p>
        </p:txBody>
      </p:sp>
      <p:sp>
        <p:nvSpPr>
          <p:cNvPr id="54" name="Text 46"/>
          <p:cNvSpPr txBox="1"/>
          <p:nvPr/>
        </p:nvSpPr>
        <p:spPr>
          <a:xfrm>
            <a:off x="8030261" y="2359152"/>
            <a:ext cx="163266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Bins alternative-data features into an auditable scorecard input</a:t>
            </a:r>
            <a:endParaRPr lang="en-US" sz="750" dirty="0"/>
          </a:p>
        </p:txBody>
      </p:sp>
      <p:sp>
        <p:nvSpPr>
          <p:cNvPr id="55" name="Text 47"/>
          <p:cNvSpPr txBox="1"/>
          <p:nvPr/>
        </p:nvSpPr>
        <p:spPr>
          <a:xfrm>
            <a:off x="9717786" y="2029968"/>
            <a:ext cx="91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C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56" name="Shape 48"/>
          <p:cNvSpPr/>
          <p:nvPr/>
        </p:nvSpPr>
        <p:spPr>
          <a:xfrm>
            <a:off x="9809226" y="1664208"/>
            <a:ext cx="1742389" cy="1371600"/>
          </a:xfrm>
          <a:prstGeom prst="roundRect">
            <a:avLst>
              <a:gd name="adj" fmla="val 5333"/>
            </a:avLst>
          </a:prstGeom>
          <a:solidFill>
            <a:srgbClr val="E4EFE9"/>
          </a:solidFill>
          <a:ln w="9525">
            <a:solidFill>
              <a:srgbClr val="D9E7E1"/>
            </a:solidFill>
            <a:prstDash val="solid"/>
          </a:ln>
          <a:effectLst>
            <a:outerShdw sx="100000" sy="100000" kx="0" ky="0" algn="bl" rotWithShape="0" blurRad="101600" dist="38100" dir="5400000">
              <a:srgbClr val="0A322C">
                <a:alpha val="18000"/>
              </a:srgbClr>
            </a:outerShdw>
          </a:effectLst>
        </p:spPr>
      </p:sp>
      <p:sp>
        <p:nvSpPr>
          <p:cNvPr id="57" name="Shape 49"/>
          <p:cNvSpPr/>
          <p:nvPr/>
        </p:nvSpPr>
        <p:spPr>
          <a:xfrm>
            <a:off x="10515829" y="1755648"/>
            <a:ext cx="329184" cy="329184"/>
          </a:xfrm>
          <a:prstGeom prst="ellipse">
            <a:avLst/>
          </a:prstGeom>
          <a:solidFill>
            <a:srgbClr val="0E4B43"/>
          </a:solidFill>
          <a:ln/>
        </p:spPr>
      </p:sp>
      <p:pic>
        <p:nvPicPr>
          <p:cNvPr id="58" name="Image 6" descr="/tmp/claude-0/-home-claude/f50031d9-b5ad-5737-9b32-1977a75a6c42/scratchpad/deck/icons/layerGroup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01416" y="1841236"/>
            <a:ext cx="158008" cy="158008"/>
          </a:xfrm>
          <a:prstGeom prst="rect">
            <a:avLst/>
          </a:prstGeom>
        </p:spPr>
      </p:pic>
      <p:sp>
        <p:nvSpPr>
          <p:cNvPr id="59" name="Text 50"/>
          <p:cNvSpPr txBox="1"/>
          <p:nvPr/>
        </p:nvSpPr>
        <p:spPr>
          <a:xfrm>
            <a:off x="9854946" y="2139696"/>
            <a:ext cx="165094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endParaRPr lang="en-US" sz="860" dirty="0"/>
          </a:p>
        </p:txBody>
      </p:sp>
      <p:sp>
        <p:nvSpPr>
          <p:cNvPr id="60" name="Text 51"/>
          <p:cNvSpPr txBox="1"/>
          <p:nvPr/>
        </p:nvSpPr>
        <p:spPr>
          <a:xfrm>
            <a:off x="9864090" y="2103120"/>
            <a:ext cx="163266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Group-aware split</a:t>
            </a:r>
            <a:endParaRPr lang="en-US" sz="900" dirty="0"/>
          </a:p>
        </p:txBody>
      </p:sp>
      <p:sp>
        <p:nvSpPr>
          <p:cNvPr id="61" name="Text 52"/>
          <p:cNvSpPr txBox="1"/>
          <p:nvPr/>
        </p:nvSpPr>
        <p:spPr>
          <a:xfrm>
            <a:off x="9864090" y="2359152"/>
            <a:ext cx="163266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70/15/15, StratifiedGroupKFold by village_id, time-aware</a:t>
            </a:r>
            <a:endParaRPr lang="en-US" sz="750" dirty="0"/>
          </a:p>
        </p:txBody>
      </p:sp>
      <p:sp>
        <p:nvSpPr>
          <p:cNvPr id="62" name="Shape 53"/>
          <p:cNvSpPr/>
          <p:nvPr/>
        </p:nvSpPr>
        <p:spPr>
          <a:xfrm>
            <a:off x="457200" y="3401568"/>
            <a:ext cx="5501488" cy="310896"/>
          </a:xfrm>
          <a:prstGeom prst="roundRect">
            <a:avLst>
              <a:gd name="adj" fmla="val 20588"/>
            </a:avLst>
          </a:prstGeom>
          <a:solidFill>
            <a:srgbClr val="5C8A72"/>
          </a:solidFill>
          <a:ln/>
        </p:spPr>
      </p:sp>
      <p:sp>
        <p:nvSpPr>
          <p:cNvPr id="63" name="Text 54"/>
          <p:cNvSpPr txBox="1"/>
          <p:nvPr/>
        </p:nvSpPr>
        <p:spPr>
          <a:xfrm>
            <a:off x="603504" y="3401568"/>
            <a:ext cx="522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WoE / IV — THE ENCODING LOGIC</a:t>
            </a:r>
            <a:endParaRPr lang="en-US" sz="1150" dirty="0"/>
          </a:p>
        </p:txBody>
      </p:sp>
      <p:sp>
        <p:nvSpPr>
          <p:cNvPr id="64" name="Shape 55"/>
          <p:cNvSpPr/>
          <p:nvPr/>
        </p:nvSpPr>
        <p:spPr>
          <a:xfrm>
            <a:off x="457200" y="3712464"/>
            <a:ext cx="5501488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E7E1"/>
            </a:solidFill>
            <a:prstDash val="solid"/>
          </a:ln>
        </p:spPr>
      </p:sp>
      <p:sp>
        <p:nvSpPr>
          <p:cNvPr id="65" name="Text 56"/>
          <p:cNvSpPr txBox="1"/>
          <p:nvPr/>
        </p:nvSpPr>
        <p:spPr>
          <a:xfrm>
            <a:off x="640080" y="3840480"/>
            <a:ext cx="513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15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Weight-of-Evidence bins each alternative-data feature and rescores it by log-odds of default; Information Value ranks predictive strength.</a:t>
            </a:r>
            <a:endParaRPr lang="en-US" sz="930" dirty="0"/>
          </a:p>
        </p:txBody>
      </p:sp>
      <p:sp>
        <p:nvSpPr>
          <p:cNvPr id="66" name="Text 57"/>
          <p:cNvSpPr txBox="1"/>
          <p:nvPr/>
        </p:nvSpPr>
        <p:spPr>
          <a:xfrm>
            <a:off x="640080" y="4315968"/>
            <a:ext cx="11887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40" b="1" dirty="0">
                <a:solidFill>
                  <a:srgbClr val="0E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 &lt; 0.02</a:t>
            </a:r>
            <a:endParaRPr lang="en-US" sz="840" dirty="0"/>
          </a:p>
        </p:txBody>
      </p:sp>
      <p:sp>
        <p:nvSpPr>
          <p:cNvPr id="67" name="Text 58"/>
          <p:cNvSpPr txBox="1"/>
          <p:nvPr/>
        </p:nvSpPr>
        <p:spPr>
          <a:xfrm>
            <a:off x="1874520" y="4315968"/>
            <a:ext cx="39012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4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— not predictive</a:t>
            </a:r>
            <a:endParaRPr lang="en-US" sz="840" dirty="0"/>
          </a:p>
        </p:txBody>
      </p:sp>
      <p:sp>
        <p:nvSpPr>
          <p:cNvPr id="68" name="Text 59"/>
          <p:cNvSpPr txBox="1"/>
          <p:nvPr/>
        </p:nvSpPr>
        <p:spPr>
          <a:xfrm>
            <a:off x="640080" y="4489704"/>
            <a:ext cx="11887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40" b="1" dirty="0">
                <a:solidFill>
                  <a:srgbClr val="0E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0.02 – 0.1</a:t>
            </a:r>
            <a:endParaRPr lang="en-US" sz="840" dirty="0"/>
          </a:p>
        </p:txBody>
      </p:sp>
      <p:sp>
        <p:nvSpPr>
          <p:cNvPr id="69" name="Text 60"/>
          <p:cNvSpPr txBox="1"/>
          <p:nvPr/>
        </p:nvSpPr>
        <p:spPr>
          <a:xfrm>
            <a:off x="1874520" y="4489704"/>
            <a:ext cx="39012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4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predictor</a:t>
            </a:r>
            <a:endParaRPr lang="en-US" sz="840" dirty="0"/>
          </a:p>
        </p:txBody>
      </p:sp>
      <p:sp>
        <p:nvSpPr>
          <p:cNvPr id="70" name="Text 61"/>
          <p:cNvSpPr txBox="1"/>
          <p:nvPr/>
        </p:nvSpPr>
        <p:spPr>
          <a:xfrm>
            <a:off x="640080" y="4663440"/>
            <a:ext cx="11887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40" b="1" dirty="0">
                <a:solidFill>
                  <a:srgbClr val="0E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 – 0.3</a:t>
            </a:r>
            <a:endParaRPr lang="en-US" sz="840" dirty="0"/>
          </a:p>
        </p:txBody>
      </p:sp>
      <p:sp>
        <p:nvSpPr>
          <p:cNvPr id="71" name="Text 62"/>
          <p:cNvSpPr txBox="1"/>
          <p:nvPr/>
        </p:nvSpPr>
        <p:spPr>
          <a:xfrm>
            <a:off x="1874520" y="4663440"/>
            <a:ext cx="39012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4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predictor</a:t>
            </a:r>
            <a:endParaRPr lang="en-US" sz="840" dirty="0"/>
          </a:p>
        </p:txBody>
      </p:sp>
      <p:sp>
        <p:nvSpPr>
          <p:cNvPr id="72" name="Text 63"/>
          <p:cNvSpPr txBox="1"/>
          <p:nvPr/>
        </p:nvSpPr>
        <p:spPr>
          <a:xfrm>
            <a:off x="640080" y="4837176"/>
            <a:ext cx="11887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40" b="1" dirty="0">
                <a:solidFill>
                  <a:srgbClr val="0E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 – 0.5</a:t>
            </a:r>
            <a:endParaRPr lang="en-US" sz="840" dirty="0"/>
          </a:p>
        </p:txBody>
      </p:sp>
      <p:sp>
        <p:nvSpPr>
          <p:cNvPr id="73" name="Text 64"/>
          <p:cNvSpPr txBox="1"/>
          <p:nvPr/>
        </p:nvSpPr>
        <p:spPr>
          <a:xfrm>
            <a:off x="1874520" y="4837176"/>
            <a:ext cx="39012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4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predictor</a:t>
            </a:r>
            <a:endParaRPr lang="en-US" sz="840" dirty="0"/>
          </a:p>
        </p:txBody>
      </p:sp>
      <p:sp>
        <p:nvSpPr>
          <p:cNvPr id="74" name="Text 65"/>
          <p:cNvSpPr txBox="1"/>
          <p:nvPr/>
        </p:nvSpPr>
        <p:spPr>
          <a:xfrm>
            <a:off x="640080" y="5010912"/>
            <a:ext cx="11887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40" b="1" dirty="0">
                <a:solidFill>
                  <a:srgbClr val="0E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0.5</a:t>
            </a:r>
            <a:endParaRPr lang="en-US" sz="840" dirty="0"/>
          </a:p>
        </p:txBody>
      </p:sp>
      <p:sp>
        <p:nvSpPr>
          <p:cNvPr id="75" name="Text 66"/>
          <p:cNvSpPr txBox="1"/>
          <p:nvPr/>
        </p:nvSpPr>
        <p:spPr>
          <a:xfrm>
            <a:off x="1874520" y="5010912"/>
            <a:ext cx="39012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4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Suspicious — leakage risk, reviewed</a:t>
            </a:r>
            <a:endParaRPr lang="en-US" sz="840" dirty="0"/>
          </a:p>
        </p:txBody>
      </p:sp>
      <p:sp>
        <p:nvSpPr>
          <p:cNvPr id="76" name="Shape 67"/>
          <p:cNvSpPr/>
          <p:nvPr/>
        </p:nvSpPr>
        <p:spPr>
          <a:xfrm>
            <a:off x="6233008" y="3401568"/>
            <a:ext cx="5501488" cy="310896"/>
          </a:xfrm>
          <a:prstGeom prst="roundRect">
            <a:avLst>
              <a:gd name="adj" fmla="val 20588"/>
            </a:avLst>
          </a:prstGeom>
          <a:solidFill>
            <a:srgbClr val="B5473D"/>
          </a:solidFill>
          <a:ln/>
        </p:spPr>
      </p:sp>
      <p:sp>
        <p:nvSpPr>
          <p:cNvPr id="77" name="Text 68"/>
          <p:cNvSpPr txBox="1"/>
          <p:nvPr/>
        </p:nvSpPr>
        <p:spPr>
          <a:xfrm>
            <a:off x="6379312" y="3401568"/>
            <a:ext cx="522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 &amp; FAIRNESS GUARDRAILS</a:t>
            </a:r>
            <a:endParaRPr lang="en-US" sz="1150" dirty="0"/>
          </a:p>
        </p:txBody>
      </p:sp>
      <p:sp>
        <p:nvSpPr>
          <p:cNvPr id="78" name="Shape 69"/>
          <p:cNvSpPr/>
          <p:nvPr/>
        </p:nvSpPr>
        <p:spPr>
          <a:xfrm>
            <a:off x="6233008" y="3712464"/>
            <a:ext cx="5501488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E7E1"/>
            </a:solidFill>
            <a:prstDash val="solid"/>
          </a:ln>
        </p:spPr>
      </p:sp>
      <p:sp>
        <p:nvSpPr>
          <p:cNvPr id="79" name="Text 70"/>
          <p:cNvSpPr txBox="1"/>
          <p:nvPr/>
        </p:nvSpPr>
        <p:spPr>
          <a:xfrm>
            <a:off x="6415888" y="3822192"/>
            <a:ext cx="513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5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Village-level grouping in every fold — no borrower’s village appears in both train and validation.</a:t>
            </a:r>
            <a:endParaRPr lang="en-US" sz="900" dirty="0"/>
          </a:p>
        </p:txBody>
      </p:sp>
      <p:sp>
        <p:nvSpPr>
          <p:cNvPr id="80" name="Text 71"/>
          <p:cNvSpPr txBox="1"/>
          <p:nvPr/>
        </p:nvSpPr>
        <p:spPr>
          <a:xfrm>
            <a:off x="6415888" y="4206240"/>
            <a:ext cx="513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5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SMOTE avoided on grouped/temporal folds — cost-sensitive class weighting used instead.</a:t>
            </a:r>
            <a:endParaRPr lang="en-US" sz="900" dirty="0"/>
          </a:p>
        </p:txBody>
      </p:sp>
      <p:sp>
        <p:nvSpPr>
          <p:cNvPr id="81" name="Text 72"/>
          <p:cNvSpPr txBox="1"/>
          <p:nvPr/>
        </p:nvSpPr>
        <p:spPr>
          <a:xfrm>
            <a:off x="6415888" y="4590288"/>
            <a:ext cx="513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5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Protected attributes excluded at the schema level, not filtered after the fact.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12064" cy="512064"/>
          </a:xfrm>
          <a:prstGeom prst="ellipse">
            <a:avLst/>
          </a:prstGeom>
          <a:solidFill>
            <a:srgbClr val="E4EFE9"/>
          </a:solidFill>
          <a:ln/>
        </p:spPr>
      </p:sp>
      <p:pic>
        <p:nvPicPr>
          <p:cNvPr id="3" name="Image 0" descr="/tmp/claude-0/-home-claude/f50031d9-b5ad-5737-9b32-1977a75a6c42/scratchpad/deck/icons/cogs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0337" y="498897"/>
            <a:ext cx="245791" cy="245791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115568" y="365760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C98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2 · DATA &amp; AI PIPELINE</a:t>
            </a:r>
            <a:endParaRPr lang="en-US" sz="1050" dirty="0"/>
          </a:p>
        </p:txBody>
      </p:sp>
      <p:sp>
        <p:nvSpPr>
          <p:cNvPr id="5" name="Text 2"/>
          <p:cNvSpPr txBox="1"/>
          <p:nvPr/>
        </p:nvSpPr>
        <p:spPr>
          <a:xfrm>
            <a:off x="1115568" y="5486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E4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 — the 5-Cs Framework</a:t>
            </a:r>
            <a:endParaRPr lang="en-US" sz="2700" dirty="0"/>
          </a:p>
        </p:txBody>
      </p:sp>
      <p:sp>
        <p:nvSpPr>
          <p:cNvPr id="6" name="Text 3"/>
          <p:cNvSpPr txBox="1"/>
          <p:nvPr/>
        </p:nvSpPr>
        <p:spPr>
          <a:xfrm>
            <a:off x="8808415" y="38404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CREDITTECH  ·  MID-TERM REVIEW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8808415" y="56692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76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08 / 20  ·  DATA &amp; AI PIPELINE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" y="6419088"/>
            <a:ext cx="2182307" cy="310896"/>
          </a:xfrm>
          <a:prstGeom prst="roundRect">
            <a:avLst>
              <a:gd name="adj" fmla="val 50000"/>
            </a:avLst>
          </a:prstGeom>
          <a:solidFill>
            <a:srgbClr val="E4EFE9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457200" y="6419088"/>
            <a:ext cx="218230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spc="40" kern="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860" dirty="0"/>
          </a:p>
        </p:txBody>
      </p:sp>
      <p:sp>
        <p:nvSpPr>
          <p:cNvPr id="10" name="Shape 7"/>
          <p:cNvSpPr/>
          <p:nvPr/>
        </p:nvSpPr>
        <p:spPr>
          <a:xfrm>
            <a:off x="2730947" y="6419088"/>
            <a:ext cx="2182307" cy="310896"/>
          </a:xfrm>
          <a:prstGeom prst="roundRect">
            <a:avLst>
              <a:gd name="adj" fmla="val 50000"/>
            </a:avLst>
          </a:prstGeom>
          <a:solidFill>
            <a:srgbClr val="0E4B43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2730947" y="6419088"/>
            <a:ext cx="218230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AI PIPELINE</a:t>
            </a:r>
            <a:endParaRPr lang="en-US" sz="860" dirty="0"/>
          </a:p>
        </p:txBody>
      </p:sp>
      <p:sp>
        <p:nvSpPr>
          <p:cNvPr id="12" name="Shape 9"/>
          <p:cNvSpPr/>
          <p:nvPr/>
        </p:nvSpPr>
        <p:spPr>
          <a:xfrm>
            <a:off x="5004694" y="6419088"/>
            <a:ext cx="2182307" cy="310896"/>
          </a:xfrm>
          <a:prstGeom prst="roundRect">
            <a:avLst>
              <a:gd name="adj" fmla="val 50000"/>
            </a:avLst>
          </a:prstGeom>
          <a:solidFill>
            <a:srgbClr val="E4EFE9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004694" y="6419088"/>
            <a:ext cx="218230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spc="40" kern="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TECH</a:t>
            </a:r>
            <a:endParaRPr lang="en-US" sz="860" dirty="0"/>
          </a:p>
        </p:txBody>
      </p:sp>
      <p:sp>
        <p:nvSpPr>
          <p:cNvPr id="14" name="Shape 11"/>
          <p:cNvSpPr/>
          <p:nvPr/>
        </p:nvSpPr>
        <p:spPr>
          <a:xfrm>
            <a:off x="7278441" y="6419088"/>
            <a:ext cx="2182307" cy="310896"/>
          </a:xfrm>
          <a:prstGeom prst="roundRect">
            <a:avLst>
              <a:gd name="adj" fmla="val 50000"/>
            </a:avLst>
          </a:prstGeom>
          <a:solidFill>
            <a:srgbClr val="E4EFE9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278441" y="6419088"/>
            <a:ext cx="218230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spc="40" kern="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&amp; PILOT</a:t>
            </a:r>
            <a:endParaRPr lang="en-US" sz="860" dirty="0"/>
          </a:p>
        </p:txBody>
      </p:sp>
      <p:sp>
        <p:nvSpPr>
          <p:cNvPr id="16" name="Shape 13"/>
          <p:cNvSpPr/>
          <p:nvPr/>
        </p:nvSpPr>
        <p:spPr>
          <a:xfrm>
            <a:off x="9552188" y="6419088"/>
            <a:ext cx="2182307" cy="310896"/>
          </a:xfrm>
          <a:prstGeom prst="roundRect">
            <a:avLst>
              <a:gd name="adj" fmla="val 50000"/>
            </a:avLst>
          </a:prstGeom>
          <a:solidFill>
            <a:srgbClr val="E4EFE9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9552188" y="6419088"/>
            <a:ext cx="218230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spc="40" kern="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&amp; ROADMAP</a:t>
            </a:r>
            <a:endParaRPr lang="en-US" sz="860" dirty="0"/>
          </a:p>
        </p:txBody>
      </p:sp>
      <p:sp>
        <p:nvSpPr>
          <p:cNvPr id="18" name="Shape 15"/>
          <p:cNvSpPr/>
          <p:nvPr/>
        </p:nvSpPr>
        <p:spPr>
          <a:xfrm>
            <a:off x="457200" y="1207008"/>
            <a:ext cx="1962851" cy="3520440"/>
          </a:xfrm>
          <a:prstGeom prst="roundRect">
            <a:avLst>
              <a:gd name="adj" fmla="val 3727"/>
            </a:avLst>
          </a:prstGeom>
          <a:solidFill>
            <a:srgbClr val="FFFFFF"/>
          </a:solidFill>
          <a:ln w="9525">
            <a:solidFill>
              <a:srgbClr val="D9E7E1"/>
            </a:solidFill>
            <a:prstDash val="solid"/>
          </a:ln>
          <a:effectLst>
            <a:outerShdw sx="100000" sy="100000" kx="0" ky="0" algn="bl" rotWithShape="0" blurRad="101600" dist="38100" dir="5400000">
              <a:srgbClr val="0A322C">
                <a:alpha val="1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57200" y="1207008"/>
            <a:ext cx="1962851" cy="822960"/>
          </a:xfrm>
          <a:prstGeom prst="roundRect">
            <a:avLst>
              <a:gd name="adj" fmla="val 10000"/>
            </a:avLst>
          </a:prstGeom>
          <a:solidFill>
            <a:srgbClr val="0E4B43"/>
          </a:solidFill>
          <a:ln/>
        </p:spPr>
      </p:sp>
      <p:sp>
        <p:nvSpPr>
          <p:cNvPr id="20" name="Shape 17"/>
          <p:cNvSpPr/>
          <p:nvPr/>
        </p:nvSpPr>
        <p:spPr>
          <a:xfrm>
            <a:off x="1182594" y="1316736"/>
            <a:ext cx="512064" cy="512064"/>
          </a:xfrm>
          <a:prstGeom prst="ellipse">
            <a:avLst/>
          </a:prstGeom>
          <a:solidFill>
            <a:srgbClr val="C98B2E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457200" y="1316736"/>
            <a:ext cx="1962851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200" dirty="0"/>
          </a:p>
        </p:txBody>
      </p:sp>
      <p:pic>
        <p:nvPicPr>
          <p:cNvPr id="22" name="Image 1" descr="/tmp/claude-0/-home-claude/f50031d9-b5ad-5737-9b32-1977a75a6c42/scratchpad/deck/icons/userChe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7458" y="2048256"/>
            <a:ext cx="402336" cy="402336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548640" y="2468880"/>
            <a:ext cx="17799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E4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Character</a:t>
            </a:r>
            <a:endParaRPr lang="en-US" sz="1350" dirty="0"/>
          </a:p>
        </p:txBody>
      </p:sp>
      <p:sp>
        <p:nvSpPr>
          <p:cNvPr id="24" name="Text 20"/>
          <p:cNvSpPr txBox="1"/>
          <p:nvPr/>
        </p:nvSpPr>
        <p:spPr>
          <a:xfrm>
            <a:off x="585216" y="2743200"/>
            <a:ext cx="170681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40" i="1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Repayment discipline &amp; behavioural trust</a:t>
            </a:r>
            <a:endParaRPr lang="en-US" sz="840" dirty="0"/>
          </a:p>
        </p:txBody>
      </p:sp>
      <p:sp>
        <p:nvSpPr>
          <p:cNvPr id="25" name="Text 21"/>
          <p:cNvSpPr txBox="1"/>
          <p:nvPr/>
        </p:nvSpPr>
        <p:spPr>
          <a:xfrm>
            <a:off x="603504" y="3310128"/>
            <a:ext cx="168853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10" dirty="0">
                <a:solidFill>
                  <a:srgbClr val="15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SHG meeting-attendance %</a:t>
            </a:r>
            <a:endParaRPr lang="en-US" sz="810" dirty="0"/>
          </a:p>
        </p:txBody>
      </p:sp>
      <p:sp>
        <p:nvSpPr>
          <p:cNvPr id="26" name="Text 22"/>
          <p:cNvSpPr txBox="1"/>
          <p:nvPr/>
        </p:nvSpPr>
        <p:spPr>
          <a:xfrm>
            <a:off x="603504" y="3730752"/>
            <a:ext cx="168853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10" dirty="0">
                <a:solidFill>
                  <a:srgbClr val="15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Past group-loan repayment record</a:t>
            </a:r>
            <a:endParaRPr lang="en-US" sz="810" dirty="0"/>
          </a:p>
        </p:txBody>
      </p:sp>
      <p:sp>
        <p:nvSpPr>
          <p:cNvPr id="27" name="Text 23"/>
          <p:cNvSpPr txBox="1"/>
          <p:nvPr/>
        </p:nvSpPr>
        <p:spPr>
          <a:xfrm>
            <a:off x="603504" y="4151376"/>
            <a:ext cx="168853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10" dirty="0">
                <a:solidFill>
                  <a:srgbClr val="15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Consent-based digital-footprint consistency</a:t>
            </a:r>
            <a:endParaRPr lang="en-US" sz="810" dirty="0"/>
          </a:p>
        </p:txBody>
      </p:sp>
      <p:sp>
        <p:nvSpPr>
          <p:cNvPr id="28" name="Shape 24"/>
          <p:cNvSpPr/>
          <p:nvPr/>
        </p:nvSpPr>
        <p:spPr>
          <a:xfrm>
            <a:off x="2785811" y="1207008"/>
            <a:ext cx="1962851" cy="3520440"/>
          </a:xfrm>
          <a:prstGeom prst="roundRect">
            <a:avLst>
              <a:gd name="adj" fmla="val 3727"/>
            </a:avLst>
          </a:prstGeom>
          <a:solidFill>
            <a:srgbClr val="FFFFFF"/>
          </a:solidFill>
          <a:ln w="9525">
            <a:solidFill>
              <a:srgbClr val="D9E7E1"/>
            </a:solidFill>
            <a:prstDash val="solid"/>
          </a:ln>
          <a:effectLst>
            <a:outerShdw sx="100000" sy="100000" kx="0" ky="0" algn="bl" rotWithShape="0" blurRad="101600" dist="38100" dir="5400000">
              <a:srgbClr val="0A322C">
                <a:alpha val="18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2785811" y="1207008"/>
            <a:ext cx="1962851" cy="822960"/>
          </a:xfrm>
          <a:prstGeom prst="roundRect">
            <a:avLst>
              <a:gd name="adj" fmla="val 10000"/>
            </a:avLst>
          </a:prstGeom>
          <a:solidFill>
            <a:srgbClr val="0E4B43"/>
          </a:solidFill>
          <a:ln/>
        </p:spPr>
      </p:sp>
      <p:sp>
        <p:nvSpPr>
          <p:cNvPr id="30" name="Shape 26"/>
          <p:cNvSpPr/>
          <p:nvPr/>
        </p:nvSpPr>
        <p:spPr>
          <a:xfrm>
            <a:off x="3511205" y="1316736"/>
            <a:ext cx="512064" cy="512064"/>
          </a:xfrm>
          <a:prstGeom prst="ellipse">
            <a:avLst/>
          </a:prstGeom>
          <a:solidFill>
            <a:srgbClr val="C98B2E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2785811" y="1316736"/>
            <a:ext cx="1962851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200" dirty="0"/>
          </a:p>
        </p:txBody>
      </p:sp>
      <p:pic>
        <p:nvPicPr>
          <p:cNvPr id="32" name="Image 2" descr="/tmp/claude-0/-home-claude/f50031d9-b5ad-5737-9b32-1977a75a6c42/scratchpad/deck/icons/chartArea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069" y="2048256"/>
            <a:ext cx="402336" cy="402336"/>
          </a:xfrm>
          <a:prstGeom prst="rect">
            <a:avLst/>
          </a:prstGeom>
        </p:spPr>
      </p:pic>
      <p:sp>
        <p:nvSpPr>
          <p:cNvPr id="33" name="Text 28"/>
          <p:cNvSpPr txBox="1"/>
          <p:nvPr/>
        </p:nvSpPr>
        <p:spPr>
          <a:xfrm>
            <a:off x="2877251" y="2468880"/>
            <a:ext cx="17799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E4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Capacity</a:t>
            </a:r>
            <a:endParaRPr lang="en-US" sz="1350" dirty="0"/>
          </a:p>
        </p:txBody>
      </p:sp>
      <p:sp>
        <p:nvSpPr>
          <p:cNvPr id="34" name="Text 29"/>
          <p:cNvSpPr txBox="1"/>
          <p:nvPr/>
        </p:nvSpPr>
        <p:spPr>
          <a:xfrm>
            <a:off x="2913827" y="2743200"/>
            <a:ext cx="170681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40" i="1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Ability to repay from real cash flow</a:t>
            </a:r>
            <a:endParaRPr lang="en-US" sz="840" dirty="0"/>
          </a:p>
        </p:txBody>
      </p:sp>
      <p:sp>
        <p:nvSpPr>
          <p:cNvPr id="35" name="Text 30"/>
          <p:cNvSpPr txBox="1"/>
          <p:nvPr/>
        </p:nvSpPr>
        <p:spPr>
          <a:xfrm>
            <a:off x="2932115" y="3310128"/>
            <a:ext cx="168853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10" dirty="0">
                <a:solidFill>
                  <a:srgbClr val="15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AA bank-inflow regularity</a:t>
            </a:r>
            <a:endParaRPr lang="en-US" sz="810" dirty="0"/>
          </a:p>
        </p:txBody>
      </p:sp>
      <p:sp>
        <p:nvSpPr>
          <p:cNvPr id="36" name="Text 31"/>
          <p:cNvSpPr txBox="1"/>
          <p:nvPr/>
        </p:nvSpPr>
        <p:spPr>
          <a:xfrm>
            <a:off x="2932115" y="3730752"/>
            <a:ext cx="168853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10" dirty="0">
                <a:solidFill>
                  <a:srgbClr val="15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Crop-cycle-aligned income seasonality</a:t>
            </a:r>
            <a:endParaRPr lang="en-US" sz="810" dirty="0"/>
          </a:p>
        </p:txBody>
      </p:sp>
      <p:sp>
        <p:nvSpPr>
          <p:cNvPr id="37" name="Text 32"/>
          <p:cNvSpPr txBox="1"/>
          <p:nvPr/>
        </p:nvSpPr>
        <p:spPr>
          <a:xfrm>
            <a:off x="2932115" y="4151376"/>
            <a:ext cx="168853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10" dirty="0">
                <a:solidFill>
                  <a:srgbClr val="15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Existing EMI-to-inflow ratio</a:t>
            </a:r>
            <a:endParaRPr lang="en-US" sz="810" dirty="0"/>
          </a:p>
        </p:txBody>
      </p:sp>
      <p:sp>
        <p:nvSpPr>
          <p:cNvPr id="38" name="Shape 33"/>
          <p:cNvSpPr/>
          <p:nvPr/>
        </p:nvSpPr>
        <p:spPr>
          <a:xfrm>
            <a:off x="5114422" y="1207008"/>
            <a:ext cx="1962851" cy="3520440"/>
          </a:xfrm>
          <a:prstGeom prst="roundRect">
            <a:avLst>
              <a:gd name="adj" fmla="val 3727"/>
            </a:avLst>
          </a:prstGeom>
          <a:solidFill>
            <a:srgbClr val="FFFFFF"/>
          </a:solidFill>
          <a:ln w="9525">
            <a:solidFill>
              <a:srgbClr val="D9E7E1"/>
            </a:solidFill>
            <a:prstDash val="solid"/>
          </a:ln>
          <a:effectLst>
            <a:outerShdw sx="100000" sy="100000" kx="0" ky="0" algn="bl" rotWithShape="0" blurRad="101600" dist="38100" dir="5400000">
              <a:srgbClr val="0A322C">
                <a:alpha val="18000"/>
              </a:srgbClr>
            </a:outerShdw>
          </a:effectLst>
        </p:spPr>
      </p:sp>
      <p:sp>
        <p:nvSpPr>
          <p:cNvPr id="39" name="Shape 34"/>
          <p:cNvSpPr/>
          <p:nvPr/>
        </p:nvSpPr>
        <p:spPr>
          <a:xfrm>
            <a:off x="5114422" y="1207008"/>
            <a:ext cx="1962851" cy="822960"/>
          </a:xfrm>
          <a:prstGeom prst="roundRect">
            <a:avLst>
              <a:gd name="adj" fmla="val 10000"/>
            </a:avLst>
          </a:prstGeom>
          <a:solidFill>
            <a:srgbClr val="0E4B43"/>
          </a:solidFill>
          <a:ln/>
        </p:spPr>
      </p:sp>
      <p:sp>
        <p:nvSpPr>
          <p:cNvPr id="40" name="Shape 35"/>
          <p:cNvSpPr/>
          <p:nvPr/>
        </p:nvSpPr>
        <p:spPr>
          <a:xfrm>
            <a:off x="5839816" y="1316736"/>
            <a:ext cx="512064" cy="512064"/>
          </a:xfrm>
          <a:prstGeom prst="ellipse">
            <a:avLst/>
          </a:prstGeom>
          <a:solidFill>
            <a:srgbClr val="C98B2E"/>
          </a:solidFill>
          <a:ln/>
        </p:spPr>
      </p:sp>
      <p:sp>
        <p:nvSpPr>
          <p:cNvPr id="41" name="Text 36"/>
          <p:cNvSpPr txBox="1"/>
          <p:nvPr/>
        </p:nvSpPr>
        <p:spPr>
          <a:xfrm>
            <a:off x="5114422" y="1316736"/>
            <a:ext cx="1962851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200" dirty="0"/>
          </a:p>
        </p:txBody>
      </p:sp>
      <p:pic>
        <p:nvPicPr>
          <p:cNvPr id="42" name="Image 3" descr="/tmp/claude-0/-home-claude/f50031d9-b5ad-5737-9b32-1977a75a6c42/scratchpad/deck/icons/wallet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4680" y="2048256"/>
            <a:ext cx="402336" cy="402336"/>
          </a:xfrm>
          <a:prstGeom prst="rect">
            <a:avLst/>
          </a:prstGeom>
        </p:spPr>
      </p:pic>
      <p:sp>
        <p:nvSpPr>
          <p:cNvPr id="43" name="Text 37"/>
          <p:cNvSpPr txBox="1"/>
          <p:nvPr/>
        </p:nvSpPr>
        <p:spPr>
          <a:xfrm>
            <a:off x="5205862" y="2468880"/>
            <a:ext cx="17799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E4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Capital</a:t>
            </a:r>
            <a:endParaRPr lang="en-US" sz="1350" dirty="0"/>
          </a:p>
        </p:txBody>
      </p:sp>
      <p:sp>
        <p:nvSpPr>
          <p:cNvPr id="44" name="Text 38"/>
          <p:cNvSpPr txBox="1"/>
          <p:nvPr/>
        </p:nvSpPr>
        <p:spPr>
          <a:xfrm>
            <a:off x="5242438" y="2743200"/>
            <a:ext cx="170681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40" i="1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Owned productive assets &amp; buffers</a:t>
            </a:r>
            <a:endParaRPr lang="en-US" sz="840" dirty="0"/>
          </a:p>
        </p:txBody>
      </p:sp>
      <p:sp>
        <p:nvSpPr>
          <p:cNvPr id="45" name="Text 39"/>
          <p:cNvSpPr txBox="1"/>
          <p:nvPr/>
        </p:nvSpPr>
        <p:spPr>
          <a:xfrm>
            <a:off x="5260726" y="3310128"/>
            <a:ext cx="168853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10" dirty="0">
                <a:solidFill>
                  <a:srgbClr val="15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Livestock count</a:t>
            </a:r>
            <a:endParaRPr lang="en-US" sz="810" dirty="0"/>
          </a:p>
        </p:txBody>
      </p:sp>
      <p:sp>
        <p:nvSpPr>
          <p:cNvPr id="46" name="Text 40"/>
          <p:cNvSpPr txBox="1"/>
          <p:nvPr/>
        </p:nvSpPr>
        <p:spPr>
          <a:xfrm>
            <a:off x="5260726" y="3730752"/>
            <a:ext cx="168853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10" dirty="0">
                <a:solidFill>
                  <a:srgbClr val="15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Savings-balance trend</a:t>
            </a:r>
            <a:endParaRPr lang="en-US" sz="810" dirty="0"/>
          </a:p>
        </p:txBody>
      </p:sp>
      <p:sp>
        <p:nvSpPr>
          <p:cNvPr id="47" name="Text 41"/>
          <p:cNvSpPr txBox="1"/>
          <p:nvPr/>
        </p:nvSpPr>
        <p:spPr>
          <a:xfrm>
            <a:off x="5260726" y="4151376"/>
            <a:ext cx="168853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10" dirty="0">
                <a:solidFill>
                  <a:srgbClr val="15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FPO share-capital contribution</a:t>
            </a:r>
            <a:endParaRPr lang="en-US" sz="810" dirty="0"/>
          </a:p>
        </p:txBody>
      </p:sp>
      <p:sp>
        <p:nvSpPr>
          <p:cNvPr id="48" name="Shape 42"/>
          <p:cNvSpPr/>
          <p:nvPr/>
        </p:nvSpPr>
        <p:spPr>
          <a:xfrm>
            <a:off x="7443033" y="1207008"/>
            <a:ext cx="1962851" cy="3520440"/>
          </a:xfrm>
          <a:prstGeom prst="roundRect">
            <a:avLst>
              <a:gd name="adj" fmla="val 3727"/>
            </a:avLst>
          </a:prstGeom>
          <a:solidFill>
            <a:srgbClr val="FFFFFF"/>
          </a:solidFill>
          <a:ln w="9525">
            <a:solidFill>
              <a:srgbClr val="D9E7E1"/>
            </a:solidFill>
            <a:prstDash val="solid"/>
          </a:ln>
          <a:effectLst>
            <a:outerShdw sx="100000" sy="100000" kx="0" ky="0" algn="bl" rotWithShape="0" blurRad="101600" dist="38100" dir="5400000">
              <a:srgbClr val="0A322C">
                <a:alpha val="18000"/>
              </a:srgbClr>
            </a:outerShdw>
          </a:effectLst>
        </p:spPr>
      </p:sp>
      <p:sp>
        <p:nvSpPr>
          <p:cNvPr id="49" name="Shape 43"/>
          <p:cNvSpPr/>
          <p:nvPr/>
        </p:nvSpPr>
        <p:spPr>
          <a:xfrm>
            <a:off x="7443033" y="1207008"/>
            <a:ext cx="1962851" cy="822960"/>
          </a:xfrm>
          <a:prstGeom prst="roundRect">
            <a:avLst>
              <a:gd name="adj" fmla="val 10000"/>
            </a:avLst>
          </a:prstGeom>
          <a:solidFill>
            <a:srgbClr val="0E4B43"/>
          </a:solidFill>
          <a:ln/>
        </p:spPr>
      </p:sp>
      <p:sp>
        <p:nvSpPr>
          <p:cNvPr id="50" name="Shape 44"/>
          <p:cNvSpPr/>
          <p:nvPr/>
        </p:nvSpPr>
        <p:spPr>
          <a:xfrm>
            <a:off x="8168427" y="1316736"/>
            <a:ext cx="512064" cy="512064"/>
          </a:xfrm>
          <a:prstGeom prst="ellipse">
            <a:avLst/>
          </a:prstGeom>
          <a:solidFill>
            <a:srgbClr val="C98B2E"/>
          </a:solidFill>
          <a:ln/>
        </p:spPr>
      </p:sp>
      <p:sp>
        <p:nvSpPr>
          <p:cNvPr id="51" name="Text 45"/>
          <p:cNvSpPr txBox="1"/>
          <p:nvPr/>
        </p:nvSpPr>
        <p:spPr>
          <a:xfrm>
            <a:off x="7443033" y="1316736"/>
            <a:ext cx="1962851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200" dirty="0"/>
          </a:p>
        </p:txBody>
      </p:sp>
      <p:pic>
        <p:nvPicPr>
          <p:cNvPr id="52" name="Image 4" descr="/tmp/claude-0/-home-claude/f50031d9-b5ad-5737-9b32-1977a75a6c42/scratchpad/deck/icons/mapMarked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3291" y="2048256"/>
            <a:ext cx="402336" cy="402336"/>
          </a:xfrm>
          <a:prstGeom prst="rect">
            <a:avLst/>
          </a:prstGeom>
        </p:spPr>
      </p:pic>
      <p:sp>
        <p:nvSpPr>
          <p:cNvPr id="53" name="Text 46"/>
          <p:cNvSpPr txBox="1"/>
          <p:nvPr/>
        </p:nvSpPr>
        <p:spPr>
          <a:xfrm>
            <a:off x="7534473" y="2468880"/>
            <a:ext cx="17799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E4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Collateral</a:t>
            </a:r>
            <a:endParaRPr lang="en-US" sz="1350" dirty="0"/>
          </a:p>
        </p:txBody>
      </p:sp>
      <p:sp>
        <p:nvSpPr>
          <p:cNvPr id="54" name="Text 47"/>
          <p:cNvSpPr txBox="1"/>
          <p:nvPr/>
        </p:nvSpPr>
        <p:spPr>
          <a:xfrm>
            <a:off x="7571049" y="2743200"/>
            <a:ext cx="170681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40" i="1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&amp; productive-asset backing</a:t>
            </a:r>
            <a:endParaRPr lang="en-US" sz="840" dirty="0"/>
          </a:p>
        </p:txBody>
      </p:sp>
      <p:sp>
        <p:nvSpPr>
          <p:cNvPr id="55" name="Text 48"/>
          <p:cNvSpPr txBox="1"/>
          <p:nvPr/>
        </p:nvSpPr>
        <p:spPr>
          <a:xfrm>
            <a:off x="7589337" y="3310128"/>
            <a:ext cx="168853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10" dirty="0">
                <a:solidFill>
                  <a:srgbClr val="15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land_quality_ndvi_avg</a:t>
            </a:r>
            <a:endParaRPr lang="en-US" sz="810" dirty="0"/>
          </a:p>
        </p:txBody>
      </p:sp>
      <p:sp>
        <p:nvSpPr>
          <p:cNvPr id="56" name="Text 49"/>
          <p:cNvSpPr txBox="1"/>
          <p:nvPr/>
        </p:nvSpPr>
        <p:spPr>
          <a:xfrm>
            <a:off x="7589337" y="3730752"/>
            <a:ext cx="168853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10" dirty="0">
                <a:solidFill>
                  <a:srgbClr val="15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Landholding size band</a:t>
            </a:r>
            <a:endParaRPr lang="en-US" sz="810" dirty="0"/>
          </a:p>
        </p:txBody>
      </p:sp>
      <p:sp>
        <p:nvSpPr>
          <p:cNvPr id="57" name="Text 50"/>
          <p:cNvSpPr txBox="1"/>
          <p:nvPr/>
        </p:nvSpPr>
        <p:spPr>
          <a:xfrm>
            <a:off x="7589337" y="4151376"/>
            <a:ext cx="168853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10" dirty="0">
                <a:solidFill>
                  <a:srgbClr val="15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FPO warehouse-receipt stock backing</a:t>
            </a:r>
            <a:endParaRPr lang="en-US" sz="810" dirty="0"/>
          </a:p>
        </p:txBody>
      </p:sp>
      <p:sp>
        <p:nvSpPr>
          <p:cNvPr id="58" name="Shape 51"/>
          <p:cNvSpPr/>
          <p:nvPr/>
        </p:nvSpPr>
        <p:spPr>
          <a:xfrm>
            <a:off x="9771644" y="1207008"/>
            <a:ext cx="1962851" cy="3520440"/>
          </a:xfrm>
          <a:prstGeom prst="roundRect">
            <a:avLst>
              <a:gd name="adj" fmla="val 3727"/>
            </a:avLst>
          </a:prstGeom>
          <a:solidFill>
            <a:srgbClr val="FFFFFF"/>
          </a:solidFill>
          <a:ln w="9525">
            <a:solidFill>
              <a:srgbClr val="D9E7E1"/>
            </a:solidFill>
            <a:prstDash val="solid"/>
          </a:ln>
          <a:effectLst>
            <a:outerShdw sx="100000" sy="100000" kx="0" ky="0" algn="bl" rotWithShape="0" blurRad="101600" dist="38100" dir="5400000">
              <a:srgbClr val="0A322C">
                <a:alpha val="18000"/>
              </a:srgbClr>
            </a:outerShdw>
          </a:effectLst>
        </p:spPr>
      </p:sp>
      <p:sp>
        <p:nvSpPr>
          <p:cNvPr id="59" name="Shape 52"/>
          <p:cNvSpPr/>
          <p:nvPr/>
        </p:nvSpPr>
        <p:spPr>
          <a:xfrm>
            <a:off x="9771644" y="1207008"/>
            <a:ext cx="1962851" cy="822960"/>
          </a:xfrm>
          <a:prstGeom prst="roundRect">
            <a:avLst>
              <a:gd name="adj" fmla="val 10000"/>
            </a:avLst>
          </a:prstGeom>
          <a:solidFill>
            <a:srgbClr val="0E4B43"/>
          </a:solidFill>
          <a:ln/>
        </p:spPr>
      </p:sp>
      <p:sp>
        <p:nvSpPr>
          <p:cNvPr id="60" name="Shape 53"/>
          <p:cNvSpPr/>
          <p:nvPr/>
        </p:nvSpPr>
        <p:spPr>
          <a:xfrm>
            <a:off x="10497038" y="1316736"/>
            <a:ext cx="512064" cy="512064"/>
          </a:xfrm>
          <a:prstGeom prst="ellipse">
            <a:avLst/>
          </a:prstGeom>
          <a:solidFill>
            <a:srgbClr val="C98B2E"/>
          </a:solidFill>
          <a:ln/>
        </p:spPr>
      </p:sp>
      <p:sp>
        <p:nvSpPr>
          <p:cNvPr id="61" name="Text 54"/>
          <p:cNvSpPr txBox="1"/>
          <p:nvPr/>
        </p:nvSpPr>
        <p:spPr>
          <a:xfrm>
            <a:off x="9771644" y="1316736"/>
            <a:ext cx="1962851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200" dirty="0"/>
          </a:p>
        </p:txBody>
      </p:sp>
      <p:pic>
        <p:nvPicPr>
          <p:cNvPr id="62" name="Image 5" descr="/tmp/claude-0/-home-claude/f50031d9-b5ad-5737-9b32-1977a75a6c42/scratchpad/deck/icons/cloudSun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51902" y="2048256"/>
            <a:ext cx="402336" cy="402336"/>
          </a:xfrm>
          <a:prstGeom prst="rect">
            <a:avLst/>
          </a:prstGeom>
        </p:spPr>
      </p:pic>
      <p:sp>
        <p:nvSpPr>
          <p:cNvPr id="63" name="Text 55"/>
          <p:cNvSpPr txBox="1"/>
          <p:nvPr/>
        </p:nvSpPr>
        <p:spPr>
          <a:xfrm>
            <a:off x="9863084" y="2468880"/>
            <a:ext cx="17799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E4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Conditions</a:t>
            </a:r>
            <a:endParaRPr lang="en-US" sz="1350" dirty="0"/>
          </a:p>
        </p:txBody>
      </p:sp>
      <p:sp>
        <p:nvSpPr>
          <p:cNvPr id="64" name="Text 56"/>
          <p:cNvSpPr txBox="1"/>
          <p:nvPr/>
        </p:nvSpPr>
        <p:spPr>
          <a:xfrm>
            <a:off x="9899660" y="2743200"/>
            <a:ext cx="170681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40" i="1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/ environmental risk context</a:t>
            </a:r>
            <a:endParaRPr lang="en-US" sz="840" dirty="0"/>
          </a:p>
        </p:txBody>
      </p:sp>
      <p:sp>
        <p:nvSpPr>
          <p:cNvPr id="65" name="Text 57"/>
          <p:cNvSpPr txBox="1"/>
          <p:nvPr/>
        </p:nvSpPr>
        <p:spPr>
          <a:xfrm>
            <a:off x="9917948" y="3310128"/>
            <a:ext cx="168853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10" dirty="0">
                <a:solidFill>
                  <a:srgbClr val="15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rainfall_deviation_pct</a:t>
            </a:r>
            <a:endParaRPr lang="en-US" sz="810" dirty="0"/>
          </a:p>
        </p:txBody>
      </p:sp>
      <p:sp>
        <p:nvSpPr>
          <p:cNvPr id="66" name="Text 58"/>
          <p:cNvSpPr txBox="1"/>
          <p:nvPr/>
        </p:nvSpPr>
        <p:spPr>
          <a:xfrm>
            <a:off x="9917948" y="3730752"/>
            <a:ext cx="168853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10" dirty="0">
                <a:solidFill>
                  <a:srgbClr val="15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ndvi_trend_2season</a:t>
            </a:r>
            <a:endParaRPr lang="en-US" sz="810" dirty="0"/>
          </a:p>
        </p:txBody>
      </p:sp>
      <p:sp>
        <p:nvSpPr>
          <p:cNvPr id="67" name="Text 59"/>
          <p:cNvSpPr txBox="1"/>
          <p:nvPr/>
        </p:nvSpPr>
        <p:spPr>
          <a:xfrm>
            <a:off x="9917948" y="4151376"/>
            <a:ext cx="168853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10" dirty="0">
                <a:solidFill>
                  <a:srgbClr val="15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crop_insurance_enrolled (PMFBY)</a:t>
            </a:r>
            <a:endParaRPr lang="en-US" sz="810" dirty="0"/>
          </a:p>
        </p:txBody>
      </p:sp>
      <p:sp>
        <p:nvSpPr>
          <p:cNvPr id="68" name="Shape 60"/>
          <p:cNvSpPr/>
          <p:nvPr/>
        </p:nvSpPr>
        <p:spPr>
          <a:xfrm>
            <a:off x="457200" y="4864608"/>
            <a:ext cx="11277295" cy="384048"/>
          </a:xfrm>
          <a:prstGeom prst="roundRect">
            <a:avLst>
              <a:gd name="adj" fmla="val 19048"/>
            </a:avLst>
          </a:prstGeom>
          <a:solidFill>
            <a:srgbClr val="E4EFE9"/>
          </a:solidFill>
          <a:ln/>
        </p:spPr>
      </p:sp>
      <p:sp>
        <p:nvSpPr>
          <p:cNvPr id="69" name="Text 61"/>
          <p:cNvSpPr txBox="1"/>
          <p:nvPr/>
        </p:nvSpPr>
        <p:spPr>
          <a:xfrm>
            <a:off x="640080" y="4864608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5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40+ features drafted in docs/phase0/preliminary_feature_list.md — protected attributes (caste, religion, health, ethnicity) are excluded by design, not by post-hoc filtering.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12064" cy="512064"/>
          </a:xfrm>
          <a:prstGeom prst="ellipse">
            <a:avLst/>
          </a:prstGeom>
          <a:solidFill>
            <a:srgbClr val="E4EFE9"/>
          </a:solidFill>
          <a:ln/>
        </p:spPr>
      </p:sp>
      <p:pic>
        <p:nvPicPr>
          <p:cNvPr id="3" name="Image 0" descr="/tmp/claude-0/-home-claude/f50031d9-b5ad-5737-9b32-1977a75a6c42/scratchpad/deck/icons/brain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0337" y="498897"/>
            <a:ext cx="245791" cy="245791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115568" y="365760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C98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2 · DATA &amp; AI PIPELINE</a:t>
            </a:r>
            <a:endParaRPr lang="en-US" sz="1050" dirty="0"/>
          </a:p>
        </p:txBody>
      </p:sp>
      <p:sp>
        <p:nvSpPr>
          <p:cNvPr id="5" name="Text 2"/>
          <p:cNvSpPr txBox="1"/>
          <p:nvPr/>
        </p:nvSpPr>
        <p:spPr>
          <a:xfrm>
            <a:off x="1115568" y="5486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E4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 Model Strategy: Baseline to Trained Candidates</a:t>
            </a:r>
            <a:endParaRPr lang="en-US" sz="2700" dirty="0"/>
          </a:p>
        </p:txBody>
      </p:sp>
      <p:sp>
        <p:nvSpPr>
          <p:cNvPr id="6" name="Text 3"/>
          <p:cNvSpPr txBox="1"/>
          <p:nvPr/>
        </p:nvSpPr>
        <p:spPr>
          <a:xfrm>
            <a:off x="8808415" y="38404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CREDITTECH  ·  MID-TERM REVIEW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8808415" y="56692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76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09 / 20  ·  DATA &amp; AI PIPELINE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" y="6419088"/>
            <a:ext cx="2182307" cy="310896"/>
          </a:xfrm>
          <a:prstGeom prst="roundRect">
            <a:avLst>
              <a:gd name="adj" fmla="val 50000"/>
            </a:avLst>
          </a:prstGeom>
          <a:solidFill>
            <a:srgbClr val="E4EFE9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457200" y="6419088"/>
            <a:ext cx="218230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spc="40" kern="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860" dirty="0"/>
          </a:p>
        </p:txBody>
      </p:sp>
      <p:sp>
        <p:nvSpPr>
          <p:cNvPr id="10" name="Shape 7"/>
          <p:cNvSpPr/>
          <p:nvPr/>
        </p:nvSpPr>
        <p:spPr>
          <a:xfrm>
            <a:off x="2730947" y="6419088"/>
            <a:ext cx="2182307" cy="310896"/>
          </a:xfrm>
          <a:prstGeom prst="roundRect">
            <a:avLst>
              <a:gd name="adj" fmla="val 50000"/>
            </a:avLst>
          </a:prstGeom>
          <a:solidFill>
            <a:srgbClr val="0E4B43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2730947" y="6419088"/>
            <a:ext cx="218230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AI PIPELINE</a:t>
            </a:r>
            <a:endParaRPr lang="en-US" sz="860" dirty="0"/>
          </a:p>
        </p:txBody>
      </p:sp>
      <p:sp>
        <p:nvSpPr>
          <p:cNvPr id="12" name="Shape 9"/>
          <p:cNvSpPr/>
          <p:nvPr/>
        </p:nvSpPr>
        <p:spPr>
          <a:xfrm>
            <a:off x="5004694" y="6419088"/>
            <a:ext cx="2182307" cy="310896"/>
          </a:xfrm>
          <a:prstGeom prst="roundRect">
            <a:avLst>
              <a:gd name="adj" fmla="val 50000"/>
            </a:avLst>
          </a:prstGeom>
          <a:solidFill>
            <a:srgbClr val="E4EFE9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004694" y="6419088"/>
            <a:ext cx="218230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spc="40" kern="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TECH</a:t>
            </a:r>
            <a:endParaRPr lang="en-US" sz="860" dirty="0"/>
          </a:p>
        </p:txBody>
      </p:sp>
      <p:sp>
        <p:nvSpPr>
          <p:cNvPr id="14" name="Shape 11"/>
          <p:cNvSpPr/>
          <p:nvPr/>
        </p:nvSpPr>
        <p:spPr>
          <a:xfrm>
            <a:off x="7278441" y="6419088"/>
            <a:ext cx="2182307" cy="310896"/>
          </a:xfrm>
          <a:prstGeom prst="roundRect">
            <a:avLst>
              <a:gd name="adj" fmla="val 50000"/>
            </a:avLst>
          </a:prstGeom>
          <a:solidFill>
            <a:srgbClr val="E4EFE9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278441" y="6419088"/>
            <a:ext cx="218230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spc="40" kern="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&amp; PILOT</a:t>
            </a:r>
            <a:endParaRPr lang="en-US" sz="860" dirty="0"/>
          </a:p>
        </p:txBody>
      </p:sp>
      <p:sp>
        <p:nvSpPr>
          <p:cNvPr id="16" name="Shape 13"/>
          <p:cNvSpPr/>
          <p:nvPr/>
        </p:nvSpPr>
        <p:spPr>
          <a:xfrm>
            <a:off x="9552188" y="6419088"/>
            <a:ext cx="2182307" cy="310896"/>
          </a:xfrm>
          <a:prstGeom prst="roundRect">
            <a:avLst>
              <a:gd name="adj" fmla="val 50000"/>
            </a:avLst>
          </a:prstGeom>
          <a:solidFill>
            <a:srgbClr val="E4EFE9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9552188" y="6419088"/>
            <a:ext cx="218230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spc="40" kern="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&amp; ROADMAP</a:t>
            </a:r>
            <a:endParaRPr lang="en-US" sz="860" dirty="0"/>
          </a:p>
        </p:txBody>
      </p:sp>
      <p:sp>
        <p:nvSpPr>
          <p:cNvPr id="18" name="Shape 15"/>
          <p:cNvSpPr/>
          <p:nvPr/>
        </p:nvSpPr>
        <p:spPr>
          <a:xfrm>
            <a:off x="457200" y="1207008"/>
            <a:ext cx="11277295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9E7E1"/>
            </a:solidFill>
            <a:prstDash val="solid"/>
          </a:ln>
          <a:effectLst>
            <a:outerShdw sx="100000" sy="100000" kx="0" ky="0" algn="bl" rotWithShape="0" blurRad="101600" dist="38100" dir="5400000">
              <a:srgbClr val="0A322C">
                <a:alpha val="1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57200" y="1207008"/>
            <a:ext cx="1828800" cy="932688"/>
          </a:xfrm>
          <a:prstGeom prst="roundRect">
            <a:avLst>
              <a:gd name="adj" fmla="val 8824"/>
            </a:avLst>
          </a:prstGeom>
          <a:solidFill>
            <a:srgbClr val="E4EFE9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594360" y="1499616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E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— TODAY</a:t>
            </a:r>
            <a:endParaRPr lang="en-US" sz="1050" dirty="0"/>
          </a:p>
        </p:txBody>
      </p:sp>
      <p:sp>
        <p:nvSpPr>
          <p:cNvPr id="21" name="Text 18"/>
          <p:cNvSpPr txBox="1"/>
          <p:nvPr/>
        </p:nvSpPr>
        <p:spPr>
          <a:xfrm>
            <a:off x="2468880" y="1298448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E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Weighted Scorecard</a:t>
            </a:r>
            <a:endParaRPr lang="en-US" sz="1250" dirty="0"/>
          </a:p>
        </p:txBody>
      </p:sp>
      <p:sp>
        <p:nvSpPr>
          <p:cNvPr id="22" name="Text 19"/>
          <p:cNvSpPr txBox="1"/>
          <p:nvPr/>
        </p:nvSpPr>
        <p:spPr>
          <a:xfrm>
            <a:off x="2468880" y="1591056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Hand-set 5-Cs logistic weights; log-odds calibration (PDO=20, base odds 50:1 @ 600) maps to a 0–100 score and a 300–900 bureau-equivalent scale.</a:t>
            </a:r>
            <a:endParaRPr lang="en-US" sz="880" dirty="0"/>
          </a:p>
        </p:txBody>
      </p:sp>
      <p:sp>
        <p:nvSpPr>
          <p:cNvPr id="23" name="Shape 20"/>
          <p:cNvSpPr/>
          <p:nvPr/>
        </p:nvSpPr>
        <p:spPr>
          <a:xfrm>
            <a:off x="8961120" y="1335024"/>
            <a:ext cx="937260" cy="219456"/>
          </a:xfrm>
          <a:prstGeom prst="roundRect">
            <a:avLst>
              <a:gd name="adj" fmla="val 50000"/>
            </a:avLst>
          </a:prstGeom>
          <a:solidFill>
            <a:srgbClr val="5C8A7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8961120" y="1335024"/>
            <a:ext cx="9372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800" dirty="0"/>
          </a:p>
        </p:txBody>
      </p:sp>
      <p:sp>
        <p:nvSpPr>
          <p:cNvPr id="25" name="Text 22"/>
          <p:cNvSpPr txBox="1"/>
          <p:nvPr/>
        </p:nvSpPr>
        <p:spPr>
          <a:xfrm>
            <a:off x="8961120" y="1609344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ml/training/scorecard.py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457200" y="2258568"/>
            <a:ext cx="11277295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9E7E1"/>
            </a:solidFill>
            <a:prstDash val="solid"/>
          </a:ln>
          <a:effectLst>
            <a:outerShdw sx="100000" sy="100000" kx="0" ky="0" algn="bl" rotWithShape="0" blurRad="101600" dist="38100" dir="5400000">
              <a:srgbClr val="0A322C">
                <a:alpha val="18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457200" y="2258568"/>
            <a:ext cx="1828800" cy="932688"/>
          </a:xfrm>
          <a:prstGeom prst="roundRect">
            <a:avLst>
              <a:gd name="adj" fmla="val 8824"/>
            </a:avLst>
          </a:prstGeom>
          <a:solidFill>
            <a:srgbClr val="E4EFE9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594360" y="2551176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E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— ≥200 outcomes</a:t>
            </a:r>
            <a:endParaRPr lang="en-US" sz="1050" dirty="0"/>
          </a:p>
        </p:txBody>
      </p:sp>
      <p:sp>
        <p:nvSpPr>
          <p:cNvPr id="29" name="Text 26"/>
          <p:cNvSpPr txBox="1"/>
          <p:nvPr/>
        </p:nvSpPr>
        <p:spPr>
          <a:xfrm>
            <a:off x="2468880" y="2350008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E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WoE/IV-Encoded Trained Candidates</a:t>
            </a:r>
            <a:endParaRPr lang="en-US" sz="1250" dirty="0"/>
          </a:p>
        </p:txBody>
      </p:sp>
      <p:sp>
        <p:nvSpPr>
          <p:cNvPr id="30" name="Text 27"/>
          <p:cNvSpPr txBox="1"/>
          <p:nvPr/>
        </p:nvSpPr>
        <p:spPr>
          <a:xfrm>
            <a:off x="2468880" y="2642616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XGBoost, LightGBM, CatBoost trained on WoE-encoded features; Optuna Bayesian search (100 trials); StratifiedGroupKFold by village_id.</a:t>
            </a:r>
            <a:endParaRPr lang="en-US" sz="880" dirty="0"/>
          </a:p>
        </p:txBody>
      </p:sp>
      <p:sp>
        <p:nvSpPr>
          <p:cNvPr id="31" name="Shape 28"/>
          <p:cNvSpPr/>
          <p:nvPr/>
        </p:nvSpPr>
        <p:spPr>
          <a:xfrm>
            <a:off x="8961120" y="2386584"/>
            <a:ext cx="1110996" cy="219456"/>
          </a:xfrm>
          <a:prstGeom prst="roundRect">
            <a:avLst>
              <a:gd name="adj" fmla="val 50000"/>
            </a:avLst>
          </a:prstGeom>
          <a:solidFill>
            <a:srgbClr val="F3E4C8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8961120" y="2386584"/>
            <a:ext cx="11109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" kern="0" dirty="0">
                <a:solidFill>
                  <a:srgbClr val="C98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800" dirty="0"/>
          </a:p>
        </p:txBody>
      </p:sp>
      <p:sp>
        <p:nvSpPr>
          <p:cNvPr id="33" name="Text 30"/>
          <p:cNvSpPr txBox="1"/>
          <p:nvPr/>
        </p:nvSpPr>
        <p:spPr>
          <a:xfrm>
            <a:off x="8961120" y="2660904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triggered by §11 promotion gate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457200" y="3310128"/>
            <a:ext cx="11277295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9E7E1"/>
            </a:solidFill>
            <a:prstDash val="solid"/>
          </a:ln>
          <a:effectLst>
            <a:outerShdw sx="100000" sy="100000" kx="0" ky="0" algn="bl" rotWithShape="0" blurRad="101600" dist="38100" dir="5400000">
              <a:srgbClr val="0A322C">
                <a:alpha val="18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457200" y="3310128"/>
            <a:ext cx="1828800" cy="932688"/>
          </a:xfrm>
          <a:prstGeom prst="roundRect">
            <a:avLst>
              <a:gd name="adj" fmla="val 8824"/>
            </a:avLst>
          </a:prstGeom>
          <a:solidFill>
            <a:srgbClr val="E4EFE9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594360" y="3602736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E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 — 2026 addition</a:t>
            </a:r>
            <a:endParaRPr lang="en-US" sz="1050" dirty="0"/>
          </a:p>
        </p:txBody>
      </p:sp>
      <p:sp>
        <p:nvSpPr>
          <p:cNvPr id="37" name="Text 34"/>
          <p:cNvSpPr txBox="1"/>
          <p:nvPr/>
        </p:nvSpPr>
        <p:spPr>
          <a:xfrm>
            <a:off x="2468880" y="3401568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E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Tabular Foundation Model (bounded)</a:t>
            </a:r>
            <a:endParaRPr lang="en-US" sz="1250" dirty="0"/>
          </a:p>
        </p:txBody>
      </p:sp>
      <p:sp>
        <p:nvSpPr>
          <p:cNvPr id="38" name="Text 35"/>
          <p:cNvSpPr txBox="1"/>
          <p:nvPr/>
        </p:nvSpPr>
        <p:spPr>
          <a:xfrm>
            <a:off x="2468880" y="3694176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TabICL v2 as a secondary, diagnostic-only in-context candidate once ≥50 outcomes exist — no explainability method validated for it yet.</a:t>
            </a:r>
            <a:endParaRPr lang="en-US" sz="880" dirty="0"/>
          </a:p>
        </p:txBody>
      </p:sp>
      <p:sp>
        <p:nvSpPr>
          <p:cNvPr id="39" name="Shape 36"/>
          <p:cNvSpPr/>
          <p:nvPr/>
        </p:nvSpPr>
        <p:spPr>
          <a:xfrm>
            <a:off x="8961120" y="3438144"/>
            <a:ext cx="1110996" cy="219456"/>
          </a:xfrm>
          <a:prstGeom prst="roundRect">
            <a:avLst>
              <a:gd name="adj" fmla="val 50000"/>
            </a:avLst>
          </a:prstGeom>
          <a:solidFill>
            <a:srgbClr val="F3E4C8"/>
          </a:solidFill>
          <a:ln/>
        </p:spPr>
      </p:sp>
      <p:sp>
        <p:nvSpPr>
          <p:cNvPr id="40" name="Text 37"/>
          <p:cNvSpPr txBox="1"/>
          <p:nvPr/>
        </p:nvSpPr>
        <p:spPr>
          <a:xfrm>
            <a:off x="8961120" y="3438144"/>
            <a:ext cx="11109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" kern="0" dirty="0">
                <a:solidFill>
                  <a:srgbClr val="C98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800" dirty="0"/>
          </a:p>
        </p:txBody>
      </p:sp>
      <p:sp>
        <p:nvSpPr>
          <p:cNvPr id="41" name="Text 38"/>
          <p:cNvSpPr txBox="1"/>
          <p:nvPr/>
        </p:nvSpPr>
        <p:spPr>
          <a:xfrm>
            <a:off x="8961120" y="3712464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promotion path on its own</a:t>
            </a:r>
            <a:endParaRPr lang="en-US" sz="800" dirty="0"/>
          </a:p>
        </p:txBody>
      </p:sp>
      <p:sp>
        <p:nvSpPr>
          <p:cNvPr id="42" name="Shape 39"/>
          <p:cNvSpPr/>
          <p:nvPr/>
        </p:nvSpPr>
        <p:spPr>
          <a:xfrm>
            <a:off x="457200" y="4407408"/>
            <a:ext cx="11277295" cy="310896"/>
          </a:xfrm>
          <a:prstGeom prst="roundRect">
            <a:avLst>
              <a:gd name="adj" fmla="val 20588"/>
            </a:avLst>
          </a:prstGeom>
          <a:solidFill>
            <a:srgbClr val="0E4B43"/>
          </a:solidFill>
          <a:ln/>
        </p:spPr>
      </p:sp>
      <p:sp>
        <p:nvSpPr>
          <p:cNvPr id="43" name="Text 40"/>
          <p:cNvSpPr txBox="1"/>
          <p:nvPr/>
        </p:nvSpPr>
        <p:spPr>
          <a:xfrm>
            <a:off x="603504" y="4407408"/>
            <a:ext cx="110029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MODEL COMPARISON (STAGE 2)</a:t>
            </a:r>
            <a:endParaRPr lang="en-US" sz="11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773168"/>
          <a:ext cx="11277295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5486400"/>
                <a:gridCol w="4233672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Candidate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B4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considered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B4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hyperparameters tuned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B4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0" dirty="0">
                          <a:solidFill>
                            <a:srgbClr val="1527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0" dirty="0">
                          <a:solidFill>
                            <a:srgbClr val="1527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 tabular baseline; native handling of monotonic constraints for regulator-legible features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0" dirty="0">
                          <a:solidFill>
                            <a:srgbClr val="1527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max_depth, learning_rate, n_estimators, scale_pos_weight, subsample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0" dirty="0">
                          <a:solidFill>
                            <a:srgbClr val="1527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LightGBM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0" dirty="0">
                          <a:solidFill>
                            <a:srgbClr val="1527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 on wide, sparse alternative-data feature sets; leaf-wise growth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0" dirty="0">
                          <a:solidFill>
                            <a:srgbClr val="1527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num_leaves, learning_rate, is_unbalance, feature_fraction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0" dirty="0">
                          <a:solidFill>
                            <a:srgbClr val="1527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CatBoost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0" dirty="0">
                          <a:solidFill>
                            <a:srgbClr val="1527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Native categorical handling for SHG/village categorical fields, less preprocessing risk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0" dirty="0">
                          <a:solidFill>
                            <a:srgbClr val="1527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depth, learning_rate, l2_leaf_reg, class_weights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12064" cy="512064"/>
          </a:xfrm>
          <a:prstGeom prst="ellipse">
            <a:avLst/>
          </a:prstGeom>
          <a:solidFill>
            <a:srgbClr val="E4EFE9"/>
          </a:solidFill>
          <a:ln/>
        </p:spPr>
      </p:sp>
      <p:pic>
        <p:nvPicPr>
          <p:cNvPr id="3" name="Image 0" descr="/tmp/claude-0/-home-claude/f50031d9-b5ad-5737-9b32-1977a75a6c42/scratchpad/deck/icons/lightbulb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0337" y="498897"/>
            <a:ext cx="245791" cy="245791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115568" y="365760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C98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2 · DATA &amp; AI PIPELINE</a:t>
            </a:r>
            <a:endParaRPr lang="en-US" sz="1050" dirty="0"/>
          </a:p>
        </p:txBody>
      </p:sp>
      <p:sp>
        <p:nvSpPr>
          <p:cNvPr id="5" name="Text 2"/>
          <p:cNvSpPr txBox="1"/>
          <p:nvPr/>
        </p:nvSpPr>
        <p:spPr>
          <a:xfrm>
            <a:off x="1115568" y="5486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E4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Explainability &amp; Interpretability</a:t>
            </a:r>
            <a:endParaRPr lang="en-US" sz="2700" dirty="0"/>
          </a:p>
        </p:txBody>
      </p:sp>
      <p:sp>
        <p:nvSpPr>
          <p:cNvPr id="6" name="Text 3"/>
          <p:cNvSpPr txBox="1"/>
          <p:nvPr/>
        </p:nvSpPr>
        <p:spPr>
          <a:xfrm>
            <a:off x="8808415" y="38404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CREDITTECH  ·  MID-TERM REVIEW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8808415" y="56692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76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10 / 20  ·  DATA &amp; AI PIPELINE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" y="6419088"/>
            <a:ext cx="2182307" cy="310896"/>
          </a:xfrm>
          <a:prstGeom prst="roundRect">
            <a:avLst>
              <a:gd name="adj" fmla="val 50000"/>
            </a:avLst>
          </a:prstGeom>
          <a:solidFill>
            <a:srgbClr val="E4EFE9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457200" y="6419088"/>
            <a:ext cx="218230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spc="40" kern="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860" dirty="0"/>
          </a:p>
        </p:txBody>
      </p:sp>
      <p:sp>
        <p:nvSpPr>
          <p:cNvPr id="10" name="Shape 7"/>
          <p:cNvSpPr/>
          <p:nvPr/>
        </p:nvSpPr>
        <p:spPr>
          <a:xfrm>
            <a:off x="2730947" y="6419088"/>
            <a:ext cx="2182307" cy="310896"/>
          </a:xfrm>
          <a:prstGeom prst="roundRect">
            <a:avLst>
              <a:gd name="adj" fmla="val 50000"/>
            </a:avLst>
          </a:prstGeom>
          <a:solidFill>
            <a:srgbClr val="0E4B43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2730947" y="6419088"/>
            <a:ext cx="218230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AI PIPELINE</a:t>
            </a:r>
            <a:endParaRPr lang="en-US" sz="860" dirty="0"/>
          </a:p>
        </p:txBody>
      </p:sp>
      <p:sp>
        <p:nvSpPr>
          <p:cNvPr id="12" name="Shape 9"/>
          <p:cNvSpPr/>
          <p:nvPr/>
        </p:nvSpPr>
        <p:spPr>
          <a:xfrm>
            <a:off x="5004694" y="6419088"/>
            <a:ext cx="2182307" cy="310896"/>
          </a:xfrm>
          <a:prstGeom prst="roundRect">
            <a:avLst>
              <a:gd name="adj" fmla="val 50000"/>
            </a:avLst>
          </a:prstGeom>
          <a:solidFill>
            <a:srgbClr val="E4EFE9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004694" y="6419088"/>
            <a:ext cx="218230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spc="40" kern="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TECH</a:t>
            </a:r>
            <a:endParaRPr lang="en-US" sz="860" dirty="0"/>
          </a:p>
        </p:txBody>
      </p:sp>
      <p:sp>
        <p:nvSpPr>
          <p:cNvPr id="14" name="Shape 11"/>
          <p:cNvSpPr/>
          <p:nvPr/>
        </p:nvSpPr>
        <p:spPr>
          <a:xfrm>
            <a:off x="7278441" y="6419088"/>
            <a:ext cx="2182307" cy="310896"/>
          </a:xfrm>
          <a:prstGeom prst="roundRect">
            <a:avLst>
              <a:gd name="adj" fmla="val 50000"/>
            </a:avLst>
          </a:prstGeom>
          <a:solidFill>
            <a:srgbClr val="E4EFE9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278441" y="6419088"/>
            <a:ext cx="218230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spc="40" kern="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&amp; PILOT</a:t>
            </a:r>
            <a:endParaRPr lang="en-US" sz="860" dirty="0"/>
          </a:p>
        </p:txBody>
      </p:sp>
      <p:sp>
        <p:nvSpPr>
          <p:cNvPr id="16" name="Shape 13"/>
          <p:cNvSpPr/>
          <p:nvPr/>
        </p:nvSpPr>
        <p:spPr>
          <a:xfrm>
            <a:off x="9552188" y="6419088"/>
            <a:ext cx="2182307" cy="310896"/>
          </a:xfrm>
          <a:prstGeom prst="roundRect">
            <a:avLst>
              <a:gd name="adj" fmla="val 50000"/>
            </a:avLst>
          </a:prstGeom>
          <a:solidFill>
            <a:srgbClr val="E4EFE9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9552188" y="6419088"/>
            <a:ext cx="218230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spc="40" kern="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&amp; ROADMAP</a:t>
            </a:r>
            <a:endParaRPr lang="en-US" sz="860" dirty="0"/>
          </a:p>
        </p:txBody>
      </p:sp>
      <p:sp>
        <p:nvSpPr>
          <p:cNvPr id="18" name="Shape 15"/>
          <p:cNvSpPr/>
          <p:nvPr/>
        </p:nvSpPr>
        <p:spPr>
          <a:xfrm>
            <a:off x="457200" y="1207008"/>
            <a:ext cx="6492240" cy="310896"/>
          </a:xfrm>
          <a:prstGeom prst="roundRect">
            <a:avLst>
              <a:gd name="adj" fmla="val 20588"/>
            </a:avLst>
          </a:prstGeom>
          <a:solidFill>
            <a:srgbClr val="0E4B43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603504" y="1207008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MECHANISM BY MODEL STAGE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457200" y="1517904"/>
            <a:ext cx="6492240" cy="3657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9E7E1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664208"/>
          <a:ext cx="6217920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3337560"/>
                <a:gridCol w="1005840"/>
              </a:tblGrid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stage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B4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Mechanism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B4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B43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0" dirty="0">
                          <a:solidFill>
                            <a:srgbClr val="1527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(linear)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70" dirty="0">
                          <a:solidFill>
                            <a:srgbClr val="1527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scorecard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0" dirty="0">
                          <a:solidFill>
                            <a:srgbClr val="1527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 Shapley decomposition: SHAP_i = coef_i × (value_i − reference_i) — exact because the model is additive/linear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0" b="1" dirty="0">
                          <a:solidFill>
                            <a:srgbClr val="5C8A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0" dirty="0">
                          <a:solidFill>
                            <a:srgbClr val="1527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Trained tree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70" dirty="0">
                          <a:solidFill>
                            <a:srgbClr val="1527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candidates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0" dirty="0">
                          <a:solidFill>
                            <a:srgbClr val="1527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shap.TreeExplainer, 200-row background sample; global (mean |SHAP|) + local per-application explanations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0" b="1" dirty="0">
                          <a:solidFill>
                            <a:srgbClr val="C98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PLANNED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0" dirty="0">
                          <a:solidFill>
                            <a:srgbClr val="1527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Tabular foundation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70" dirty="0">
                          <a:solidFill>
                            <a:srgbClr val="1527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0" dirty="0">
                          <a:solidFill>
                            <a:srgbClr val="1527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established SHAP-equivalent yet — diagnostic-only, excluded from officer-facing reason codes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0" b="1" dirty="0">
                          <a:solidFill>
                            <a:srgbClr val="B547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CAUTION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2" name="Text 18"/>
          <p:cNvSpPr txBox="1"/>
          <p:nvPr/>
        </p:nvSpPr>
        <p:spPr>
          <a:xfrm>
            <a:off x="594360" y="4590288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ml/evaluation/explain.py already implements the baseline’s exact decomposition and produces bilingual reason codes per application.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7178040" y="1207008"/>
            <a:ext cx="4556455" cy="310896"/>
          </a:xfrm>
          <a:prstGeom prst="roundRect">
            <a:avLst>
              <a:gd name="adj" fmla="val 20588"/>
            </a:avLst>
          </a:prstGeom>
          <a:solidFill>
            <a:srgbClr val="5C8A72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7324344" y="1207008"/>
            <a:ext cx="42821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REASON-CODE CARD</a:t>
            </a:r>
            <a:endParaRPr lang="en-US" sz="1150" dirty="0"/>
          </a:p>
        </p:txBody>
      </p:sp>
      <p:sp>
        <p:nvSpPr>
          <p:cNvPr id="25" name="Shape 21"/>
          <p:cNvSpPr/>
          <p:nvPr/>
        </p:nvSpPr>
        <p:spPr>
          <a:xfrm>
            <a:off x="7178040" y="1517904"/>
            <a:ext cx="4556455" cy="3657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9E7E1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7342632" y="1609344"/>
            <a:ext cx="422727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60" i="1" dirty="0">
                <a:solidFill>
                  <a:srgbClr val="B54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example — no real applicant data</a:t>
            </a:r>
            <a:endParaRPr lang="en-US" sz="760" dirty="0"/>
          </a:p>
        </p:txBody>
      </p:sp>
      <p:sp>
        <p:nvSpPr>
          <p:cNvPr id="27" name="Text 23"/>
          <p:cNvSpPr txBox="1"/>
          <p:nvPr/>
        </p:nvSpPr>
        <p:spPr>
          <a:xfrm>
            <a:off x="7342632" y="1828800"/>
            <a:ext cx="422727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E4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640 / 900</a:t>
            </a:r>
            <a:endParaRPr lang="en-US" sz="2800" dirty="0"/>
          </a:p>
        </p:txBody>
      </p:sp>
      <p:sp>
        <p:nvSpPr>
          <p:cNvPr id="28" name="Text 24"/>
          <p:cNvSpPr txBox="1"/>
          <p:nvPr/>
        </p:nvSpPr>
        <p:spPr>
          <a:xfrm>
            <a:off x="7342632" y="2304288"/>
            <a:ext cx="422727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risk band — decision-support only</a:t>
            </a:r>
            <a:endParaRPr lang="en-US" sz="860" dirty="0"/>
          </a:p>
        </p:txBody>
      </p:sp>
      <p:sp>
        <p:nvSpPr>
          <p:cNvPr id="29" name="Text 25"/>
          <p:cNvSpPr txBox="1"/>
          <p:nvPr/>
        </p:nvSpPr>
        <p:spPr>
          <a:xfrm>
            <a:off x="7342632" y="2715768"/>
            <a:ext cx="422727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15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SHG repayment record</a:t>
            </a:r>
            <a:endParaRPr lang="en-US" sz="860" dirty="0"/>
          </a:p>
        </p:txBody>
      </p:sp>
      <p:sp>
        <p:nvSpPr>
          <p:cNvPr id="30" name="Shape 26"/>
          <p:cNvSpPr/>
          <p:nvPr/>
        </p:nvSpPr>
        <p:spPr>
          <a:xfrm>
            <a:off x="7342632" y="2916936"/>
            <a:ext cx="3381817" cy="146304"/>
          </a:xfrm>
          <a:prstGeom prst="roundRect">
            <a:avLst>
              <a:gd name="adj" fmla="val 18750"/>
            </a:avLst>
          </a:prstGeom>
          <a:solidFill>
            <a:srgbClr val="5C8A72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7342632" y="3172968"/>
            <a:ext cx="422727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15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NDVI trend, last 2 seasons</a:t>
            </a:r>
            <a:endParaRPr lang="en-US" sz="860" dirty="0"/>
          </a:p>
        </p:txBody>
      </p:sp>
      <p:sp>
        <p:nvSpPr>
          <p:cNvPr id="32" name="Shape 28"/>
          <p:cNvSpPr/>
          <p:nvPr/>
        </p:nvSpPr>
        <p:spPr>
          <a:xfrm>
            <a:off x="7342632" y="3374136"/>
            <a:ext cx="2324999" cy="146304"/>
          </a:xfrm>
          <a:prstGeom prst="roundRect">
            <a:avLst>
              <a:gd name="adj" fmla="val 18750"/>
            </a:avLst>
          </a:prstGeom>
          <a:solidFill>
            <a:srgbClr val="5C8A72"/>
          </a:solidFill>
          <a:ln/>
        </p:spPr>
      </p:sp>
      <p:sp>
        <p:nvSpPr>
          <p:cNvPr id="33" name="Text 29"/>
          <p:cNvSpPr txBox="1"/>
          <p:nvPr/>
        </p:nvSpPr>
        <p:spPr>
          <a:xfrm>
            <a:off x="7342632" y="3630168"/>
            <a:ext cx="422727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15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High EMI-to-inflow ratio</a:t>
            </a:r>
            <a:endParaRPr lang="en-US" sz="860" dirty="0"/>
          </a:p>
        </p:txBody>
      </p:sp>
      <p:sp>
        <p:nvSpPr>
          <p:cNvPr id="34" name="Shape 30"/>
          <p:cNvSpPr/>
          <p:nvPr/>
        </p:nvSpPr>
        <p:spPr>
          <a:xfrm>
            <a:off x="7342632" y="3831336"/>
            <a:ext cx="1690908" cy="146304"/>
          </a:xfrm>
          <a:prstGeom prst="roundRect">
            <a:avLst>
              <a:gd name="adj" fmla="val 18750"/>
            </a:avLst>
          </a:prstGeom>
          <a:solidFill>
            <a:srgbClr val="B5473D"/>
          </a:solidFill>
          <a:ln/>
        </p:spPr>
      </p:sp>
      <p:sp>
        <p:nvSpPr>
          <p:cNvPr id="35" name="Text 31"/>
          <p:cNvSpPr txBox="1"/>
          <p:nvPr/>
        </p:nvSpPr>
        <p:spPr>
          <a:xfrm>
            <a:off x="7342632" y="4224528"/>
            <a:ext cx="422727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6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to officer + borrower in plain, bilingual language — the same mechanism that will drive an appeal review.</a:t>
            </a:r>
            <a:endParaRPr lang="en-US" sz="86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12064" cy="512064"/>
          </a:xfrm>
          <a:prstGeom prst="ellipse">
            <a:avLst/>
          </a:prstGeom>
          <a:solidFill>
            <a:srgbClr val="E4EFE9"/>
          </a:solidFill>
          <a:ln/>
        </p:spPr>
      </p:sp>
      <p:pic>
        <p:nvPicPr>
          <p:cNvPr id="3" name="Image 0" descr="/tmp/claude-0/-home-claude/f50031d9-b5ad-5737-9b32-1977a75a6c42/scratchpad/deck/icons/checkDouble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0337" y="498897"/>
            <a:ext cx="245791" cy="245791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115568" y="365760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C98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2 · DATA &amp; AI PIPELINE</a:t>
            </a:r>
            <a:endParaRPr lang="en-US" sz="1050" dirty="0"/>
          </a:p>
        </p:txBody>
      </p:sp>
      <p:sp>
        <p:nvSpPr>
          <p:cNvPr id="5" name="Text 2"/>
          <p:cNvSpPr txBox="1"/>
          <p:nvPr/>
        </p:nvSpPr>
        <p:spPr>
          <a:xfrm>
            <a:off x="1115568" y="5486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E4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Evaluation, Validation &amp; Testing Strategy</a:t>
            </a:r>
            <a:endParaRPr lang="en-US" sz="2700" dirty="0"/>
          </a:p>
        </p:txBody>
      </p:sp>
      <p:sp>
        <p:nvSpPr>
          <p:cNvPr id="6" name="Text 3"/>
          <p:cNvSpPr txBox="1"/>
          <p:nvPr/>
        </p:nvSpPr>
        <p:spPr>
          <a:xfrm>
            <a:off x="8808415" y="38404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CREDITTECH  ·  MID-TERM REVIEW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8808415" y="56692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76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11 / 20  ·  DATA &amp; AI PIPELINE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" y="6419088"/>
            <a:ext cx="2182307" cy="310896"/>
          </a:xfrm>
          <a:prstGeom prst="roundRect">
            <a:avLst>
              <a:gd name="adj" fmla="val 50000"/>
            </a:avLst>
          </a:prstGeom>
          <a:solidFill>
            <a:srgbClr val="E4EFE9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457200" y="6419088"/>
            <a:ext cx="218230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spc="40" kern="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860" dirty="0"/>
          </a:p>
        </p:txBody>
      </p:sp>
      <p:sp>
        <p:nvSpPr>
          <p:cNvPr id="10" name="Shape 7"/>
          <p:cNvSpPr/>
          <p:nvPr/>
        </p:nvSpPr>
        <p:spPr>
          <a:xfrm>
            <a:off x="2730947" y="6419088"/>
            <a:ext cx="2182307" cy="310896"/>
          </a:xfrm>
          <a:prstGeom prst="roundRect">
            <a:avLst>
              <a:gd name="adj" fmla="val 50000"/>
            </a:avLst>
          </a:prstGeom>
          <a:solidFill>
            <a:srgbClr val="0E4B43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2730947" y="6419088"/>
            <a:ext cx="218230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AI PIPELINE</a:t>
            </a:r>
            <a:endParaRPr lang="en-US" sz="860" dirty="0"/>
          </a:p>
        </p:txBody>
      </p:sp>
      <p:sp>
        <p:nvSpPr>
          <p:cNvPr id="12" name="Shape 9"/>
          <p:cNvSpPr/>
          <p:nvPr/>
        </p:nvSpPr>
        <p:spPr>
          <a:xfrm>
            <a:off x="5004694" y="6419088"/>
            <a:ext cx="2182307" cy="310896"/>
          </a:xfrm>
          <a:prstGeom prst="roundRect">
            <a:avLst>
              <a:gd name="adj" fmla="val 50000"/>
            </a:avLst>
          </a:prstGeom>
          <a:solidFill>
            <a:srgbClr val="E4EFE9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004694" y="6419088"/>
            <a:ext cx="218230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spc="40" kern="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TECH</a:t>
            </a:r>
            <a:endParaRPr lang="en-US" sz="860" dirty="0"/>
          </a:p>
        </p:txBody>
      </p:sp>
      <p:sp>
        <p:nvSpPr>
          <p:cNvPr id="14" name="Shape 11"/>
          <p:cNvSpPr/>
          <p:nvPr/>
        </p:nvSpPr>
        <p:spPr>
          <a:xfrm>
            <a:off x="7278441" y="6419088"/>
            <a:ext cx="2182307" cy="310896"/>
          </a:xfrm>
          <a:prstGeom prst="roundRect">
            <a:avLst>
              <a:gd name="adj" fmla="val 50000"/>
            </a:avLst>
          </a:prstGeom>
          <a:solidFill>
            <a:srgbClr val="E4EFE9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278441" y="6419088"/>
            <a:ext cx="218230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spc="40" kern="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&amp; PILOT</a:t>
            </a:r>
            <a:endParaRPr lang="en-US" sz="860" dirty="0"/>
          </a:p>
        </p:txBody>
      </p:sp>
      <p:sp>
        <p:nvSpPr>
          <p:cNvPr id="16" name="Shape 13"/>
          <p:cNvSpPr/>
          <p:nvPr/>
        </p:nvSpPr>
        <p:spPr>
          <a:xfrm>
            <a:off x="9552188" y="6419088"/>
            <a:ext cx="2182307" cy="310896"/>
          </a:xfrm>
          <a:prstGeom prst="roundRect">
            <a:avLst>
              <a:gd name="adj" fmla="val 50000"/>
            </a:avLst>
          </a:prstGeom>
          <a:solidFill>
            <a:srgbClr val="E4EFE9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9552188" y="6419088"/>
            <a:ext cx="218230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spc="40" kern="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&amp; ROADMAP</a:t>
            </a:r>
            <a:endParaRPr lang="en-US" sz="860" dirty="0"/>
          </a:p>
        </p:txBody>
      </p:sp>
      <p:sp>
        <p:nvSpPr>
          <p:cNvPr id="18" name="Shape 15"/>
          <p:cNvSpPr/>
          <p:nvPr/>
        </p:nvSpPr>
        <p:spPr>
          <a:xfrm>
            <a:off x="457200" y="1207008"/>
            <a:ext cx="6126480" cy="310896"/>
          </a:xfrm>
          <a:prstGeom prst="roundRect">
            <a:avLst>
              <a:gd name="adj" fmla="val 20588"/>
            </a:avLst>
          </a:prstGeom>
          <a:solidFill>
            <a:srgbClr val="0E4B43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603504" y="1207008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PROMOTION GATE — ALL CONDITIONS MUST HOLD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457200" y="1517904"/>
            <a:ext cx="612648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9525">
            <a:solidFill>
              <a:srgbClr val="D9E7E1"/>
            </a:solidFill>
            <a:prstDash val="solid"/>
          </a:ln>
        </p:spPr>
      </p:sp>
      <p:pic>
        <p:nvPicPr>
          <p:cNvPr id="21" name="Image 1" descr="/tmp/claude-0/-home-claude/f50031d9-b5ad-5737-9b32-1977a75a6c42/scratchpad/deck/icons/checkCircle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682496"/>
            <a:ext cx="182880" cy="182880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877824" y="166420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70" b="1" dirty="0">
                <a:solidFill>
                  <a:srgbClr val="0E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Discrimination</a:t>
            </a:r>
            <a:endParaRPr lang="en-US" sz="870" dirty="0"/>
          </a:p>
        </p:txBody>
      </p:sp>
      <p:sp>
        <p:nvSpPr>
          <p:cNvPr id="23" name="Text 19"/>
          <p:cNvSpPr txBox="1"/>
          <p:nvPr/>
        </p:nvSpPr>
        <p:spPr>
          <a:xfrm>
            <a:off x="2788920" y="166420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15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≥ baseline + 0.03 (DeLong p&lt;0.05)</a:t>
            </a:r>
            <a:endParaRPr lang="en-US" sz="860" dirty="0"/>
          </a:p>
        </p:txBody>
      </p:sp>
      <p:pic>
        <p:nvPicPr>
          <p:cNvPr id="24" name="Image 2" descr="/tmp/claude-0/-home-claude/f50031d9-b5ad-5737-9b32-1977a75a6c42/scratchpad/deck/icons/checkCircle_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2084832"/>
            <a:ext cx="182880" cy="182880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877824" y="206654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70" b="1" dirty="0">
                <a:solidFill>
                  <a:srgbClr val="0E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Rank-ordering</a:t>
            </a:r>
            <a:endParaRPr lang="en-US" sz="870" dirty="0"/>
          </a:p>
        </p:txBody>
      </p:sp>
      <p:sp>
        <p:nvSpPr>
          <p:cNvPr id="26" name="Text 21"/>
          <p:cNvSpPr txBox="1"/>
          <p:nvPr/>
        </p:nvSpPr>
        <p:spPr>
          <a:xfrm>
            <a:off x="2788920" y="2066544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15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 statistic ≥ 0.30</a:t>
            </a:r>
            <a:endParaRPr lang="en-US" sz="860" dirty="0"/>
          </a:p>
        </p:txBody>
      </p:sp>
      <p:pic>
        <p:nvPicPr>
          <p:cNvPr id="27" name="Image 3" descr="/tmp/claude-0/-home-claude/f50031d9-b5ad-5737-9b32-1977a75a6c42/scratchpad/deck/icons/checkCircle_te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2487168"/>
            <a:ext cx="182880" cy="182880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877824" y="24688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70" b="1" dirty="0">
                <a:solidFill>
                  <a:srgbClr val="0E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</a:t>
            </a:r>
            <a:endParaRPr lang="en-US" sz="870" dirty="0"/>
          </a:p>
        </p:txBody>
      </p:sp>
      <p:sp>
        <p:nvSpPr>
          <p:cNvPr id="29" name="Text 23"/>
          <p:cNvSpPr txBox="1"/>
          <p:nvPr/>
        </p:nvSpPr>
        <p:spPr>
          <a:xfrm>
            <a:off x="2788920" y="246888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15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Brier ≤ baseline; ECE ≤ 0.05</a:t>
            </a:r>
            <a:endParaRPr lang="en-US" sz="860" dirty="0"/>
          </a:p>
        </p:txBody>
      </p:sp>
      <p:pic>
        <p:nvPicPr>
          <p:cNvPr id="30" name="Image 4" descr="/tmp/claude-0/-home-claude/f50031d9-b5ad-5737-9b32-1977a75a6c42/scratchpad/deck/icons/checkCircle_tea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" y="2889504"/>
            <a:ext cx="182880" cy="182880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877824" y="287121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70" b="1" dirty="0">
                <a:solidFill>
                  <a:srgbClr val="0E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— demographic parity</a:t>
            </a:r>
            <a:endParaRPr lang="en-US" sz="870" dirty="0"/>
          </a:p>
        </p:txBody>
      </p:sp>
      <p:sp>
        <p:nvSpPr>
          <p:cNvPr id="32" name="Text 25"/>
          <p:cNvSpPr txBox="1"/>
          <p:nvPr/>
        </p:nvSpPr>
        <p:spPr>
          <a:xfrm>
            <a:off x="2788920" y="2871216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15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Approval-rate gap ≤ 5pp across gender / landholding / geography</a:t>
            </a:r>
            <a:endParaRPr lang="en-US" sz="860" dirty="0"/>
          </a:p>
        </p:txBody>
      </p:sp>
      <p:pic>
        <p:nvPicPr>
          <p:cNvPr id="33" name="Image 5" descr="/tmp/claude-0/-home-claude/f50031d9-b5ad-5737-9b32-1977a75a6c42/scratchpad/deck/icons/checkCircle_teal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" y="3291840"/>
            <a:ext cx="182880" cy="182880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877824" y="327355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70" b="1" dirty="0">
                <a:solidFill>
                  <a:srgbClr val="0E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— equalised odds</a:t>
            </a:r>
            <a:endParaRPr lang="en-US" sz="870" dirty="0"/>
          </a:p>
        </p:txBody>
      </p:sp>
      <p:sp>
        <p:nvSpPr>
          <p:cNvPr id="35" name="Text 27"/>
          <p:cNvSpPr txBox="1"/>
          <p:nvPr/>
        </p:nvSpPr>
        <p:spPr>
          <a:xfrm>
            <a:off x="2788920" y="3273552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15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TPR gap ≤ 7pp across same dimensions</a:t>
            </a:r>
            <a:endParaRPr lang="en-US" sz="860" dirty="0"/>
          </a:p>
        </p:txBody>
      </p:sp>
      <p:pic>
        <p:nvPicPr>
          <p:cNvPr id="36" name="Image 6" descr="/tmp/claude-0/-home-claude/f50031d9-b5ad-5737-9b32-1977a75a6c42/scratchpad/deck/icons/checkCircle_teal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792" y="3694176"/>
            <a:ext cx="182880" cy="182880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877824" y="367588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70" b="1" dirty="0">
                <a:solidFill>
                  <a:srgbClr val="0E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sample</a:t>
            </a:r>
            <a:endParaRPr lang="en-US" sz="870" dirty="0"/>
          </a:p>
        </p:txBody>
      </p:sp>
      <p:sp>
        <p:nvSpPr>
          <p:cNvPr id="38" name="Text 29"/>
          <p:cNvSpPr txBox="1"/>
          <p:nvPr/>
        </p:nvSpPr>
        <p:spPr>
          <a:xfrm>
            <a:off x="2788920" y="367588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15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≥200 outcomes overall, ≥30 per segment</a:t>
            </a:r>
            <a:endParaRPr lang="en-US" sz="860" dirty="0"/>
          </a:p>
        </p:txBody>
      </p:sp>
      <p:pic>
        <p:nvPicPr>
          <p:cNvPr id="39" name="Image 7" descr="/tmp/claude-0/-home-claude/f50031d9-b5ad-5737-9b32-1977a75a6c42/scratchpad/deck/icons/checkCircle_teal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792" y="4096512"/>
            <a:ext cx="182880" cy="182880"/>
          </a:xfrm>
          <a:prstGeom prst="rect">
            <a:avLst/>
          </a:prstGeom>
        </p:spPr>
      </p:pic>
      <p:sp>
        <p:nvSpPr>
          <p:cNvPr id="40" name="Text 30"/>
          <p:cNvSpPr txBox="1"/>
          <p:nvPr/>
        </p:nvSpPr>
        <p:spPr>
          <a:xfrm>
            <a:off x="877824" y="407822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70" b="1" dirty="0">
                <a:solidFill>
                  <a:srgbClr val="0E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Sign-off</a:t>
            </a:r>
            <a:endParaRPr lang="en-US" sz="870" dirty="0"/>
          </a:p>
        </p:txBody>
      </p:sp>
      <p:sp>
        <p:nvSpPr>
          <p:cNvPr id="41" name="Text 31"/>
          <p:cNvSpPr txBox="1"/>
          <p:nvPr/>
        </p:nvSpPr>
        <p:spPr>
          <a:xfrm>
            <a:off x="2788920" y="4078224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15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Human-approved after the automated gate passes</a:t>
            </a:r>
            <a:endParaRPr lang="en-US" sz="860" dirty="0"/>
          </a:p>
        </p:txBody>
      </p:sp>
      <p:sp>
        <p:nvSpPr>
          <p:cNvPr id="42" name="Shape 32"/>
          <p:cNvSpPr/>
          <p:nvPr/>
        </p:nvSpPr>
        <p:spPr>
          <a:xfrm>
            <a:off x="457200" y="4663440"/>
            <a:ext cx="6126480" cy="502920"/>
          </a:xfrm>
          <a:prstGeom prst="roundRect">
            <a:avLst>
              <a:gd name="adj" fmla="val 14545"/>
            </a:avLst>
          </a:prstGeom>
          <a:solidFill>
            <a:srgbClr val="F3E4C8"/>
          </a:solidFill>
          <a:ln/>
        </p:spPr>
      </p:sp>
      <p:sp>
        <p:nvSpPr>
          <p:cNvPr id="43" name="Text 33"/>
          <p:cNvSpPr txBox="1"/>
          <p:nvPr/>
        </p:nvSpPr>
        <p:spPr>
          <a:xfrm>
            <a:off x="594360" y="466344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40" dirty="0">
                <a:solidFill>
                  <a:srgbClr val="15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Fails any condition → deterministic baseline stays in production; the failed candidate is logged as diagnostic input to the next retraining cycle.</a:t>
            </a:r>
            <a:endParaRPr lang="en-US" sz="840" dirty="0"/>
          </a:p>
        </p:txBody>
      </p:sp>
      <p:sp>
        <p:nvSpPr>
          <p:cNvPr id="44" name="Shape 34"/>
          <p:cNvSpPr/>
          <p:nvPr/>
        </p:nvSpPr>
        <p:spPr>
          <a:xfrm>
            <a:off x="6812280" y="1207008"/>
            <a:ext cx="4922215" cy="310896"/>
          </a:xfrm>
          <a:prstGeom prst="roundRect">
            <a:avLst>
              <a:gd name="adj" fmla="val 20588"/>
            </a:avLst>
          </a:prstGeom>
          <a:solidFill>
            <a:srgbClr val="5C8A72"/>
          </a:solidFill>
          <a:ln/>
        </p:spPr>
      </p:sp>
      <p:sp>
        <p:nvSpPr>
          <p:cNvPr id="45" name="Text 35"/>
          <p:cNvSpPr txBox="1"/>
          <p:nvPr/>
        </p:nvSpPr>
        <p:spPr>
          <a:xfrm>
            <a:off x="6958584" y="1207008"/>
            <a:ext cx="46478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TESTING PLAN</a:t>
            </a:r>
            <a:endParaRPr lang="en-US" sz="1150" dirty="0"/>
          </a:p>
        </p:txBody>
      </p:sp>
      <p:sp>
        <p:nvSpPr>
          <p:cNvPr id="46" name="Shape 36"/>
          <p:cNvSpPr/>
          <p:nvPr/>
        </p:nvSpPr>
        <p:spPr>
          <a:xfrm>
            <a:off x="6812280" y="1517904"/>
            <a:ext cx="4922215" cy="3657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9E7E1"/>
            </a:solidFill>
            <a:prstDash val="solid"/>
          </a:ln>
        </p:spPr>
      </p:sp>
      <p:sp>
        <p:nvSpPr>
          <p:cNvPr id="47" name="Shape 37"/>
          <p:cNvSpPr/>
          <p:nvPr/>
        </p:nvSpPr>
        <p:spPr>
          <a:xfrm>
            <a:off x="6995160" y="1664208"/>
            <a:ext cx="347472" cy="347472"/>
          </a:xfrm>
          <a:prstGeom prst="ellipse">
            <a:avLst/>
          </a:prstGeom>
          <a:solidFill>
            <a:srgbClr val="E4EFE9"/>
          </a:solidFill>
          <a:ln/>
        </p:spPr>
      </p:sp>
      <p:pic>
        <p:nvPicPr>
          <p:cNvPr id="48" name="Image 8" descr="/tmp/claude-0/-home-claude/f50031d9-b5ad-5737-9b32-1977a75a6c42/scratchpad/deck/icons/puzzlePiece_teal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85503" y="1754551"/>
            <a:ext cx="166787" cy="166787"/>
          </a:xfrm>
          <a:prstGeom prst="rect">
            <a:avLst/>
          </a:prstGeom>
        </p:spPr>
      </p:pic>
      <p:sp>
        <p:nvSpPr>
          <p:cNvPr id="49" name="Text 38"/>
          <p:cNvSpPr txBox="1"/>
          <p:nvPr/>
        </p:nvSpPr>
        <p:spPr>
          <a:xfrm>
            <a:off x="7488936" y="1645920"/>
            <a:ext cx="406267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30" b="1" dirty="0">
                <a:solidFill>
                  <a:srgbClr val="0E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</a:t>
            </a:r>
            <a:endParaRPr lang="en-US" sz="1030" dirty="0"/>
          </a:p>
        </p:txBody>
      </p:sp>
      <p:sp>
        <p:nvSpPr>
          <p:cNvPr id="50" name="Text 39"/>
          <p:cNvSpPr txBox="1"/>
          <p:nvPr/>
        </p:nvSpPr>
        <p:spPr>
          <a:xfrm>
            <a:off x="7488936" y="1847088"/>
            <a:ext cx="40626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6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transforms, scorecard math — BUILT</a:t>
            </a:r>
            <a:endParaRPr lang="en-US" sz="860" dirty="0"/>
          </a:p>
        </p:txBody>
      </p:sp>
      <p:sp>
        <p:nvSpPr>
          <p:cNvPr id="51" name="Shape 40"/>
          <p:cNvSpPr/>
          <p:nvPr/>
        </p:nvSpPr>
        <p:spPr>
          <a:xfrm>
            <a:off x="6995160" y="2267712"/>
            <a:ext cx="347472" cy="347472"/>
          </a:xfrm>
          <a:prstGeom prst="ellipse">
            <a:avLst/>
          </a:prstGeom>
          <a:solidFill>
            <a:srgbClr val="E4EFE9"/>
          </a:solidFill>
          <a:ln/>
        </p:spPr>
      </p:sp>
      <p:pic>
        <p:nvPicPr>
          <p:cNvPr id="52" name="Image 9" descr="/tmp/claude-0/-home-claude/f50031d9-b5ad-5737-9b32-1977a75a6c42/scratchpad/deck/icons/exchangeAlt_teal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85503" y="2358055"/>
            <a:ext cx="166787" cy="166787"/>
          </a:xfrm>
          <a:prstGeom prst="rect">
            <a:avLst/>
          </a:prstGeom>
        </p:spPr>
      </p:pic>
      <p:sp>
        <p:nvSpPr>
          <p:cNvPr id="53" name="Text 41"/>
          <p:cNvSpPr txBox="1"/>
          <p:nvPr/>
        </p:nvSpPr>
        <p:spPr>
          <a:xfrm>
            <a:off x="7488936" y="2249424"/>
            <a:ext cx="406267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30" b="1" dirty="0">
                <a:solidFill>
                  <a:srgbClr val="0E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tests</a:t>
            </a:r>
            <a:endParaRPr lang="en-US" sz="1030" dirty="0"/>
          </a:p>
        </p:txBody>
      </p:sp>
      <p:sp>
        <p:nvSpPr>
          <p:cNvPr id="54" name="Text 42"/>
          <p:cNvSpPr txBox="1"/>
          <p:nvPr/>
        </p:nvSpPr>
        <p:spPr>
          <a:xfrm>
            <a:off x="7488936" y="2450592"/>
            <a:ext cx="40626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6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orchestrator vs mocked AA/geospatial/bureau, partial-rail-failure paths — BUILT</a:t>
            </a:r>
            <a:endParaRPr lang="en-US" sz="860" dirty="0"/>
          </a:p>
        </p:txBody>
      </p:sp>
      <p:sp>
        <p:nvSpPr>
          <p:cNvPr id="55" name="Shape 43"/>
          <p:cNvSpPr/>
          <p:nvPr/>
        </p:nvSpPr>
        <p:spPr>
          <a:xfrm>
            <a:off x="6995160" y="2871216"/>
            <a:ext cx="347472" cy="347472"/>
          </a:xfrm>
          <a:prstGeom prst="ellipse">
            <a:avLst/>
          </a:prstGeom>
          <a:solidFill>
            <a:srgbClr val="E4EFE9"/>
          </a:solidFill>
          <a:ln/>
        </p:spPr>
      </p:sp>
      <p:pic>
        <p:nvPicPr>
          <p:cNvPr id="56" name="Image 10" descr="/tmp/claude-0/-home-claude/f50031d9-b5ad-5737-9b32-1977a75a6c42/scratchpad/deck/icons/route_teal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85503" y="2961559"/>
            <a:ext cx="166787" cy="166787"/>
          </a:xfrm>
          <a:prstGeom prst="rect">
            <a:avLst/>
          </a:prstGeom>
        </p:spPr>
      </p:pic>
      <p:sp>
        <p:nvSpPr>
          <p:cNvPr id="57" name="Text 44"/>
          <p:cNvSpPr txBox="1"/>
          <p:nvPr/>
        </p:nvSpPr>
        <p:spPr>
          <a:xfrm>
            <a:off x="7488936" y="2852928"/>
            <a:ext cx="406267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30" b="1" dirty="0">
                <a:solidFill>
                  <a:srgbClr val="0E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tests</a:t>
            </a:r>
            <a:endParaRPr lang="en-US" sz="1030" dirty="0"/>
          </a:p>
        </p:txBody>
      </p:sp>
      <p:sp>
        <p:nvSpPr>
          <p:cNvPr id="58" name="Text 45"/>
          <p:cNvSpPr txBox="1"/>
          <p:nvPr/>
        </p:nvSpPr>
        <p:spPr>
          <a:xfrm>
            <a:off x="7488936" y="3054096"/>
            <a:ext cx="40626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6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→ ingest → score → officer decision → handoff — BUILT</a:t>
            </a:r>
            <a:endParaRPr lang="en-US" sz="860" dirty="0"/>
          </a:p>
        </p:txBody>
      </p:sp>
      <p:sp>
        <p:nvSpPr>
          <p:cNvPr id="59" name="Shape 46"/>
          <p:cNvSpPr/>
          <p:nvPr/>
        </p:nvSpPr>
        <p:spPr>
          <a:xfrm>
            <a:off x="6995160" y="3474720"/>
            <a:ext cx="347472" cy="347472"/>
          </a:xfrm>
          <a:prstGeom prst="ellipse">
            <a:avLst/>
          </a:prstGeom>
          <a:solidFill>
            <a:srgbClr val="E4EFE9"/>
          </a:solidFill>
          <a:ln/>
        </p:spPr>
      </p:sp>
      <p:pic>
        <p:nvPicPr>
          <p:cNvPr id="60" name="Image 11" descr="/tmp/claude-0/-home-claude/f50031d9-b5ad-5737-9b32-1977a75a6c42/scratchpad/deck/icons/exclamationTriangle_teal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085503" y="3565063"/>
            <a:ext cx="166787" cy="166787"/>
          </a:xfrm>
          <a:prstGeom prst="rect">
            <a:avLst/>
          </a:prstGeom>
        </p:spPr>
      </p:pic>
      <p:sp>
        <p:nvSpPr>
          <p:cNvPr id="61" name="Text 47"/>
          <p:cNvSpPr txBox="1"/>
          <p:nvPr/>
        </p:nvSpPr>
        <p:spPr>
          <a:xfrm>
            <a:off x="7488936" y="3456432"/>
            <a:ext cx="406267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30" b="1" dirty="0">
                <a:solidFill>
                  <a:srgbClr val="0E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cases</a:t>
            </a:r>
            <a:endParaRPr lang="en-US" sz="1030" dirty="0"/>
          </a:p>
        </p:txBody>
      </p:sp>
      <p:sp>
        <p:nvSpPr>
          <p:cNvPr id="62" name="Text 48"/>
          <p:cNvSpPr txBox="1"/>
          <p:nvPr/>
        </p:nvSpPr>
        <p:spPr>
          <a:xfrm>
            <a:off x="7488936" y="3657600"/>
            <a:ext cx="40626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6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Missing/incorrect data, all-rails-down scoring, duplicate &amp; expired-consent applications</a:t>
            </a:r>
            <a:endParaRPr lang="en-US" sz="860" dirty="0"/>
          </a:p>
        </p:txBody>
      </p:sp>
      <p:sp>
        <p:nvSpPr>
          <p:cNvPr id="63" name="Shape 49"/>
          <p:cNvSpPr/>
          <p:nvPr/>
        </p:nvSpPr>
        <p:spPr>
          <a:xfrm>
            <a:off x="6995160" y="4078224"/>
            <a:ext cx="347472" cy="347472"/>
          </a:xfrm>
          <a:prstGeom prst="ellipse">
            <a:avLst/>
          </a:prstGeom>
          <a:solidFill>
            <a:srgbClr val="E4EFE9"/>
          </a:solidFill>
          <a:ln/>
        </p:spPr>
      </p:sp>
      <p:pic>
        <p:nvPicPr>
          <p:cNvPr id="64" name="Image 12" descr="/tmp/claude-0/-home-claude/f50031d9-b5ad-5737-9b32-1977a75a6c42/scratchpad/deck/icons/codeBranch_teal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085503" y="4168567"/>
            <a:ext cx="166787" cy="166787"/>
          </a:xfrm>
          <a:prstGeom prst="rect">
            <a:avLst/>
          </a:prstGeom>
        </p:spPr>
      </p:pic>
      <p:sp>
        <p:nvSpPr>
          <p:cNvPr id="65" name="Text 50"/>
          <p:cNvSpPr txBox="1"/>
          <p:nvPr/>
        </p:nvSpPr>
        <p:spPr>
          <a:xfrm>
            <a:off x="7488936" y="4059936"/>
            <a:ext cx="406267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30" b="1" dirty="0">
                <a:solidFill>
                  <a:srgbClr val="0E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</a:t>
            </a:r>
            <a:endParaRPr lang="en-US" sz="1030" dirty="0"/>
          </a:p>
        </p:txBody>
      </p:sp>
      <p:sp>
        <p:nvSpPr>
          <p:cNvPr id="66" name="Text 51"/>
          <p:cNvSpPr txBox="1"/>
          <p:nvPr/>
        </p:nvSpPr>
        <p:spPr>
          <a:xfrm>
            <a:off x="7488936" y="4261104"/>
            <a:ext cx="40626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6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Actions: lint → type-check → test → build → deploy → smoke — BUILT</a:t>
            </a:r>
            <a:endParaRPr lang="en-US" sz="86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12064" cy="512064"/>
          </a:xfrm>
          <a:prstGeom prst="ellipse">
            <a:avLst/>
          </a:prstGeom>
          <a:solidFill>
            <a:srgbClr val="E4EFE9"/>
          </a:solidFill>
          <a:ln/>
        </p:spPr>
      </p:sp>
      <p:pic>
        <p:nvPicPr>
          <p:cNvPr id="3" name="Image 0" descr="/tmp/claude-0/-home-claude/f50031d9-b5ad-5737-9b32-1977a75a6c42/scratchpad/deck/icons/server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0337" y="498897"/>
            <a:ext cx="245791" cy="245791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115568" y="365760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C98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3 · ARCHITECTURE &amp; TECH</a:t>
            </a:r>
            <a:endParaRPr lang="en-US" sz="1050" dirty="0"/>
          </a:p>
        </p:txBody>
      </p:sp>
      <p:sp>
        <p:nvSpPr>
          <p:cNvPr id="5" name="Text 2"/>
          <p:cNvSpPr txBox="1"/>
          <p:nvPr/>
        </p:nvSpPr>
        <p:spPr>
          <a:xfrm>
            <a:off x="1115568" y="5486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E4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 — Modular Monolith</a:t>
            </a:r>
            <a:endParaRPr lang="en-US" sz="2700" dirty="0"/>
          </a:p>
        </p:txBody>
      </p:sp>
      <p:sp>
        <p:nvSpPr>
          <p:cNvPr id="6" name="Text 3"/>
          <p:cNvSpPr txBox="1"/>
          <p:nvPr/>
        </p:nvSpPr>
        <p:spPr>
          <a:xfrm>
            <a:off x="8808415" y="38404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CREDITTECH  ·  MID-TERM REVIEW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8808415" y="56692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76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12 / 20  ·  ARCHITECTURE &amp; TECH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" y="6419088"/>
            <a:ext cx="2182307" cy="310896"/>
          </a:xfrm>
          <a:prstGeom prst="roundRect">
            <a:avLst>
              <a:gd name="adj" fmla="val 50000"/>
            </a:avLst>
          </a:prstGeom>
          <a:solidFill>
            <a:srgbClr val="E4EFE9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457200" y="6419088"/>
            <a:ext cx="218230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spc="40" kern="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860" dirty="0"/>
          </a:p>
        </p:txBody>
      </p:sp>
      <p:sp>
        <p:nvSpPr>
          <p:cNvPr id="10" name="Shape 7"/>
          <p:cNvSpPr/>
          <p:nvPr/>
        </p:nvSpPr>
        <p:spPr>
          <a:xfrm>
            <a:off x="2730947" y="6419088"/>
            <a:ext cx="2182307" cy="310896"/>
          </a:xfrm>
          <a:prstGeom prst="roundRect">
            <a:avLst>
              <a:gd name="adj" fmla="val 50000"/>
            </a:avLst>
          </a:prstGeom>
          <a:solidFill>
            <a:srgbClr val="E4EFE9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2730947" y="6419088"/>
            <a:ext cx="218230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spc="40" kern="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AI PIPELINE</a:t>
            </a:r>
            <a:endParaRPr lang="en-US" sz="860" dirty="0"/>
          </a:p>
        </p:txBody>
      </p:sp>
      <p:sp>
        <p:nvSpPr>
          <p:cNvPr id="12" name="Shape 9"/>
          <p:cNvSpPr/>
          <p:nvPr/>
        </p:nvSpPr>
        <p:spPr>
          <a:xfrm>
            <a:off x="5004694" y="6419088"/>
            <a:ext cx="2182307" cy="310896"/>
          </a:xfrm>
          <a:prstGeom prst="roundRect">
            <a:avLst>
              <a:gd name="adj" fmla="val 50000"/>
            </a:avLst>
          </a:prstGeom>
          <a:solidFill>
            <a:srgbClr val="0E4B43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004694" y="6419088"/>
            <a:ext cx="218230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TECH</a:t>
            </a:r>
            <a:endParaRPr lang="en-US" sz="860" dirty="0"/>
          </a:p>
        </p:txBody>
      </p:sp>
      <p:sp>
        <p:nvSpPr>
          <p:cNvPr id="14" name="Shape 11"/>
          <p:cNvSpPr/>
          <p:nvPr/>
        </p:nvSpPr>
        <p:spPr>
          <a:xfrm>
            <a:off x="7278441" y="6419088"/>
            <a:ext cx="2182307" cy="310896"/>
          </a:xfrm>
          <a:prstGeom prst="roundRect">
            <a:avLst>
              <a:gd name="adj" fmla="val 50000"/>
            </a:avLst>
          </a:prstGeom>
          <a:solidFill>
            <a:srgbClr val="E4EFE9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278441" y="6419088"/>
            <a:ext cx="218230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spc="40" kern="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&amp; PILOT</a:t>
            </a:r>
            <a:endParaRPr lang="en-US" sz="860" dirty="0"/>
          </a:p>
        </p:txBody>
      </p:sp>
      <p:sp>
        <p:nvSpPr>
          <p:cNvPr id="16" name="Shape 13"/>
          <p:cNvSpPr/>
          <p:nvPr/>
        </p:nvSpPr>
        <p:spPr>
          <a:xfrm>
            <a:off x="9552188" y="6419088"/>
            <a:ext cx="2182307" cy="310896"/>
          </a:xfrm>
          <a:prstGeom prst="roundRect">
            <a:avLst>
              <a:gd name="adj" fmla="val 50000"/>
            </a:avLst>
          </a:prstGeom>
          <a:solidFill>
            <a:srgbClr val="E4EFE9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9552188" y="6419088"/>
            <a:ext cx="218230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spc="40" kern="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&amp; ROADMAP</a:t>
            </a:r>
            <a:endParaRPr lang="en-US" sz="860" dirty="0"/>
          </a:p>
        </p:txBody>
      </p:sp>
      <p:sp>
        <p:nvSpPr>
          <p:cNvPr id="18" name="Shape 15"/>
          <p:cNvSpPr/>
          <p:nvPr/>
        </p:nvSpPr>
        <p:spPr>
          <a:xfrm>
            <a:off x="457200" y="1207008"/>
            <a:ext cx="11277295" cy="749808"/>
          </a:xfrm>
          <a:prstGeom prst="roundRect">
            <a:avLst>
              <a:gd name="adj" fmla="val 9756"/>
            </a:avLst>
          </a:prstGeom>
          <a:solidFill>
            <a:srgbClr val="E4EFE9"/>
          </a:solidFill>
          <a:ln w="9525">
            <a:solidFill>
              <a:srgbClr val="D9E7E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03504" y="1261872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Layer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2377440" y="1435608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1" descr="/tmp/claude-0/-home-claude/f50031d9-b5ad-5737-9b32-1977a75a6c42/scratchpad/deck/icons/mobileAlt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3518" y="1511686"/>
            <a:ext cx="140452" cy="140452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2761488" y="1261872"/>
            <a:ext cx="4129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40" b="1" dirty="0">
                <a:solidFill>
                  <a:srgbClr val="0A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Sakhi App (offline-first)</a:t>
            </a:r>
            <a:endParaRPr lang="en-US" sz="840" dirty="0"/>
          </a:p>
        </p:txBody>
      </p:sp>
      <p:sp>
        <p:nvSpPr>
          <p:cNvPr id="23" name="Shape 19"/>
          <p:cNvSpPr/>
          <p:nvPr/>
        </p:nvSpPr>
        <p:spPr>
          <a:xfrm>
            <a:off x="7010248" y="1435608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4" name="Image 2" descr="/tmp/claude-0/-home-claude/f50031d9-b5ad-5737-9b32-1977a75a6c42/scratchpad/deck/icons/userTie_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326" y="1511686"/>
            <a:ext cx="140452" cy="140452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7394296" y="1261872"/>
            <a:ext cx="4129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40" b="1" dirty="0">
                <a:solidFill>
                  <a:srgbClr val="0A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 Decision Dashboard</a:t>
            </a:r>
            <a:endParaRPr lang="en-US" sz="840" dirty="0"/>
          </a:p>
        </p:txBody>
      </p:sp>
      <p:sp>
        <p:nvSpPr>
          <p:cNvPr id="26" name="Text 21"/>
          <p:cNvSpPr txBox="1"/>
          <p:nvPr/>
        </p:nvSpPr>
        <p:spPr>
          <a:xfrm rot="5400000">
            <a:off x="5638648" y="1938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C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7" name="Shape 22"/>
          <p:cNvSpPr/>
          <p:nvPr/>
        </p:nvSpPr>
        <p:spPr>
          <a:xfrm>
            <a:off x="457200" y="2011680"/>
            <a:ext cx="11277295" cy="749808"/>
          </a:xfrm>
          <a:prstGeom prst="roundRect">
            <a:avLst>
              <a:gd name="adj" fmla="val 9756"/>
            </a:avLst>
          </a:prstGeom>
          <a:solidFill>
            <a:srgbClr val="BFDCCC"/>
          </a:solidFill>
          <a:ln w="9525">
            <a:solidFill>
              <a:srgbClr val="D9E7E1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603504" y="20665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Layer</a:t>
            </a:r>
            <a:endParaRPr lang="en-US" sz="1050" dirty="0"/>
          </a:p>
        </p:txBody>
      </p:sp>
      <p:sp>
        <p:nvSpPr>
          <p:cNvPr id="29" name="Shape 24"/>
          <p:cNvSpPr/>
          <p:nvPr/>
        </p:nvSpPr>
        <p:spPr>
          <a:xfrm>
            <a:off x="2377440" y="2240280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0" name="Image 3" descr="/tmp/claude-0/-home-claude/f50031d9-b5ad-5737-9b32-1977a75a6c42/scratchpad/deck/icons/plug_te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53518" y="2316358"/>
            <a:ext cx="140452" cy="140452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2761488" y="2066544"/>
            <a:ext cx="8762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40" b="1" dirty="0">
                <a:solidFill>
                  <a:srgbClr val="0A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— REST/JSON, per-connector auth, timeout &amp; exponential-backoff retry</a:t>
            </a:r>
            <a:endParaRPr lang="en-US" sz="840" dirty="0"/>
          </a:p>
        </p:txBody>
      </p:sp>
      <p:sp>
        <p:nvSpPr>
          <p:cNvPr id="32" name="Text 26"/>
          <p:cNvSpPr txBox="1"/>
          <p:nvPr/>
        </p:nvSpPr>
        <p:spPr>
          <a:xfrm rot="5400000">
            <a:off x="5638648" y="2743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C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33" name="Shape 27"/>
          <p:cNvSpPr/>
          <p:nvPr/>
        </p:nvSpPr>
        <p:spPr>
          <a:xfrm>
            <a:off x="457200" y="2816352"/>
            <a:ext cx="11277295" cy="749808"/>
          </a:xfrm>
          <a:prstGeom prst="roundRect">
            <a:avLst>
              <a:gd name="adj" fmla="val 9756"/>
            </a:avLst>
          </a:prstGeom>
          <a:solidFill>
            <a:srgbClr val="17685A"/>
          </a:solidFill>
          <a:ln w="9525">
            <a:solidFill>
              <a:srgbClr val="D9E7E1"/>
            </a:solidFill>
            <a:prstDash val="solid"/>
          </a:ln>
        </p:spPr>
      </p:sp>
      <p:sp>
        <p:nvSpPr>
          <p:cNvPr id="34" name="Text 28"/>
          <p:cNvSpPr txBox="1"/>
          <p:nvPr/>
        </p:nvSpPr>
        <p:spPr>
          <a:xfrm>
            <a:off x="603504" y="2871216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Services</a:t>
            </a:r>
            <a:endParaRPr lang="en-US" sz="1050" dirty="0"/>
          </a:p>
        </p:txBody>
      </p:sp>
      <p:sp>
        <p:nvSpPr>
          <p:cNvPr id="35" name="Shape 29"/>
          <p:cNvSpPr/>
          <p:nvPr/>
        </p:nvSpPr>
        <p:spPr>
          <a:xfrm>
            <a:off x="2377440" y="3044952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6" name="Image 4" descr="/tmp/claude-0/-home-claude/f50031d9-b5ad-5737-9b32-1977a75a6c42/scratchpad/deck/icons/exchangeAlt_tea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53518" y="3121030"/>
            <a:ext cx="140452" cy="140452"/>
          </a:xfrm>
          <a:prstGeom prst="rect">
            <a:avLst/>
          </a:prstGeom>
        </p:spPr>
      </p:pic>
      <p:sp>
        <p:nvSpPr>
          <p:cNvPr id="37" name="Text 30"/>
          <p:cNvSpPr txBox="1"/>
          <p:nvPr/>
        </p:nvSpPr>
        <p:spPr>
          <a:xfrm>
            <a:off x="2761488" y="2871216"/>
            <a:ext cx="18134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40" b="1" dirty="0">
                <a:solidFill>
                  <a:srgbClr val="0A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Orchestrator</a:t>
            </a:r>
            <a:endParaRPr lang="en-US" sz="840" dirty="0"/>
          </a:p>
        </p:txBody>
      </p:sp>
      <p:sp>
        <p:nvSpPr>
          <p:cNvPr id="38" name="Shape 31"/>
          <p:cNvSpPr/>
          <p:nvPr/>
        </p:nvSpPr>
        <p:spPr>
          <a:xfrm>
            <a:off x="4693844" y="3044952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9" name="Image 5" descr="/tmp/claude-0/-home-claude/f50031d9-b5ad-5737-9b32-1977a75a6c42/scratchpad/deck/icons/fingerprint_teal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9922" y="3121030"/>
            <a:ext cx="140452" cy="140452"/>
          </a:xfrm>
          <a:prstGeom prst="rect">
            <a:avLst/>
          </a:prstGeom>
        </p:spPr>
      </p:pic>
      <p:sp>
        <p:nvSpPr>
          <p:cNvPr id="40" name="Text 32"/>
          <p:cNvSpPr txBox="1"/>
          <p:nvPr/>
        </p:nvSpPr>
        <p:spPr>
          <a:xfrm>
            <a:off x="5077892" y="2871216"/>
            <a:ext cx="18134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40" b="1" dirty="0">
                <a:solidFill>
                  <a:srgbClr val="0A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Ledger</a:t>
            </a:r>
            <a:endParaRPr lang="en-US" sz="840" dirty="0"/>
          </a:p>
        </p:txBody>
      </p:sp>
      <p:sp>
        <p:nvSpPr>
          <p:cNvPr id="41" name="Shape 33"/>
          <p:cNvSpPr/>
          <p:nvPr/>
        </p:nvSpPr>
        <p:spPr>
          <a:xfrm>
            <a:off x="7010248" y="3044952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2" name="Image 6" descr="/tmp/claude-0/-home-claude/f50031d9-b5ad-5737-9b32-1977a75a6c42/scratchpad/deck/icons/brain_teal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86326" y="3121030"/>
            <a:ext cx="140452" cy="140452"/>
          </a:xfrm>
          <a:prstGeom prst="rect">
            <a:avLst/>
          </a:prstGeom>
        </p:spPr>
      </p:pic>
      <p:sp>
        <p:nvSpPr>
          <p:cNvPr id="43" name="Text 34"/>
          <p:cNvSpPr txBox="1"/>
          <p:nvPr/>
        </p:nvSpPr>
        <p:spPr>
          <a:xfrm>
            <a:off x="7394296" y="2871216"/>
            <a:ext cx="18134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40" b="1" dirty="0">
                <a:solidFill>
                  <a:srgbClr val="0A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Engine</a:t>
            </a:r>
            <a:endParaRPr lang="en-US" sz="840" dirty="0"/>
          </a:p>
        </p:txBody>
      </p:sp>
      <p:sp>
        <p:nvSpPr>
          <p:cNvPr id="44" name="Shape 35"/>
          <p:cNvSpPr/>
          <p:nvPr/>
        </p:nvSpPr>
        <p:spPr>
          <a:xfrm>
            <a:off x="9326651" y="3044952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5" name="Image 7" descr="/tmp/claude-0/-home-claude/f50031d9-b5ad-5737-9b32-1977a75a6c42/scratchpad/deck/icons/eye_teal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02729" y="3121030"/>
            <a:ext cx="140452" cy="140452"/>
          </a:xfrm>
          <a:prstGeom prst="rect">
            <a:avLst/>
          </a:prstGeom>
        </p:spPr>
      </p:pic>
      <p:sp>
        <p:nvSpPr>
          <p:cNvPr id="46" name="Text 36"/>
          <p:cNvSpPr txBox="1"/>
          <p:nvPr/>
        </p:nvSpPr>
        <p:spPr>
          <a:xfrm>
            <a:off x="9710699" y="2871216"/>
            <a:ext cx="18134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40" b="1" dirty="0">
                <a:solidFill>
                  <a:srgbClr val="0A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Auditor / Monitoring</a:t>
            </a:r>
            <a:endParaRPr lang="en-US" sz="840" dirty="0"/>
          </a:p>
        </p:txBody>
      </p:sp>
      <p:sp>
        <p:nvSpPr>
          <p:cNvPr id="47" name="Text 37"/>
          <p:cNvSpPr txBox="1"/>
          <p:nvPr/>
        </p:nvSpPr>
        <p:spPr>
          <a:xfrm rot="5400000">
            <a:off x="5638648" y="35478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C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48" name="Shape 38"/>
          <p:cNvSpPr/>
          <p:nvPr/>
        </p:nvSpPr>
        <p:spPr>
          <a:xfrm>
            <a:off x="457200" y="3621024"/>
            <a:ext cx="11277295" cy="749808"/>
          </a:xfrm>
          <a:prstGeom prst="roundRect">
            <a:avLst>
              <a:gd name="adj" fmla="val 9756"/>
            </a:avLst>
          </a:prstGeom>
          <a:solidFill>
            <a:srgbClr val="BFDCCC"/>
          </a:solidFill>
          <a:ln w="9525">
            <a:solidFill>
              <a:srgbClr val="D9E7E1"/>
            </a:solidFill>
            <a:prstDash val="solid"/>
          </a:ln>
        </p:spPr>
      </p:sp>
      <p:sp>
        <p:nvSpPr>
          <p:cNvPr id="49" name="Text 39"/>
          <p:cNvSpPr txBox="1"/>
          <p:nvPr/>
        </p:nvSpPr>
        <p:spPr>
          <a:xfrm>
            <a:off x="603504" y="3675888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050" dirty="0"/>
          </a:p>
        </p:txBody>
      </p:sp>
      <p:sp>
        <p:nvSpPr>
          <p:cNvPr id="50" name="Shape 40"/>
          <p:cNvSpPr/>
          <p:nvPr/>
        </p:nvSpPr>
        <p:spPr>
          <a:xfrm>
            <a:off x="2377440" y="3849624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1" name="Image 8" descr="/tmp/claude-0/-home-claude/f50031d9-b5ad-5737-9b32-1977a75a6c42/scratchpad/deck/icons/database_teal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3518" y="3925702"/>
            <a:ext cx="140452" cy="140452"/>
          </a:xfrm>
          <a:prstGeom prst="rect">
            <a:avLst/>
          </a:prstGeom>
        </p:spPr>
      </p:pic>
      <p:sp>
        <p:nvSpPr>
          <p:cNvPr id="52" name="Text 41"/>
          <p:cNvSpPr txBox="1"/>
          <p:nvPr/>
        </p:nvSpPr>
        <p:spPr>
          <a:xfrm>
            <a:off x="2761488" y="3675888"/>
            <a:ext cx="8762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40" b="1" dirty="0">
                <a:solidFill>
                  <a:srgbClr val="0A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— SQLAlchemy async ORM, Alembic migrations (ACID for consent/score/decision records)</a:t>
            </a:r>
            <a:endParaRPr lang="en-US" sz="840" dirty="0"/>
          </a:p>
        </p:txBody>
      </p:sp>
      <p:sp>
        <p:nvSpPr>
          <p:cNvPr id="53" name="Text 42"/>
          <p:cNvSpPr txBox="1"/>
          <p:nvPr/>
        </p:nvSpPr>
        <p:spPr>
          <a:xfrm rot="5400000">
            <a:off x="5638648" y="435254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C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54" name="Shape 43"/>
          <p:cNvSpPr/>
          <p:nvPr/>
        </p:nvSpPr>
        <p:spPr>
          <a:xfrm>
            <a:off x="457200" y="4425696"/>
            <a:ext cx="11277295" cy="749808"/>
          </a:xfrm>
          <a:prstGeom prst="roundRect">
            <a:avLst>
              <a:gd name="adj" fmla="val 9756"/>
            </a:avLst>
          </a:prstGeom>
          <a:solidFill>
            <a:srgbClr val="E4EFE9"/>
          </a:solidFill>
          <a:ln w="9525">
            <a:solidFill>
              <a:srgbClr val="D9E7E1"/>
            </a:solidFill>
            <a:prstDash val="solid"/>
          </a:ln>
        </p:spPr>
      </p:sp>
      <p:sp>
        <p:nvSpPr>
          <p:cNvPr id="55" name="Text 44"/>
          <p:cNvSpPr txBox="1"/>
          <p:nvPr/>
        </p:nvSpPr>
        <p:spPr>
          <a:xfrm>
            <a:off x="603504" y="44805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Rails</a:t>
            </a:r>
            <a:endParaRPr lang="en-US" sz="1050" dirty="0"/>
          </a:p>
        </p:txBody>
      </p:sp>
      <p:sp>
        <p:nvSpPr>
          <p:cNvPr id="56" name="Shape 45"/>
          <p:cNvSpPr/>
          <p:nvPr/>
        </p:nvSpPr>
        <p:spPr>
          <a:xfrm>
            <a:off x="2377440" y="4654296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7" name="Image 9" descr="/tmp/claude-0/-home-claude/f50031d9-b5ad-5737-9b32-1977a75a6c42/scratchpad/deck/icons/university_teal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53518" y="4730374"/>
            <a:ext cx="140452" cy="140452"/>
          </a:xfrm>
          <a:prstGeom prst="rect">
            <a:avLst/>
          </a:prstGeom>
        </p:spPr>
      </p:pic>
      <p:sp>
        <p:nvSpPr>
          <p:cNvPr id="58" name="Text 46"/>
          <p:cNvSpPr txBox="1"/>
          <p:nvPr/>
        </p:nvSpPr>
        <p:spPr>
          <a:xfrm>
            <a:off x="2761488" y="4480560"/>
            <a:ext cx="18134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40" b="1" dirty="0">
                <a:solidFill>
                  <a:srgbClr val="0A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Aggregator</a:t>
            </a:r>
            <a:endParaRPr lang="en-US" sz="840" dirty="0"/>
          </a:p>
        </p:txBody>
      </p:sp>
      <p:sp>
        <p:nvSpPr>
          <p:cNvPr id="59" name="Shape 47"/>
          <p:cNvSpPr/>
          <p:nvPr/>
        </p:nvSpPr>
        <p:spPr>
          <a:xfrm>
            <a:off x="4693844" y="4654296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0" name="Image 10" descr="/tmp/claude-0/-home-claude/f50031d9-b5ad-5737-9b32-1977a75a6c42/scratchpad/deck/icons/satellite_teal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69922" y="4730374"/>
            <a:ext cx="140452" cy="140452"/>
          </a:xfrm>
          <a:prstGeom prst="rect">
            <a:avLst/>
          </a:prstGeom>
        </p:spPr>
      </p:pic>
      <p:sp>
        <p:nvSpPr>
          <p:cNvPr id="61" name="Text 48"/>
          <p:cNvSpPr txBox="1"/>
          <p:nvPr/>
        </p:nvSpPr>
        <p:spPr>
          <a:xfrm>
            <a:off x="5077892" y="4480560"/>
            <a:ext cx="18134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40" b="1" dirty="0">
                <a:solidFill>
                  <a:srgbClr val="0A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Geospatial / EO</a:t>
            </a:r>
            <a:endParaRPr lang="en-US" sz="840" dirty="0"/>
          </a:p>
        </p:txBody>
      </p:sp>
      <p:sp>
        <p:nvSpPr>
          <p:cNvPr id="62" name="Shape 49"/>
          <p:cNvSpPr/>
          <p:nvPr/>
        </p:nvSpPr>
        <p:spPr>
          <a:xfrm>
            <a:off x="7010248" y="4654296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3" name="Image 11" descr="/tmp/claude-0/-home-claude/f50031d9-b5ad-5737-9b32-1977a75a6c42/scratchpad/deck/icons/fileInvoice_teal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086326" y="4730374"/>
            <a:ext cx="140452" cy="140452"/>
          </a:xfrm>
          <a:prstGeom prst="rect">
            <a:avLst/>
          </a:prstGeom>
        </p:spPr>
      </p:pic>
      <p:sp>
        <p:nvSpPr>
          <p:cNvPr id="64" name="Text 50"/>
          <p:cNvSpPr txBox="1"/>
          <p:nvPr/>
        </p:nvSpPr>
        <p:spPr>
          <a:xfrm>
            <a:off x="7394296" y="4480560"/>
            <a:ext cx="18134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40" b="1" dirty="0">
                <a:solidFill>
                  <a:srgbClr val="0A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Bureau / CIC</a:t>
            </a:r>
            <a:endParaRPr lang="en-US" sz="840" dirty="0"/>
          </a:p>
        </p:txBody>
      </p:sp>
      <p:sp>
        <p:nvSpPr>
          <p:cNvPr id="65" name="Shape 51"/>
          <p:cNvSpPr/>
          <p:nvPr/>
        </p:nvSpPr>
        <p:spPr>
          <a:xfrm>
            <a:off x="9326651" y="4654296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6" name="Image 12" descr="/tmp/claude-0/-home-claude/f50031d9-b5ad-5737-9b32-1977a75a6c42/scratchpad/deck/icons/users_teal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402729" y="4730374"/>
            <a:ext cx="140452" cy="140452"/>
          </a:xfrm>
          <a:prstGeom prst="rect">
            <a:avLst/>
          </a:prstGeom>
        </p:spPr>
      </p:pic>
      <p:sp>
        <p:nvSpPr>
          <p:cNvPr id="67" name="Text 52"/>
          <p:cNvSpPr txBox="1"/>
          <p:nvPr/>
        </p:nvSpPr>
        <p:spPr>
          <a:xfrm>
            <a:off x="9710699" y="4480560"/>
            <a:ext cx="18134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40" b="1" dirty="0">
                <a:solidFill>
                  <a:srgbClr val="0A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SHG / FPO manual</a:t>
            </a:r>
            <a:endParaRPr lang="en-US" sz="840" dirty="0"/>
          </a:p>
        </p:txBody>
      </p:sp>
      <p:sp>
        <p:nvSpPr>
          <p:cNvPr id="68" name="Text 53"/>
          <p:cNvSpPr txBox="1"/>
          <p:nvPr/>
        </p:nvSpPr>
        <p:spPr>
          <a:xfrm>
            <a:off x="457200" y="5303520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ADR-1: modular monolith, not microservices — team-size and traffic don’t justify distributed-systems overhead yet. The Data Aggregation module is the natural future extraction seam if that changes.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12064" cy="512064"/>
          </a:xfrm>
          <a:prstGeom prst="ellipse">
            <a:avLst/>
          </a:prstGeom>
          <a:solidFill>
            <a:srgbClr val="E4EFE9"/>
          </a:solidFill>
          <a:ln/>
        </p:spPr>
      </p:sp>
      <p:pic>
        <p:nvPicPr>
          <p:cNvPr id="3" name="Image 0" descr="/tmp/claude-0/-home-claude/f50031d9-b5ad-5737-9b32-1977a75a6c42/scratchpad/deck/icons/layerGroup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0337" y="498897"/>
            <a:ext cx="245791" cy="245791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115568" y="365760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C98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3 · ARCHITECTURE &amp; TECH</a:t>
            </a:r>
            <a:endParaRPr lang="en-US" sz="1050" dirty="0"/>
          </a:p>
        </p:txBody>
      </p:sp>
      <p:sp>
        <p:nvSpPr>
          <p:cNvPr id="5" name="Text 2"/>
          <p:cNvSpPr txBox="1"/>
          <p:nvPr/>
        </p:nvSpPr>
        <p:spPr>
          <a:xfrm>
            <a:off x="1115568" y="5486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E4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2700" dirty="0"/>
          </a:p>
        </p:txBody>
      </p:sp>
      <p:sp>
        <p:nvSpPr>
          <p:cNvPr id="6" name="Text 3"/>
          <p:cNvSpPr txBox="1"/>
          <p:nvPr/>
        </p:nvSpPr>
        <p:spPr>
          <a:xfrm>
            <a:off x="8808415" y="38404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CREDITTECH  ·  MID-TERM REVIEW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8808415" y="56692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76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13 / 20  ·  ARCHITECTURE &amp; TECH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" y="6419088"/>
            <a:ext cx="2182307" cy="310896"/>
          </a:xfrm>
          <a:prstGeom prst="roundRect">
            <a:avLst>
              <a:gd name="adj" fmla="val 50000"/>
            </a:avLst>
          </a:prstGeom>
          <a:solidFill>
            <a:srgbClr val="E4EFE9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457200" y="6419088"/>
            <a:ext cx="218230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spc="40" kern="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860" dirty="0"/>
          </a:p>
        </p:txBody>
      </p:sp>
      <p:sp>
        <p:nvSpPr>
          <p:cNvPr id="10" name="Shape 7"/>
          <p:cNvSpPr/>
          <p:nvPr/>
        </p:nvSpPr>
        <p:spPr>
          <a:xfrm>
            <a:off x="2730947" y="6419088"/>
            <a:ext cx="2182307" cy="310896"/>
          </a:xfrm>
          <a:prstGeom prst="roundRect">
            <a:avLst>
              <a:gd name="adj" fmla="val 50000"/>
            </a:avLst>
          </a:prstGeom>
          <a:solidFill>
            <a:srgbClr val="E4EFE9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2730947" y="6419088"/>
            <a:ext cx="218230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spc="40" kern="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AI PIPELINE</a:t>
            </a:r>
            <a:endParaRPr lang="en-US" sz="860" dirty="0"/>
          </a:p>
        </p:txBody>
      </p:sp>
      <p:sp>
        <p:nvSpPr>
          <p:cNvPr id="12" name="Shape 9"/>
          <p:cNvSpPr/>
          <p:nvPr/>
        </p:nvSpPr>
        <p:spPr>
          <a:xfrm>
            <a:off x="5004694" y="6419088"/>
            <a:ext cx="2182307" cy="310896"/>
          </a:xfrm>
          <a:prstGeom prst="roundRect">
            <a:avLst>
              <a:gd name="adj" fmla="val 50000"/>
            </a:avLst>
          </a:prstGeom>
          <a:solidFill>
            <a:srgbClr val="0E4B43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004694" y="6419088"/>
            <a:ext cx="218230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TECH</a:t>
            </a:r>
            <a:endParaRPr lang="en-US" sz="860" dirty="0"/>
          </a:p>
        </p:txBody>
      </p:sp>
      <p:sp>
        <p:nvSpPr>
          <p:cNvPr id="14" name="Shape 11"/>
          <p:cNvSpPr/>
          <p:nvPr/>
        </p:nvSpPr>
        <p:spPr>
          <a:xfrm>
            <a:off x="7278441" y="6419088"/>
            <a:ext cx="2182307" cy="310896"/>
          </a:xfrm>
          <a:prstGeom prst="roundRect">
            <a:avLst>
              <a:gd name="adj" fmla="val 50000"/>
            </a:avLst>
          </a:prstGeom>
          <a:solidFill>
            <a:srgbClr val="E4EFE9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278441" y="6419088"/>
            <a:ext cx="218230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spc="40" kern="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&amp; PILOT</a:t>
            </a:r>
            <a:endParaRPr lang="en-US" sz="860" dirty="0"/>
          </a:p>
        </p:txBody>
      </p:sp>
      <p:sp>
        <p:nvSpPr>
          <p:cNvPr id="16" name="Shape 13"/>
          <p:cNvSpPr/>
          <p:nvPr/>
        </p:nvSpPr>
        <p:spPr>
          <a:xfrm>
            <a:off x="9552188" y="6419088"/>
            <a:ext cx="2182307" cy="310896"/>
          </a:xfrm>
          <a:prstGeom prst="roundRect">
            <a:avLst>
              <a:gd name="adj" fmla="val 50000"/>
            </a:avLst>
          </a:prstGeom>
          <a:solidFill>
            <a:srgbClr val="E4EFE9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9552188" y="6419088"/>
            <a:ext cx="218230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spc="40" kern="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&amp; ROADMAP</a:t>
            </a:r>
            <a:endParaRPr lang="en-US" sz="860" dirty="0"/>
          </a:p>
        </p:txBody>
      </p:sp>
      <p:sp>
        <p:nvSpPr>
          <p:cNvPr id="18" name="Shape 15"/>
          <p:cNvSpPr/>
          <p:nvPr/>
        </p:nvSpPr>
        <p:spPr>
          <a:xfrm>
            <a:off x="457200" y="1207008"/>
            <a:ext cx="2145731" cy="3566160"/>
          </a:xfrm>
          <a:prstGeom prst="roundRect">
            <a:avLst>
              <a:gd name="adj" fmla="val 3409"/>
            </a:avLst>
          </a:prstGeom>
          <a:solidFill>
            <a:srgbClr val="FFFFFF"/>
          </a:solidFill>
          <a:ln w="9525">
            <a:solidFill>
              <a:srgbClr val="D9E7E1"/>
            </a:solidFill>
            <a:prstDash val="solid"/>
          </a:ln>
          <a:effectLst>
            <a:outerShdw sx="100000" sy="100000" kx="0" ky="0" algn="bl" rotWithShape="0" blurRad="101600" dist="38100" dir="5400000">
              <a:srgbClr val="0A322C">
                <a:alpha val="1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57200" y="1207008"/>
            <a:ext cx="2145731" cy="457200"/>
          </a:xfrm>
          <a:prstGeom prst="roundRect">
            <a:avLst>
              <a:gd name="adj" fmla="val 16000"/>
            </a:avLst>
          </a:prstGeom>
          <a:solidFill>
            <a:srgbClr val="0E4B43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548640" y="1207008"/>
            <a:ext cx="19628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&amp; API</a:t>
            </a:r>
            <a:endParaRPr lang="en-US" sz="960" dirty="0"/>
          </a:p>
        </p:txBody>
      </p:sp>
      <p:sp>
        <p:nvSpPr>
          <p:cNvPr id="21" name="Text 18"/>
          <p:cNvSpPr txBox="1"/>
          <p:nvPr/>
        </p:nvSpPr>
        <p:spPr>
          <a:xfrm>
            <a:off x="566928" y="1810512"/>
            <a:ext cx="19262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40" b="1" dirty="0">
                <a:solidFill>
                  <a:srgbClr val="15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840" dirty="0"/>
          </a:p>
        </p:txBody>
      </p:sp>
      <p:sp>
        <p:nvSpPr>
          <p:cNvPr id="22" name="Shape 19"/>
          <p:cNvSpPr/>
          <p:nvPr/>
        </p:nvSpPr>
        <p:spPr>
          <a:xfrm>
            <a:off x="566928" y="2322576"/>
            <a:ext cx="1926275" cy="201168"/>
          </a:xfrm>
          <a:prstGeom prst="roundRect">
            <a:avLst>
              <a:gd name="adj" fmla="val 50000"/>
            </a:avLst>
          </a:prstGeom>
          <a:solidFill>
            <a:srgbClr val="5C8A72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566928" y="2322576"/>
            <a:ext cx="192627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68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816352"/>
            <a:ext cx="19262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40" b="1" dirty="0">
                <a:solidFill>
                  <a:srgbClr val="15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3.11+, Pydantic</a:t>
            </a:r>
            <a:endParaRPr lang="en-US" sz="840" dirty="0"/>
          </a:p>
        </p:txBody>
      </p:sp>
      <p:sp>
        <p:nvSpPr>
          <p:cNvPr id="25" name="Shape 22"/>
          <p:cNvSpPr/>
          <p:nvPr/>
        </p:nvSpPr>
        <p:spPr>
          <a:xfrm>
            <a:off x="566928" y="3328416"/>
            <a:ext cx="1926275" cy="201168"/>
          </a:xfrm>
          <a:prstGeom prst="roundRect">
            <a:avLst>
              <a:gd name="adj" fmla="val 50000"/>
            </a:avLst>
          </a:prstGeom>
          <a:solidFill>
            <a:srgbClr val="5C8A72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566928" y="3328416"/>
            <a:ext cx="192627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680" dirty="0"/>
          </a:p>
        </p:txBody>
      </p:sp>
      <p:sp>
        <p:nvSpPr>
          <p:cNvPr id="27" name="Text 24"/>
          <p:cNvSpPr txBox="1"/>
          <p:nvPr/>
        </p:nvSpPr>
        <p:spPr>
          <a:xfrm>
            <a:off x="566928" y="3822192"/>
            <a:ext cx="19262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40" b="1" dirty="0">
                <a:solidFill>
                  <a:srgbClr val="15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hash-chain ledger</a:t>
            </a:r>
            <a:endParaRPr lang="en-US" sz="840" dirty="0"/>
          </a:p>
        </p:txBody>
      </p:sp>
      <p:sp>
        <p:nvSpPr>
          <p:cNvPr id="28" name="Shape 25"/>
          <p:cNvSpPr/>
          <p:nvPr/>
        </p:nvSpPr>
        <p:spPr>
          <a:xfrm>
            <a:off x="566928" y="4334256"/>
            <a:ext cx="1926275" cy="201168"/>
          </a:xfrm>
          <a:prstGeom prst="roundRect">
            <a:avLst>
              <a:gd name="adj" fmla="val 50000"/>
            </a:avLst>
          </a:prstGeom>
          <a:solidFill>
            <a:srgbClr val="5C8A72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566928" y="4334256"/>
            <a:ext cx="192627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680" dirty="0"/>
          </a:p>
        </p:txBody>
      </p:sp>
      <p:sp>
        <p:nvSpPr>
          <p:cNvPr id="30" name="Shape 27"/>
          <p:cNvSpPr/>
          <p:nvPr/>
        </p:nvSpPr>
        <p:spPr>
          <a:xfrm>
            <a:off x="2740091" y="1207008"/>
            <a:ext cx="2145731" cy="3566160"/>
          </a:xfrm>
          <a:prstGeom prst="roundRect">
            <a:avLst>
              <a:gd name="adj" fmla="val 3409"/>
            </a:avLst>
          </a:prstGeom>
          <a:solidFill>
            <a:srgbClr val="FFFFFF"/>
          </a:solidFill>
          <a:ln w="9525">
            <a:solidFill>
              <a:srgbClr val="D9E7E1"/>
            </a:solidFill>
            <a:prstDash val="solid"/>
          </a:ln>
          <a:effectLst>
            <a:outerShdw sx="100000" sy="100000" kx="0" ky="0" algn="bl" rotWithShape="0" blurRad="101600" dist="38100" dir="5400000">
              <a:srgbClr val="0A322C">
                <a:alpha val="18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2740091" y="1207008"/>
            <a:ext cx="2145731" cy="457200"/>
          </a:xfrm>
          <a:prstGeom prst="roundRect">
            <a:avLst>
              <a:gd name="adj" fmla="val 16000"/>
            </a:avLst>
          </a:prstGeom>
          <a:solidFill>
            <a:srgbClr val="0E4B43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2831531" y="1207008"/>
            <a:ext cx="19628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960" dirty="0"/>
          </a:p>
        </p:txBody>
      </p:sp>
      <p:sp>
        <p:nvSpPr>
          <p:cNvPr id="33" name="Text 30"/>
          <p:cNvSpPr txBox="1"/>
          <p:nvPr/>
        </p:nvSpPr>
        <p:spPr>
          <a:xfrm>
            <a:off x="2849819" y="1810512"/>
            <a:ext cx="19262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40" b="1" dirty="0">
                <a:solidFill>
                  <a:srgbClr val="15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840" dirty="0"/>
          </a:p>
        </p:txBody>
      </p:sp>
      <p:sp>
        <p:nvSpPr>
          <p:cNvPr id="34" name="Shape 31"/>
          <p:cNvSpPr/>
          <p:nvPr/>
        </p:nvSpPr>
        <p:spPr>
          <a:xfrm>
            <a:off x="2849819" y="2322576"/>
            <a:ext cx="1926275" cy="201168"/>
          </a:xfrm>
          <a:prstGeom prst="roundRect">
            <a:avLst>
              <a:gd name="adj" fmla="val 50000"/>
            </a:avLst>
          </a:prstGeom>
          <a:solidFill>
            <a:srgbClr val="5C8A72"/>
          </a:solidFill>
          <a:ln/>
        </p:spPr>
      </p:sp>
      <p:sp>
        <p:nvSpPr>
          <p:cNvPr id="35" name="Text 32"/>
          <p:cNvSpPr txBox="1"/>
          <p:nvPr/>
        </p:nvSpPr>
        <p:spPr>
          <a:xfrm>
            <a:off x="2849819" y="2322576"/>
            <a:ext cx="192627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680" dirty="0"/>
          </a:p>
        </p:txBody>
      </p:sp>
      <p:sp>
        <p:nvSpPr>
          <p:cNvPr id="36" name="Text 33"/>
          <p:cNvSpPr txBox="1"/>
          <p:nvPr/>
        </p:nvSpPr>
        <p:spPr>
          <a:xfrm>
            <a:off x="2849819" y="2816352"/>
            <a:ext cx="19262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40" b="1" dirty="0">
                <a:solidFill>
                  <a:srgbClr val="15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(async) + Alembic</a:t>
            </a:r>
            <a:endParaRPr lang="en-US" sz="840" dirty="0"/>
          </a:p>
        </p:txBody>
      </p:sp>
      <p:sp>
        <p:nvSpPr>
          <p:cNvPr id="37" name="Shape 34"/>
          <p:cNvSpPr/>
          <p:nvPr/>
        </p:nvSpPr>
        <p:spPr>
          <a:xfrm>
            <a:off x="2849819" y="3328416"/>
            <a:ext cx="1926275" cy="201168"/>
          </a:xfrm>
          <a:prstGeom prst="roundRect">
            <a:avLst>
              <a:gd name="adj" fmla="val 50000"/>
            </a:avLst>
          </a:prstGeom>
          <a:solidFill>
            <a:srgbClr val="5C8A72"/>
          </a:solidFill>
          <a:ln/>
        </p:spPr>
      </p:sp>
      <p:sp>
        <p:nvSpPr>
          <p:cNvPr id="38" name="Text 35"/>
          <p:cNvSpPr txBox="1"/>
          <p:nvPr/>
        </p:nvSpPr>
        <p:spPr>
          <a:xfrm>
            <a:off x="2849819" y="3328416"/>
            <a:ext cx="192627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680" dirty="0"/>
          </a:p>
        </p:txBody>
      </p:sp>
      <p:sp>
        <p:nvSpPr>
          <p:cNvPr id="39" name="Text 36"/>
          <p:cNvSpPr txBox="1"/>
          <p:nvPr/>
        </p:nvSpPr>
        <p:spPr>
          <a:xfrm>
            <a:off x="2849819" y="3822192"/>
            <a:ext cx="19262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40" b="1" dirty="0">
                <a:solidFill>
                  <a:srgbClr val="15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DVC — dataset/model versioning</a:t>
            </a:r>
            <a:endParaRPr lang="en-US" sz="840" dirty="0"/>
          </a:p>
        </p:txBody>
      </p:sp>
      <p:sp>
        <p:nvSpPr>
          <p:cNvPr id="40" name="Shape 37"/>
          <p:cNvSpPr/>
          <p:nvPr/>
        </p:nvSpPr>
        <p:spPr>
          <a:xfrm>
            <a:off x="2849819" y="4334256"/>
            <a:ext cx="1926275" cy="201168"/>
          </a:xfrm>
          <a:prstGeom prst="roundRect">
            <a:avLst>
              <a:gd name="adj" fmla="val 50000"/>
            </a:avLst>
          </a:prstGeom>
          <a:solidFill>
            <a:srgbClr val="F3E4C8"/>
          </a:solidFill>
          <a:ln/>
        </p:spPr>
      </p:sp>
      <p:sp>
        <p:nvSpPr>
          <p:cNvPr id="41" name="Text 38"/>
          <p:cNvSpPr txBox="1"/>
          <p:nvPr/>
        </p:nvSpPr>
        <p:spPr>
          <a:xfrm>
            <a:off x="2849819" y="4334256"/>
            <a:ext cx="192627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C98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680" dirty="0"/>
          </a:p>
        </p:txBody>
      </p:sp>
      <p:sp>
        <p:nvSpPr>
          <p:cNvPr id="42" name="Shape 39"/>
          <p:cNvSpPr/>
          <p:nvPr/>
        </p:nvSpPr>
        <p:spPr>
          <a:xfrm>
            <a:off x="5022982" y="1207008"/>
            <a:ext cx="2145731" cy="3566160"/>
          </a:xfrm>
          <a:prstGeom prst="roundRect">
            <a:avLst>
              <a:gd name="adj" fmla="val 3409"/>
            </a:avLst>
          </a:prstGeom>
          <a:solidFill>
            <a:srgbClr val="FFFFFF"/>
          </a:solidFill>
          <a:ln w="9525">
            <a:solidFill>
              <a:srgbClr val="D9E7E1"/>
            </a:solidFill>
            <a:prstDash val="solid"/>
          </a:ln>
          <a:effectLst>
            <a:outerShdw sx="100000" sy="100000" kx="0" ky="0" algn="bl" rotWithShape="0" blurRad="101600" dist="38100" dir="5400000">
              <a:srgbClr val="0A322C">
                <a:alpha val="18000"/>
              </a:srgbClr>
            </a:outerShdw>
          </a:effectLst>
        </p:spPr>
      </p:sp>
      <p:sp>
        <p:nvSpPr>
          <p:cNvPr id="43" name="Shape 40"/>
          <p:cNvSpPr/>
          <p:nvPr/>
        </p:nvSpPr>
        <p:spPr>
          <a:xfrm>
            <a:off x="5022982" y="1207008"/>
            <a:ext cx="2145731" cy="457200"/>
          </a:xfrm>
          <a:prstGeom prst="roundRect">
            <a:avLst>
              <a:gd name="adj" fmla="val 16000"/>
            </a:avLst>
          </a:prstGeom>
          <a:solidFill>
            <a:srgbClr val="0E4B43"/>
          </a:solidFill>
          <a:ln/>
        </p:spPr>
      </p:sp>
      <p:sp>
        <p:nvSpPr>
          <p:cNvPr id="44" name="Text 41"/>
          <p:cNvSpPr txBox="1"/>
          <p:nvPr/>
        </p:nvSpPr>
        <p:spPr>
          <a:xfrm>
            <a:off x="5114422" y="1207008"/>
            <a:ext cx="19628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 &amp; CI/CD</a:t>
            </a:r>
            <a:endParaRPr lang="en-US" sz="960" dirty="0"/>
          </a:p>
        </p:txBody>
      </p:sp>
      <p:sp>
        <p:nvSpPr>
          <p:cNvPr id="45" name="Text 42"/>
          <p:cNvSpPr txBox="1"/>
          <p:nvPr/>
        </p:nvSpPr>
        <p:spPr>
          <a:xfrm>
            <a:off x="5132710" y="1810512"/>
            <a:ext cx="19262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40" b="1" dirty="0">
                <a:solidFill>
                  <a:srgbClr val="15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</a:t>
            </a:r>
            <a:endParaRPr lang="en-US" sz="840" dirty="0"/>
          </a:p>
        </p:txBody>
      </p:sp>
      <p:sp>
        <p:nvSpPr>
          <p:cNvPr id="46" name="Shape 43"/>
          <p:cNvSpPr/>
          <p:nvPr/>
        </p:nvSpPr>
        <p:spPr>
          <a:xfrm>
            <a:off x="5132710" y="2322576"/>
            <a:ext cx="1926275" cy="201168"/>
          </a:xfrm>
          <a:prstGeom prst="roundRect">
            <a:avLst>
              <a:gd name="adj" fmla="val 50000"/>
            </a:avLst>
          </a:prstGeom>
          <a:solidFill>
            <a:srgbClr val="5C8A72"/>
          </a:solidFill>
          <a:ln/>
        </p:spPr>
      </p:sp>
      <p:sp>
        <p:nvSpPr>
          <p:cNvPr id="47" name="Text 44"/>
          <p:cNvSpPr txBox="1"/>
          <p:nvPr/>
        </p:nvSpPr>
        <p:spPr>
          <a:xfrm>
            <a:off x="5132710" y="2322576"/>
            <a:ext cx="192627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680" dirty="0"/>
          </a:p>
        </p:txBody>
      </p:sp>
      <p:sp>
        <p:nvSpPr>
          <p:cNvPr id="48" name="Text 45"/>
          <p:cNvSpPr txBox="1"/>
          <p:nvPr/>
        </p:nvSpPr>
        <p:spPr>
          <a:xfrm>
            <a:off x="5132710" y="2816352"/>
            <a:ext cx="19262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40" b="1" dirty="0">
                <a:solidFill>
                  <a:srgbClr val="15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</a:t>
            </a:r>
            <a:endParaRPr lang="en-US" sz="840" dirty="0"/>
          </a:p>
        </p:txBody>
      </p:sp>
      <p:sp>
        <p:nvSpPr>
          <p:cNvPr id="49" name="Shape 46"/>
          <p:cNvSpPr/>
          <p:nvPr/>
        </p:nvSpPr>
        <p:spPr>
          <a:xfrm>
            <a:off x="5132710" y="3328416"/>
            <a:ext cx="1926275" cy="201168"/>
          </a:xfrm>
          <a:prstGeom prst="roundRect">
            <a:avLst>
              <a:gd name="adj" fmla="val 50000"/>
            </a:avLst>
          </a:prstGeom>
          <a:solidFill>
            <a:srgbClr val="5C8A72"/>
          </a:solidFill>
          <a:ln/>
        </p:spPr>
      </p:sp>
      <p:sp>
        <p:nvSpPr>
          <p:cNvPr id="50" name="Text 47"/>
          <p:cNvSpPr txBox="1"/>
          <p:nvPr/>
        </p:nvSpPr>
        <p:spPr>
          <a:xfrm>
            <a:off x="5132710" y="3328416"/>
            <a:ext cx="192627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680" dirty="0"/>
          </a:p>
        </p:txBody>
      </p:sp>
      <p:sp>
        <p:nvSpPr>
          <p:cNvPr id="51" name="Text 48"/>
          <p:cNvSpPr txBox="1"/>
          <p:nvPr/>
        </p:nvSpPr>
        <p:spPr>
          <a:xfrm>
            <a:off x="5132710" y="3822192"/>
            <a:ext cx="19262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40" b="1" dirty="0">
                <a:solidFill>
                  <a:srgbClr val="15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840" dirty="0"/>
          </a:p>
        </p:txBody>
      </p:sp>
      <p:sp>
        <p:nvSpPr>
          <p:cNvPr id="52" name="Shape 49"/>
          <p:cNvSpPr/>
          <p:nvPr/>
        </p:nvSpPr>
        <p:spPr>
          <a:xfrm>
            <a:off x="5132710" y="4334256"/>
            <a:ext cx="1926275" cy="201168"/>
          </a:xfrm>
          <a:prstGeom prst="roundRect">
            <a:avLst>
              <a:gd name="adj" fmla="val 50000"/>
            </a:avLst>
          </a:prstGeom>
          <a:solidFill>
            <a:srgbClr val="5C8A72"/>
          </a:solidFill>
          <a:ln/>
        </p:spPr>
      </p:sp>
      <p:sp>
        <p:nvSpPr>
          <p:cNvPr id="53" name="Text 50"/>
          <p:cNvSpPr txBox="1"/>
          <p:nvPr/>
        </p:nvSpPr>
        <p:spPr>
          <a:xfrm>
            <a:off x="5132710" y="4334256"/>
            <a:ext cx="192627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680" dirty="0"/>
          </a:p>
        </p:txBody>
      </p:sp>
      <p:sp>
        <p:nvSpPr>
          <p:cNvPr id="54" name="Shape 51"/>
          <p:cNvSpPr/>
          <p:nvPr/>
        </p:nvSpPr>
        <p:spPr>
          <a:xfrm>
            <a:off x="7305873" y="1207008"/>
            <a:ext cx="2145731" cy="3566160"/>
          </a:xfrm>
          <a:prstGeom prst="roundRect">
            <a:avLst>
              <a:gd name="adj" fmla="val 3409"/>
            </a:avLst>
          </a:prstGeom>
          <a:solidFill>
            <a:srgbClr val="FFFFFF"/>
          </a:solidFill>
          <a:ln w="9525">
            <a:solidFill>
              <a:srgbClr val="D9E7E1"/>
            </a:solidFill>
            <a:prstDash val="solid"/>
          </a:ln>
          <a:effectLst>
            <a:outerShdw sx="100000" sy="100000" kx="0" ky="0" algn="bl" rotWithShape="0" blurRad="101600" dist="38100" dir="5400000">
              <a:srgbClr val="0A322C">
                <a:alpha val="18000"/>
              </a:srgbClr>
            </a:outerShdw>
          </a:effectLst>
        </p:spPr>
      </p:sp>
      <p:sp>
        <p:nvSpPr>
          <p:cNvPr id="55" name="Shape 52"/>
          <p:cNvSpPr/>
          <p:nvPr/>
        </p:nvSpPr>
        <p:spPr>
          <a:xfrm>
            <a:off x="7305873" y="1207008"/>
            <a:ext cx="2145731" cy="457200"/>
          </a:xfrm>
          <a:prstGeom prst="roundRect">
            <a:avLst>
              <a:gd name="adj" fmla="val 16000"/>
            </a:avLst>
          </a:prstGeom>
          <a:solidFill>
            <a:srgbClr val="0E4B43"/>
          </a:solidFill>
          <a:ln/>
        </p:spPr>
      </p:sp>
      <p:sp>
        <p:nvSpPr>
          <p:cNvPr id="56" name="Text 53"/>
          <p:cNvSpPr txBox="1"/>
          <p:nvPr/>
        </p:nvSpPr>
        <p:spPr>
          <a:xfrm>
            <a:off x="7397313" y="1207008"/>
            <a:ext cx="19628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/ MLOps</a:t>
            </a:r>
            <a:endParaRPr lang="en-US" sz="960" dirty="0"/>
          </a:p>
        </p:txBody>
      </p:sp>
      <p:sp>
        <p:nvSpPr>
          <p:cNvPr id="57" name="Text 54"/>
          <p:cNvSpPr txBox="1"/>
          <p:nvPr/>
        </p:nvSpPr>
        <p:spPr>
          <a:xfrm>
            <a:off x="7415601" y="1810512"/>
            <a:ext cx="19262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40" b="1" dirty="0">
                <a:solidFill>
                  <a:srgbClr val="15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/ LightGBM / CatBoost, SHAP</a:t>
            </a:r>
            <a:endParaRPr lang="en-US" sz="840" dirty="0"/>
          </a:p>
        </p:txBody>
      </p:sp>
      <p:sp>
        <p:nvSpPr>
          <p:cNvPr id="58" name="Shape 55"/>
          <p:cNvSpPr/>
          <p:nvPr/>
        </p:nvSpPr>
        <p:spPr>
          <a:xfrm>
            <a:off x="7415601" y="2322576"/>
            <a:ext cx="1926275" cy="201168"/>
          </a:xfrm>
          <a:prstGeom prst="roundRect">
            <a:avLst>
              <a:gd name="adj" fmla="val 50000"/>
            </a:avLst>
          </a:prstGeom>
          <a:solidFill>
            <a:srgbClr val="F3E4C8"/>
          </a:solidFill>
          <a:ln/>
        </p:spPr>
      </p:sp>
      <p:sp>
        <p:nvSpPr>
          <p:cNvPr id="59" name="Text 56"/>
          <p:cNvSpPr txBox="1"/>
          <p:nvPr/>
        </p:nvSpPr>
        <p:spPr>
          <a:xfrm>
            <a:off x="7415601" y="2322576"/>
            <a:ext cx="192627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C98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680" dirty="0"/>
          </a:p>
        </p:txBody>
      </p:sp>
      <p:sp>
        <p:nvSpPr>
          <p:cNvPr id="60" name="Text 57"/>
          <p:cNvSpPr txBox="1"/>
          <p:nvPr/>
        </p:nvSpPr>
        <p:spPr>
          <a:xfrm>
            <a:off x="7415601" y="2816352"/>
            <a:ext cx="19262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40" b="1" dirty="0">
                <a:solidFill>
                  <a:srgbClr val="15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Feast — feature store</a:t>
            </a:r>
            <a:endParaRPr lang="en-US" sz="840" dirty="0"/>
          </a:p>
        </p:txBody>
      </p:sp>
      <p:sp>
        <p:nvSpPr>
          <p:cNvPr id="61" name="Shape 58"/>
          <p:cNvSpPr/>
          <p:nvPr/>
        </p:nvSpPr>
        <p:spPr>
          <a:xfrm>
            <a:off x="7415601" y="3328416"/>
            <a:ext cx="1926275" cy="201168"/>
          </a:xfrm>
          <a:prstGeom prst="roundRect">
            <a:avLst>
              <a:gd name="adj" fmla="val 50000"/>
            </a:avLst>
          </a:prstGeom>
          <a:solidFill>
            <a:srgbClr val="E4EFE9"/>
          </a:solidFill>
          <a:ln/>
        </p:spPr>
      </p:sp>
      <p:sp>
        <p:nvSpPr>
          <p:cNvPr id="62" name="Text 59"/>
          <p:cNvSpPr txBox="1"/>
          <p:nvPr/>
        </p:nvSpPr>
        <p:spPr>
          <a:xfrm>
            <a:off x="7415601" y="3328416"/>
            <a:ext cx="192627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E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ADDITION</a:t>
            </a:r>
            <a:endParaRPr lang="en-US" sz="680" dirty="0"/>
          </a:p>
        </p:txBody>
      </p:sp>
      <p:sp>
        <p:nvSpPr>
          <p:cNvPr id="63" name="Text 60"/>
          <p:cNvSpPr txBox="1"/>
          <p:nvPr/>
        </p:nvSpPr>
        <p:spPr>
          <a:xfrm>
            <a:off x="7415601" y="3822192"/>
            <a:ext cx="19262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40" b="1" dirty="0">
                <a:solidFill>
                  <a:srgbClr val="15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 — experiment tracking</a:t>
            </a:r>
            <a:endParaRPr lang="en-US" sz="840" dirty="0"/>
          </a:p>
        </p:txBody>
      </p:sp>
      <p:sp>
        <p:nvSpPr>
          <p:cNvPr id="64" name="Shape 61"/>
          <p:cNvSpPr/>
          <p:nvPr/>
        </p:nvSpPr>
        <p:spPr>
          <a:xfrm>
            <a:off x="7415601" y="4334256"/>
            <a:ext cx="1926275" cy="201168"/>
          </a:xfrm>
          <a:prstGeom prst="roundRect">
            <a:avLst>
              <a:gd name="adj" fmla="val 50000"/>
            </a:avLst>
          </a:prstGeom>
          <a:solidFill>
            <a:srgbClr val="E4EFE9"/>
          </a:solidFill>
          <a:ln/>
        </p:spPr>
      </p:sp>
      <p:sp>
        <p:nvSpPr>
          <p:cNvPr id="65" name="Text 62"/>
          <p:cNvSpPr txBox="1"/>
          <p:nvPr/>
        </p:nvSpPr>
        <p:spPr>
          <a:xfrm>
            <a:off x="7415601" y="4334256"/>
            <a:ext cx="192627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E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ADDITION</a:t>
            </a:r>
            <a:endParaRPr lang="en-US" sz="680" dirty="0"/>
          </a:p>
        </p:txBody>
      </p:sp>
      <p:sp>
        <p:nvSpPr>
          <p:cNvPr id="66" name="Shape 63"/>
          <p:cNvSpPr/>
          <p:nvPr/>
        </p:nvSpPr>
        <p:spPr>
          <a:xfrm>
            <a:off x="9588764" y="1207008"/>
            <a:ext cx="2145731" cy="3566160"/>
          </a:xfrm>
          <a:prstGeom prst="roundRect">
            <a:avLst>
              <a:gd name="adj" fmla="val 3409"/>
            </a:avLst>
          </a:prstGeom>
          <a:solidFill>
            <a:srgbClr val="FFFFFF"/>
          </a:solidFill>
          <a:ln w="9525">
            <a:solidFill>
              <a:srgbClr val="D9E7E1"/>
            </a:solidFill>
            <a:prstDash val="solid"/>
          </a:ln>
          <a:effectLst>
            <a:outerShdw sx="100000" sy="100000" kx="0" ky="0" algn="bl" rotWithShape="0" blurRad="101600" dist="38100" dir="5400000">
              <a:srgbClr val="0A322C">
                <a:alpha val="18000"/>
              </a:srgbClr>
            </a:outerShdw>
          </a:effectLst>
        </p:spPr>
      </p:sp>
      <p:sp>
        <p:nvSpPr>
          <p:cNvPr id="67" name="Shape 64"/>
          <p:cNvSpPr/>
          <p:nvPr/>
        </p:nvSpPr>
        <p:spPr>
          <a:xfrm>
            <a:off x="9588764" y="1207008"/>
            <a:ext cx="2145731" cy="457200"/>
          </a:xfrm>
          <a:prstGeom prst="roundRect">
            <a:avLst>
              <a:gd name="adj" fmla="val 16000"/>
            </a:avLst>
          </a:prstGeom>
          <a:solidFill>
            <a:srgbClr val="0E4B43"/>
          </a:solidFill>
          <a:ln/>
        </p:spPr>
      </p:sp>
      <p:sp>
        <p:nvSpPr>
          <p:cNvPr id="68" name="Text 65"/>
          <p:cNvSpPr txBox="1"/>
          <p:nvPr/>
        </p:nvSpPr>
        <p:spPr>
          <a:xfrm>
            <a:off x="9680204" y="1207008"/>
            <a:ext cx="19628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 Validation</a:t>
            </a:r>
            <a:endParaRPr lang="en-US" sz="960" dirty="0"/>
          </a:p>
        </p:txBody>
      </p:sp>
      <p:sp>
        <p:nvSpPr>
          <p:cNvPr id="69" name="Text 66"/>
          <p:cNvSpPr txBox="1"/>
          <p:nvPr/>
        </p:nvSpPr>
        <p:spPr>
          <a:xfrm>
            <a:off x="9698492" y="1810512"/>
            <a:ext cx="19262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40" b="1" dirty="0">
                <a:solidFill>
                  <a:srgbClr val="15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Evidently — drift &amp; fairness</a:t>
            </a:r>
            <a:endParaRPr lang="en-US" sz="840" dirty="0"/>
          </a:p>
        </p:txBody>
      </p:sp>
      <p:sp>
        <p:nvSpPr>
          <p:cNvPr id="70" name="Shape 67"/>
          <p:cNvSpPr/>
          <p:nvPr/>
        </p:nvSpPr>
        <p:spPr>
          <a:xfrm>
            <a:off x="9698492" y="2322576"/>
            <a:ext cx="1926275" cy="201168"/>
          </a:xfrm>
          <a:prstGeom prst="roundRect">
            <a:avLst>
              <a:gd name="adj" fmla="val 50000"/>
            </a:avLst>
          </a:prstGeom>
          <a:solidFill>
            <a:srgbClr val="E4EFE9"/>
          </a:solidFill>
          <a:ln/>
        </p:spPr>
      </p:sp>
      <p:sp>
        <p:nvSpPr>
          <p:cNvPr id="71" name="Text 68"/>
          <p:cNvSpPr txBox="1"/>
          <p:nvPr/>
        </p:nvSpPr>
        <p:spPr>
          <a:xfrm>
            <a:off x="9698492" y="2322576"/>
            <a:ext cx="192627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E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ADDITION</a:t>
            </a:r>
            <a:endParaRPr lang="en-US" sz="680" dirty="0"/>
          </a:p>
        </p:txBody>
      </p:sp>
      <p:sp>
        <p:nvSpPr>
          <p:cNvPr id="72" name="Text 69"/>
          <p:cNvSpPr txBox="1"/>
          <p:nvPr/>
        </p:nvSpPr>
        <p:spPr>
          <a:xfrm>
            <a:off x="9698492" y="2816352"/>
            <a:ext cx="19262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40" b="1" dirty="0">
                <a:solidFill>
                  <a:srgbClr val="15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Deepchecks — data validation</a:t>
            </a:r>
            <a:endParaRPr lang="en-US" sz="840" dirty="0"/>
          </a:p>
        </p:txBody>
      </p:sp>
      <p:sp>
        <p:nvSpPr>
          <p:cNvPr id="73" name="Shape 70"/>
          <p:cNvSpPr/>
          <p:nvPr/>
        </p:nvSpPr>
        <p:spPr>
          <a:xfrm>
            <a:off x="9698492" y="3328416"/>
            <a:ext cx="1926275" cy="201168"/>
          </a:xfrm>
          <a:prstGeom prst="roundRect">
            <a:avLst>
              <a:gd name="adj" fmla="val 50000"/>
            </a:avLst>
          </a:prstGeom>
          <a:solidFill>
            <a:srgbClr val="E4EFE9"/>
          </a:solidFill>
          <a:ln/>
        </p:spPr>
      </p:sp>
      <p:sp>
        <p:nvSpPr>
          <p:cNvPr id="74" name="Text 71"/>
          <p:cNvSpPr txBox="1"/>
          <p:nvPr/>
        </p:nvSpPr>
        <p:spPr>
          <a:xfrm>
            <a:off x="9698492" y="3328416"/>
            <a:ext cx="192627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E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ADDITION</a:t>
            </a:r>
            <a:endParaRPr lang="en-US" sz="680" dirty="0"/>
          </a:p>
        </p:txBody>
      </p:sp>
      <p:sp>
        <p:nvSpPr>
          <p:cNvPr id="75" name="Text 72"/>
          <p:cNvSpPr txBox="1"/>
          <p:nvPr/>
        </p:nvSpPr>
        <p:spPr>
          <a:xfrm>
            <a:off x="9698492" y="3822192"/>
            <a:ext cx="19262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40" b="1" dirty="0">
                <a:solidFill>
                  <a:srgbClr val="15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TabICL v2 — secondary candidate runtime</a:t>
            </a:r>
            <a:endParaRPr lang="en-US" sz="840" dirty="0"/>
          </a:p>
        </p:txBody>
      </p:sp>
      <p:sp>
        <p:nvSpPr>
          <p:cNvPr id="76" name="Shape 73"/>
          <p:cNvSpPr/>
          <p:nvPr/>
        </p:nvSpPr>
        <p:spPr>
          <a:xfrm>
            <a:off x="9698492" y="4334256"/>
            <a:ext cx="1926275" cy="201168"/>
          </a:xfrm>
          <a:prstGeom prst="roundRect">
            <a:avLst>
              <a:gd name="adj" fmla="val 50000"/>
            </a:avLst>
          </a:prstGeom>
          <a:solidFill>
            <a:srgbClr val="E4EFE9"/>
          </a:solidFill>
          <a:ln/>
        </p:spPr>
      </p:sp>
      <p:sp>
        <p:nvSpPr>
          <p:cNvPr id="77" name="Text 74"/>
          <p:cNvSpPr txBox="1"/>
          <p:nvPr/>
        </p:nvSpPr>
        <p:spPr>
          <a:xfrm>
            <a:off x="9698492" y="4334256"/>
            <a:ext cx="192627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E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ADDITION</a:t>
            </a:r>
            <a:endParaRPr lang="en-US" sz="680" dirty="0"/>
          </a:p>
        </p:txBody>
      </p:sp>
      <p:sp>
        <p:nvSpPr>
          <p:cNvPr id="78" name="Shape 75"/>
          <p:cNvSpPr/>
          <p:nvPr/>
        </p:nvSpPr>
        <p:spPr>
          <a:xfrm>
            <a:off x="457200" y="4910328"/>
            <a:ext cx="11277295" cy="457200"/>
          </a:xfrm>
          <a:prstGeom prst="roundRect">
            <a:avLst>
              <a:gd name="adj" fmla="val 16000"/>
            </a:avLst>
          </a:prstGeom>
          <a:solidFill>
            <a:srgbClr val="E4EFE9"/>
          </a:solidFill>
          <a:ln/>
        </p:spPr>
      </p:sp>
      <p:sp>
        <p:nvSpPr>
          <p:cNvPr id="79" name="Text 76"/>
          <p:cNvSpPr txBox="1"/>
          <p:nvPr/>
        </p:nvSpPr>
        <p:spPr>
          <a:xfrm>
            <a:off x="640080" y="491032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15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Feast, MLflow, Evidently and Deepchecks were chosen because each is free and lightweight, matched to a small-team pilot — not Databricks Feature Store or Kubeflow, which would be over-engineering at this scale.</a:t>
            </a:r>
            <a:endParaRPr lang="en-US" sz="93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12064" cy="512064"/>
          </a:xfrm>
          <a:prstGeom prst="ellipse">
            <a:avLst/>
          </a:prstGeom>
          <a:solidFill>
            <a:srgbClr val="E4EFE9"/>
          </a:solidFill>
          <a:ln/>
        </p:spPr>
      </p:sp>
      <p:pic>
        <p:nvPicPr>
          <p:cNvPr id="3" name="Image 0" descr="/tmp/claude-0/-home-claude/f50031d9-b5ad-5737-9b32-1977a75a6c42/scratchpad/deck/icons/plug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0337" y="498897"/>
            <a:ext cx="245791" cy="245791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115568" y="365760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C98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3 · ARCHITECTURE &amp; TECH</a:t>
            </a:r>
            <a:endParaRPr lang="en-US" sz="1050" dirty="0"/>
          </a:p>
        </p:txBody>
      </p:sp>
      <p:sp>
        <p:nvSpPr>
          <p:cNvPr id="5" name="Text 2"/>
          <p:cNvSpPr txBox="1"/>
          <p:nvPr/>
        </p:nvSpPr>
        <p:spPr>
          <a:xfrm>
            <a:off x="1115568" y="5486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E4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API, DPI &amp; Institutional Integration</a:t>
            </a:r>
            <a:endParaRPr lang="en-US" sz="2700" dirty="0"/>
          </a:p>
        </p:txBody>
      </p:sp>
      <p:sp>
        <p:nvSpPr>
          <p:cNvPr id="6" name="Text 3"/>
          <p:cNvSpPr txBox="1"/>
          <p:nvPr/>
        </p:nvSpPr>
        <p:spPr>
          <a:xfrm>
            <a:off x="8808415" y="38404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CREDITTECH  ·  MID-TERM REVIEW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8808415" y="56692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76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14 / 20  ·  ARCHITECTURE &amp; TECH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" y="6419088"/>
            <a:ext cx="2182307" cy="310896"/>
          </a:xfrm>
          <a:prstGeom prst="roundRect">
            <a:avLst>
              <a:gd name="adj" fmla="val 50000"/>
            </a:avLst>
          </a:prstGeom>
          <a:solidFill>
            <a:srgbClr val="E4EFE9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457200" y="6419088"/>
            <a:ext cx="218230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spc="40" kern="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860" dirty="0"/>
          </a:p>
        </p:txBody>
      </p:sp>
      <p:sp>
        <p:nvSpPr>
          <p:cNvPr id="10" name="Shape 7"/>
          <p:cNvSpPr/>
          <p:nvPr/>
        </p:nvSpPr>
        <p:spPr>
          <a:xfrm>
            <a:off x="2730947" y="6419088"/>
            <a:ext cx="2182307" cy="310896"/>
          </a:xfrm>
          <a:prstGeom prst="roundRect">
            <a:avLst>
              <a:gd name="adj" fmla="val 50000"/>
            </a:avLst>
          </a:prstGeom>
          <a:solidFill>
            <a:srgbClr val="E4EFE9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2730947" y="6419088"/>
            <a:ext cx="218230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spc="40" kern="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AI PIPELINE</a:t>
            </a:r>
            <a:endParaRPr lang="en-US" sz="860" dirty="0"/>
          </a:p>
        </p:txBody>
      </p:sp>
      <p:sp>
        <p:nvSpPr>
          <p:cNvPr id="12" name="Shape 9"/>
          <p:cNvSpPr/>
          <p:nvPr/>
        </p:nvSpPr>
        <p:spPr>
          <a:xfrm>
            <a:off x="5004694" y="6419088"/>
            <a:ext cx="2182307" cy="310896"/>
          </a:xfrm>
          <a:prstGeom prst="roundRect">
            <a:avLst>
              <a:gd name="adj" fmla="val 50000"/>
            </a:avLst>
          </a:prstGeom>
          <a:solidFill>
            <a:srgbClr val="0E4B43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004694" y="6419088"/>
            <a:ext cx="218230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TECH</a:t>
            </a:r>
            <a:endParaRPr lang="en-US" sz="860" dirty="0"/>
          </a:p>
        </p:txBody>
      </p:sp>
      <p:sp>
        <p:nvSpPr>
          <p:cNvPr id="14" name="Shape 11"/>
          <p:cNvSpPr/>
          <p:nvPr/>
        </p:nvSpPr>
        <p:spPr>
          <a:xfrm>
            <a:off x="7278441" y="6419088"/>
            <a:ext cx="2182307" cy="310896"/>
          </a:xfrm>
          <a:prstGeom prst="roundRect">
            <a:avLst>
              <a:gd name="adj" fmla="val 50000"/>
            </a:avLst>
          </a:prstGeom>
          <a:solidFill>
            <a:srgbClr val="E4EFE9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278441" y="6419088"/>
            <a:ext cx="218230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spc="40" kern="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&amp; PILOT</a:t>
            </a:r>
            <a:endParaRPr lang="en-US" sz="860" dirty="0"/>
          </a:p>
        </p:txBody>
      </p:sp>
      <p:sp>
        <p:nvSpPr>
          <p:cNvPr id="16" name="Shape 13"/>
          <p:cNvSpPr/>
          <p:nvPr/>
        </p:nvSpPr>
        <p:spPr>
          <a:xfrm>
            <a:off x="9552188" y="6419088"/>
            <a:ext cx="2182307" cy="310896"/>
          </a:xfrm>
          <a:prstGeom prst="roundRect">
            <a:avLst>
              <a:gd name="adj" fmla="val 50000"/>
            </a:avLst>
          </a:prstGeom>
          <a:solidFill>
            <a:srgbClr val="E4EFE9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9552188" y="6419088"/>
            <a:ext cx="218230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spc="40" kern="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&amp; ROADMAP</a:t>
            </a:r>
            <a:endParaRPr lang="en-US" sz="860" dirty="0"/>
          </a:p>
        </p:txBody>
      </p:sp>
      <p:sp>
        <p:nvSpPr>
          <p:cNvPr id="18" name="Shape 15"/>
          <p:cNvSpPr/>
          <p:nvPr/>
        </p:nvSpPr>
        <p:spPr>
          <a:xfrm>
            <a:off x="457200" y="1207008"/>
            <a:ext cx="11277295" cy="310896"/>
          </a:xfrm>
          <a:prstGeom prst="roundRect">
            <a:avLst>
              <a:gd name="adj" fmla="val 20588"/>
            </a:avLst>
          </a:prstGeom>
          <a:solidFill>
            <a:srgbClr val="0E4B43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603504" y="1207008"/>
            <a:ext cx="110029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DIGITAL LENDING RAILS — CURRENT STATUS (2026)</a:t>
            </a:r>
            <a:endParaRPr lang="en-US" sz="11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72768"/>
          <a:ext cx="1127729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566160"/>
                <a:gridCol w="5330952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Framework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B4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B4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 as of this review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B43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0" dirty="0">
                          <a:solidFill>
                            <a:srgbClr val="1527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 Aggregator (AA)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0" dirty="0">
                          <a:solidFill>
                            <a:srgbClr val="1527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Consent-based sharing of banking/GST/income data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0" dirty="0">
                          <a:solidFill>
                            <a:srgbClr val="1527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Well-established — 112 dual FIP+FIU, 56 FIP-only, 410 FIU-only institutions; 2.2B+ accounts enabled, 112M+ users linked (PIB, Sept 2025). CreditTech’s primary rail today.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0" dirty="0">
                          <a:solidFill>
                            <a:srgbClr val="1527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OCEN (Open Credit Enablement Network)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0" dirty="0">
                          <a:solidFill>
                            <a:srgbClr val="1527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Standardised APIs connecting lenders, agents &amp; data providers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0" dirty="0">
                          <a:solidFill>
                            <a:srgbClr val="1527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pilots running — GeM Sahay, GST Sahay, Jan Aushadhi Kendra. Nearer-term integration target than ULI for the RE handoff contract.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0" dirty="0">
                          <a:solidFill>
                            <a:srgbClr val="1527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ULI (Unified Lending Interface)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0" dirty="0">
                          <a:solidFill>
                            <a:srgbClr val="1527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Standardised borrower financial &amp; non-financial data access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0" dirty="0">
                          <a:solidFill>
                            <a:srgbClr val="1527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Still in development, limited pilot coverage. Integration deliberately deferred — not built speculatively against an interface still in flux.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1" name="Shape 17"/>
          <p:cNvSpPr/>
          <p:nvPr/>
        </p:nvSpPr>
        <p:spPr>
          <a:xfrm>
            <a:off x="457200" y="3950208"/>
            <a:ext cx="11277295" cy="310896"/>
          </a:xfrm>
          <a:prstGeom prst="roundRect">
            <a:avLst>
              <a:gd name="adj" fmla="val 20588"/>
            </a:avLst>
          </a:prstGeom>
          <a:solidFill>
            <a:srgbClr val="5C8A72"/>
          </a:solidFill>
          <a:ln/>
        </p:spPr>
      </p:sp>
      <p:sp>
        <p:nvSpPr>
          <p:cNvPr id="22" name="Text 18"/>
          <p:cNvSpPr txBox="1"/>
          <p:nvPr/>
        </p:nvSpPr>
        <p:spPr>
          <a:xfrm>
            <a:off x="603504" y="3950208"/>
            <a:ext cx="110029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HANDOFF CONTRACT DESIGN</a:t>
            </a:r>
            <a:endParaRPr lang="en-US" sz="1150" dirty="0"/>
          </a:p>
        </p:txBody>
      </p:sp>
      <p:sp>
        <p:nvSpPr>
          <p:cNvPr id="23" name="Shape 19"/>
          <p:cNvSpPr/>
          <p:nvPr/>
        </p:nvSpPr>
        <p:spPr>
          <a:xfrm>
            <a:off x="457200" y="4261104"/>
            <a:ext cx="11277295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D9E7E1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640080" y="4407408"/>
            <a:ext cx="2514600" cy="1051560"/>
          </a:xfrm>
          <a:prstGeom prst="roundRect">
            <a:avLst>
              <a:gd name="adj" fmla="val 6957"/>
            </a:avLst>
          </a:prstGeom>
          <a:solidFill>
            <a:srgbClr val="E4EFE9"/>
          </a:solidFill>
          <a:ln w="9525">
            <a:solidFill>
              <a:srgbClr val="D9E7E1"/>
            </a:solidFill>
            <a:prstDash val="solid"/>
          </a:ln>
          <a:effectLst>
            <a:outerShdw sx="100000" sy="100000" kx="0" ky="0" algn="bl" rotWithShape="0" blurRad="101600" dist="38100" dir="5400000">
              <a:srgbClr val="0A322C">
                <a:alpha val="18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1732788" y="4498848"/>
            <a:ext cx="329184" cy="329184"/>
          </a:xfrm>
          <a:prstGeom prst="ellipse">
            <a:avLst/>
          </a:prstGeom>
          <a:solidFill>
            <a:srgbClr val="0E4B43"/>
          </a:solidFill>
          <a:ln/>
        </p:spPr>
      </p:sp>
      <p:pic>
        <p:nvPicPr>
          <p:cNvPr id="26" name="Image 1" descr="/tmp/claude-0/-home-claude/f50031d9-b5ad-5737-9b32-1977a75a6c42/scratchpad/deck/icons/plug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8376" y="4584436"/>
            <a:ext cx="158008" cy="158008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685800" y="4882896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endParaRPr lang="en-US" sz="860" dirty="0"/>
          </a:p>
        </p:txBody>
      </p:sp>
      <p:sp>
        <p:nvSpPr>
          <p:cNvPr id="28" name="Text 23"/>
          <p:cNvSpPr txBox="1"/>
          <p:nvPr/>
        </p:nvSpPr>
        <p:spPr>
          <a:xfrm>
            <a:off x="694944" y="4846320"/>
            <a:ext cx="2404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Data APIs</a:t>
            </a:r>
            <a:endParaRPr lang="en-US" sz="900" dirty="0"/>
          </a:p>
        </p:txBody>
      </p:sp>
      <p:sp>
        <p:nvSpPr>
          <p:cNvPr id="29" name="Text 24"/>
          <p:cNvSpPr txBox="1"/>
          <p:nvPr/>
        </p:nvSpPr>
        <p:spPr>
          <a:xfrm>
            <a:off x="694944" y="5065776"/>
            <a:ext cx="2404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AA, geospatial vendor, bureau/CIC, SHG federation</a:t>
            </a:r>
            <a:endParaRPr lang="en-US" sz="760" dirty="0"/>
          </a:p>
        </p:txBody>
      </p:sp>
      <p:sp>
        <p:nvSpPr>
          <p:cNvPr id="30" name="Text 25"/>
          <p:cNvSpPr txBox="1"/>
          <p:nvPr/>
        </p:nvSpPr>
        <p:spPr>
          <a:xfrm>
            <a:off x="3154680" y="4727448"/>
            <a:ext cx="2843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C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1" name="Shape 26"/>
          <p:cNvSpPr/>
          <p:nvPr/>
        </p:nvSpPr>
        <p:spPr>
          <a:xfrm>
            <a:off x="3439058" y="4407408"/>
            <a:ext cx="2514600" cy="1051560"/>
          </a:xfrm>
          <a:prstGeom prst="roundRect">
            <a:avLst>
              <a:gd name="adj" fmla="val 6957"/>
            </a:avLst>
          </a:prstGeom>
          <a:solidFill>
            <a:srgbClr val="E4EFE9"/>
          </a:solidFill>
          <a:ln w="9525">
            <a:solidFill>
              <a:srgbClr val="D9E7E1"/>
            </a:solidFill>
            <a:prstDash val="solid"/>
          </a:ln>
          <a:effectLst>
            <a:outerShdw sx="100000" sy="100000" kx="0" ky="0" algn="bl" rotWithShape="0" blurRad="101600" dist="38100" dir="5400000">
              <a:srgbClr val="0A322C">
                <a:alpha val="18000"/>
              </a:srgbClr>
            </a:outerShdw>
          </a:effectLst>
        </p:spPr>
      </p:sp>
      <p:sp>
        <p:nvSpPr>
          <p:cNvPr id="32" name="Shape 27"/>
          <p:cNvSpPr/>
          <p:nvPr/>
        </p:nvSpPr>
        <p:spPr>
          <a:xfrm>
            <a:off x="4531766" y="4498848"/>
            <a:ext cx="329184" cy="329184"/>
          </a:xfrm>
          <a:prstGeom prst="ellipse">
            <a:avLst/>
          </a:prstGeom>
          <a:solidFill>
            <a:srgbClr val="0E4B43"/>
          </a:solidFill>
          <a:ln/>
        </p:spPr>
      </p:sp>
      <p:pic>
        <p:nvPicPr>
          <p:cNvPr id="33" name="Image 2" descr="/tmp/claude-0/-home-claude/f50031d9-b5ad-5737-9b32-1977a75a6c42/scratchpad/deck/icons/shieldAl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354" y="4584436"/>
            <a:ext cx="158008" cy="158008"/>
          </a:xfrm>
          <a:prstGeom prst="rect">
            <a:avLst/>
          </a:prstGeom>
        </p:spPr>
      </p:pic>
      <p:sp>
        <p:nvSpPr>
          <p:cNvPr id="34" name="Text 28"/>
          <p:cNvSpPr txBox="1"/>
          <p:nvPr/>
        </p:nvSpPr>
        <p:spPr>
          <a:xfrm>
            <a:off x="3484778" y="4882896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endParaRPr lang="en-US" sz="860" dirty="0"/>
          </a:p>
        </p:txBody>
      </p:sp>
      <p:sp>
        <p:nvSpPr>
          <p:cNvPr id="35" name="Text 29"/>
          <p:cNvSpPr txBox="1"/>
          <p:nvPr/>
        </p:nvSpPr>
        <p:spPr>
          <a:xfrm>
            <a:off x="3493922" y="4846320"/>
            <a:ext cx="2404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Layer</a:t>
            </a:r>
            <a:endParaRPr lang="en-US" sz="900" dirty="0"/>
          </a:p>
        </p:txBody>
      </p:sp>
      <p:sp>
        <p:nvSpPr>
          <p:cNvPr id="36" name="Text 30"/>
          <p:cNvSpPr txBox="1"/>
          <p:nvPr/>
        </p:nvSpPr>
        <p:spPr>
          <a:xfrm>
            <a:off x="3493922" y="5065776"/>
            <a:ext cx="2404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+ consent-scope check per call</a:t>
            </a:r>
            <a:endParaRPr lang="en-US" sz="760" dirty="0"/>
          </a:p>
        </p:txBody>
      </p:sp>
      <p:sp>
        <p:nvSpPr>
          <p:cNvPr id="37" name="Text 31"/>
          <p:cNvSpPr txBox="1"/>
          <p:nvPr/>
        </p:nvSpPr>
        <p:spPr>
          <a:xfrm>
            <a:off x="5953658" y="4727448"/>
            <a:ext cx="2843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C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8" name="Shape 32"/>
          <p:cNvSpPr/>
          <p:nvPr/>
        </p:nvSpPr>
        <p:spPr>
          <a:xfrm>
            <a:off x="6238037" y="4407408"/>
            <a:ext cx="2514600" cy="1051560"/>
          </a:xfrm>
          <a:prstGeom prst="roundRect">
            <a:avLst>
              <a:gd name="adj" fmla="val 6957"/>
            </a:avLst>
          </a:prstGeom>
          <a:solidFill>
            <a:srgbClr val="E4EFE9"/>
          </a:solidFill>
          <a:ln w="9525">
            <a:solidFill>
              <a:srgbClr val="D9E7E1"/>
            </a:solidFill>
            <a:prstDash val="solid"/>
          </a:ln>
          <a:effectLst>
            <a:outerShdw sx="100000" sy="100000" kx="0" ky="0" algn="bl" rotWithShape="0" blurRad="101600" dist="38100" dir="5400000">
              <a:srgbClr val="0A322C">
                <a:alpha val="18000"/>
              </a:srgbClr>
            </a:outerShdw>
          </a:effectLst>
        </p:spPr>
      </p:sp>
      <p:sp>
        <p:nvSpPr>
          <p:cNvPr id="39" name="Shape 33"/>
          <p:cNvSpPr/>
          <p:nvPr/>
        </p:nvSpPr>
        <p:spPr>
          <a:xfrm>
            <a:off x="7330745" y="4498848"/>
            <a:ext cx="329184" cy="329184"/>
          </a:xfrm>
          <a:prstGeom prst="ellipse">
            <a:avLst/>
          </a:prstGeom>
          <a:solidFill>
            <a:srgbClr val="0E4B43"/>
          </a:solidFill>
          <a:ln/>
        </p:spPr>
      </p:sp>
      <p:pic>
        <p:nvPicPr>
          <p:cNvPr id="40" name="Image 3" descr="/tmp/claude-0/-home-claude/f50031d9-b5ad-5737-9b32-1977a75a6c42/scratchpad/deck/icons/brain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6333" y="4584436"/>
            <a:ext cx="158008" cy="158008"/>
          </a:xfrm>
          <a:prstGeom prst="rect">
            <a:avLst/>
          </a:prstGeom>
        </p:spPr>
      </p:pic>
      <p:sp>
        <p:nvSpPr>
          <p:cNvPr id="41" name="Text 34"/>
          <p:cNvSpPr txBox="1"/>
          <p:nvPr/>
        </p:nvSpPr>
        <p:spPr>
          <a:xfrm>
            <a:off x="6283757" y="4882896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endParaRPr lang="en-US" sz="860" dirty="0"/>
          </a:p>
        </p:txBody>
      </p:sp>
      <p:sp>
        <p:nvSpPr>
          <p:cNvPr id="42" name="Text 35"/>
          <p:cNvSpPr txBox="1"/>
          <p:nvPr/>
        </p:nvSpPr>
        <p:spPr>
          <a:xfrm>
            <a:off x="6292901" y="4846320"/>
            <a:ext cx="2404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→ Score</a:t>
            </a:r>
            <a:endParaRPr lang="en-US" sz="900" dirty="0"/>
          </a:p>
        </p:txBody>
      </p:sp>
      <p:sp>
        <p:nvSpPr>
          <p:cNvPr id="43" name="Text 36"/>
          <p:cNvSpPr txBox="1"/>
          <p:nvPr/>
        </p:nvSpPr>
        <p:spPr>
          <a:xfrm>
            <a:off x="6292901" y="5065776"/>
            <a:ext cx="2404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 → credit score + reason codes</a:t>
            </a:r>
            <a:endParaRPr lang="en-US" sz="760" dirty="0"/>
          </a:p>
        </p:txBody>
      </p:sp>
      <p:sp>
        <p:nvSpPr>
          <p:cNvPr id="44" name="Text 37"/>
          <p:cNvSpPr txBox="1"/>
          <p:nvPr/>
        </p:nvSpPr>
        <p:spPr>
          <a:xfrm>
            <a:off x="8752637" y="4727448"/>
            <a:ext cx="2843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C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5" name="Shape 38"/>
          <p:cNvSpPr/>
          <p:nvPr/>
        </p:nvSpPr>
        <p:spPr>
          <a:xfrm>
            <a:off x="9037015" y="4407408"/>
            <a:ext cx="2514600" cy="1051560"/>
          </a:xfrm>
          <a:prstGeom prst="roundRect">
            <a:avLst>
              <a:gd name="adj" fmla="val 6957"/>
            </a:avLst>
          </a:prstGeom>
          <a:solidFill>
            <a:srgbClr val="E4EFE9"/>
          </a:solidFill>
          <a:ln w="9525">
            <a:solidFill>
              <a:srgbClr val="D9E7E1"/>
            </a:solidFill>
            <a:prstDash val="solid"/>
          </a:ln>
          <a:effectLst>
            <a:outerShdw sx="100000" sy="100000" kx="0" ky="0" algn="bl" rotWithShape="0" blurRad="101600" dist="38100" dir="5400000">
              <a:srgbClr val="0A322C">
                <a:alpha val="18000"/>
              </a:srgbClr>
            </a:outerShdw>
          </a:effectLst>
        </p:spPr>
      </p:sp>
      <p:sp>
        <p:nvSpPr>
          <p:cNvPr id="46" name="Shape 39"/>
          <p:cNvSpPr/>
          <p:nvPr/>
        </p:nvSpPr>
        <p:spPr>
          <a:xfrm>
            <a:off x="10129723" y="4498848"/>
            <a:ext cx="329184" cy="329184"/>
          </a:xfrm>
          <a:prstGeom prst="ellipse">
            <a:avLst/>
          </a:prstGeom>
          <a:solidFill>
            <a:srgbClr val="0E4B43"/>
          </a:solidFill>
          <a:ln/>
        </p:spPr>
      </p:sp>
      <p:pic>
        <p:nvPicPr>
          <p:cNvPr id="47" name="Image 4" descr="/tmp/claude-0/-home-claude/f50031d9-b5ad-5737-9b32-1977a75a6c42/scratchpad/deck/icons/exchangeAlt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15311" y="4584436"/>
            <a:ext cx="158008" cy="158008"/>
          </a:xfrm>
          <a:prstGeom prst="rect">
            <a:avLst/>
          </a:prstGeom>
        </p:spPr>
      </p:pic>
      <p:sp>
        <p:nvSpPr>
          <p:cNvPr id="48" name="Text 40"/>
          <p:cNvSpPr txBox="1"/>
          <p:nvPr/>
        </p:nvSpPr>
        <p:spPr>
          <a:xfrm>
            <a:off x="9082735" y="4882896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endParaRPr lang="en-US" sz="860" dirty="0"/>
          </a:p>
        </p:txBody>
      </p:sp>
      <p:sp>
        <p:nvSpPr>
          <p:cNvPr id="49" name="Text 41"/>
          <p:cNvSpPr txBox="1"/>
          <p:nvPr/>
        </p:nvSpPr>
        <p:spPr>
          <a:xfrm>
            <a:off x="9091879" y="4846320"/>
            <a:ext cx="2404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Handoff</a:t>
            </a:r>
            <a:endParaRPr lang="en-US" sz="900" dirty="0"/>
          </a:p>
        </p:txBody>
      </p:sp>
      <p:sp>
        <p:nvSpPr>
          <p:cNvPr id="50" name="Text 42"/>
          <p:cNvSpPr txBox="1"/>
          <p:nvPr/>
        </p:nvSpPr>
        <p:spPr>
          <a:xfrm>
            <a:off x="9091879" y="5065776"/>
            <a:ext cx="2404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REST/JSON to partner RE, per agreed contract spec</a:t>
            </a:r>
            <a:endParaRPr lang="en-US" sz="76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12064" cy="512064"/>
          </a:xfrm>
          <a:prstGeom prst="ellipse">
            <a:avLst/>
          </a:prstGeom>
          <a:solidFill>
            <a:srgbClr val="E4EFE9"/>
          </a:solidFill>
          <a:ln/>
        </p:spPr>
      </p:sp>
      <p:pic>
        <p:nvPicPr>
          <p:cNvPr id="3" name="Image 0" descr="/tmp/claude-0/-home-claude/f50031d9-b5ad-5737-9b32-1977a75a6c42/scratchpad/deck/icons/route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0337" y="498897"/>
            <a:ext cx="245791" cy="245791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115568" y="365760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C98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3 · ARCHITECTURE &amp; TECH</a:t>
            </a:r>
            <a:endParaRPr lang="en-US" sz="1050" dirty="0"/>
          </a:p>
        </p:txBody>
      </p:sp>
      <p:sp>
        <p:nvSpPr>
          <p:cNvPr id="5" name="Text 2"/>
          <p:cNvSpPr txBox="1"/>
          <p:nvPr/>
        </p:nvSpPr>
        <p:spPr>
          <a:xfrm>
            <a:off x="1115568" y="5486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E4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Journey &amp; Process Flow</a:t>
            </a:r>
            <a:endParaRPr lang="en-US" sz="2700" dirty="0"/>
          </a:p>
        </p:txBody>
      </p:sp>
      <p:sp>
        <p:nvSpPr>
          <p:cNvPr id="6" name="Text 3"/>
          <p:cNvSpPr txBox="1"/>
          <p:nvPr/>
        </p:nvSpPr>
        <p:spPr>
          <a:xfrm>
            <a:off x="8808415" y="38404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CREDITTECH  ·  MID-TERM REVIEW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8808415" y="56692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76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15 / 20  ·  ARCHITECTURE &amp; TECH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" y="6419088"/>
            <a:ext cx="2182307" cy="310896"/>
          </a:xfrm>
          <a:prstGeom prst="roundRect">
            <a:avLst>
              <a:gd name="adj" fmla="val 50000"/>
            </a:avLst>
          </a:prstGeom>
          <a:solidFill>
            <a:srgbClr val="E4EFE9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457200" y="6419088"/>
            <a:ext cx="218230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spc="40" kern="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860" dirty="0"/>
          </a:p>
        </p:txBody>
      </p:sp>
      <p:sp>
        <p:nvSpPr>
          <p:cNvPr id="10" name="Shape 7"/>
          <p:cNvSpPr/>
          <p:nvPr/>
        </p:nvSpPr>
        <p:spPr>
          <a:xfrm>
            <a:off x="2730947" y="6419088"/>
            <a:ext cx="2182307" cy="310896"/>
          </a:xfrm>
          <a:prstGeom prst="roundRect">
            <a:avLst>
              <a:gd name="adj" fmla="val 50000"/>
            </a:avLst>
          </a:prstGeom>
          <a:solidFill>
            <a:srgbClr val="E4EFE9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2730947" y="6419088"/>
            <a:ext cx="218230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spc="40" kern="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AI PIPELINE</a:t>
            </a:r>
            <a:endParaRPr lang="en-US" sz="860" dirty="0"/>
          </a:p>
        </p:txBody>
      </p:sp>
      <p:sp>
        <p:nvSpPr>
          <p:cNvPr id="12" name="Shape 9"/>
          <p:cNvSpPr/>
          <p:nvPr/>
        </p:nvSpPr>
        <p:spPr>
          <a:xfrm>
            <a:off x="5004694" y="6419088"/>
            <a:ext cx="2182307" cy="310896"/>
          </a:xfrm>
          <a:prstGeom prst="roundRect">
            <a:avLst>
              <a:gd name="adj" fmla="val 50000"/>
            </a:avLst>
          </a:prstGeom>
          <a:solidFill>
            <a:srgbClr val="0E4B43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004694" y="6419088"/>
            <a:ext cx="218230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TECH</a:t>
            </a:r>
            <a:endParaRPr lang="en-US" sz="860" dirty="0"/>
          </a:p>
        </p:txBody>
      </p:sp>
      <p:sp>
        <p:nvSpPr>
          <p:cNvPr id="14" name="Shape 11"/>
          <p:cNvSpPr/>
          <p:nvPr/>
        </p:nvSpPr>
        <p:spPr>
          <a:xfrm>
            <a:off x="7278441" y="6419088"/>
            <a:ext cx="2182307" cy="310896"/>
          </a:xfrm>
          <a:prstGeom prst="roundRect">
            <a:avLst>
              <a:gd name="adj" fmla="val 50000"/>
            </a:avLst>
          </a:prstGeom>
          <a:solidFill>
            <a:srgbClr val="E4EFE9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278441" y="6419088"/>
            <a:ext cx="218230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spc="40" kern="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&amp; PILOT</a:t>
            </a:r>
            <a:endParaRPr lang="en-US" sz="860" dirty="0"/>
          </a:p>
        </p:txBody>
      </p:sp>
      <p:sp>
        <p:nvSpPr>
          <p:cNvPr id="16" name="Shape 13"/>
          <p:cNvSpPr/>
          <p:nvPr/>
        </p:nvSpPr>
        <p:spPr>
          <a:xfrm>
            <a:off x="9552188" y="6419088"/>
            <a:ext cx="2182307" cy="310896"/>
          </a:xfrm>
          <a:prstGeom prst="roundRect">
            <a:avLst>
              <a:gd name="adj" fmla="val 50000"/>
            </a:avLst>
          </a:prstGeom>
          <a:solidFill>
            <a:srgbClr val="E4EFE9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9552188" y="6419088"/>
            <a:ext cx="218230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spc="40" kern="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&amp; ROADMAP</a:t>
            </a:r>
            <a:endParaRPr lang="en-US" sz="860" dirty="0"/>
          </a:p>
        </p:txBody>
      </p:sp>
      <p:sp>
        <p:nvSpPr>
          <p:cNvPr id="18" name="Shape 15"/>
          <p:cNvSpPr/>
          <p:nvPr/>
        </p:nvSpPr>
        <p:spPr>
          <a:xfrm>
            <a:off x="457200" y="1207008"/>
            <a:ext cx="1788109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D9E7E1"/>
            </a:solidFill>
            <a:prstDash val="solid"/>
          </a:ln>
          <a:effectLst>
            <a:outerShdw sx="100000" sy="100000" kx="0" ky="0" algn="bl" rotWithShape="0" blurRad="101600" dist="38100" dir="5400000">
              <a:srgbClr val="0A322C">
                <a:alpha val="1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1177519" y="1316736"/>
            <a:ext cx="347472" cy="347472"/>
          </a:xfrm>
          <a:prstGeom prst="ellipse">
            <a:avLst/>
          </a:prstGeom>
          <a:solidFill>
            <a:srgbClr val="0E4B43"/>
          </a:solidFill>
          <a:ln/>
        </p:spPr>
      </p:sp>
      <p:pic>
        <p:nvPicPr>
          <p:cNvPr id="20" name="Image 1" descr="/tmp/claude-0/-home-claude/f50031d9-b5ad-5737-9b32-1977a75a6c42/scratchpad/deck/icons/mobileAl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7861" y="1407079"/>
            <a:ext cx="166787" cy="166787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530352" y="1709928"/>
            <a:ext cx="164180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00" b="1" dirty="0">
                <a:solidFill>
                  <a:srgbClr val="0E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Borrower approaches Bank Sakhi / app</a:t>
            </a:r>
            <a:endParaRPr lang="en-US" sz="800" dirty="0"/>
          </a:p>
        </p:txBody>
      </p:sp>
      <p:sp>
        <p:nvSpPr>
          <p:cNvPr id="22" name="Text 18"/>
          <p:cNvSpPr txBox="1"/>
          <p:nvPr/>
        </p:nvSpPr>
        <p:spPr>
          <a:xfrm>
            <a:off x="2245309" y="1591056"/>
            <a:ext cx="109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C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2355037" y="1207008"/>
            <a:ext cx="1788109" cy="1051560"/>
          </a:xfrm>
          <a:prstGeom prst="roundRect">
            <a:avLst>
              <a:gd name="adj" fmla="val 6957"/>
            </a:avLst>
          </a:prstGeom>
          <a:solidFill>
            <a:srgbClr val="E4EFE9"/>
          </a:solidFill>
          <a:ln w="9525">
            <a:solidFill>
              <a:srgbClr val="D9E7E1"/>
            </a:solidFill>
            <a:prstDash val="solid"/>
          </a:ln>
          <a:effectLst>
            <a:outerShdw sx="100000" sy="100000" kx="0" ky="0" algn="bl" rotWithShape="0" blurRad="101600" dist="38100" dir="5400000">
              <a:srgbClr val="0A322C">
                <a:alpha val="18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3075356" y="1316736"/>
            <a:ext cx="347472" cy="347472"/>
          </a:xfrm>
          <a:prstGeom prst="ellipse">
            <a:avLst/>
          </a:prstGeom>
          <a:solidFill>
            <a:srgbClr val="0E4B43"/>
          </a:solidFill>
          <a:ln/>
        </p:spPr>
      </p:sp>
      <p:pic>
        <p:nvPicPr>
          <p:cNvPr id="25" name="Image 2" descr="/tmp/claude-0/-home-claude/f50031d9-b5ad-5737-9b32-1977a75a6c42/scratchpad/deck/icons/fingerprin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5699" y="1407079"/>
            <a:ext cx="166787" cy="166787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2428189" y="1709928"/>
            <a:ext cx="164180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00" b="1" dirty="0">
                <a:solidFill>
                  <a:srgbClr val="0E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Aadhaar e-KYC + AA consent capture</a:t>
            </a:r>
            <a:endParaRPr lang="en-US" sz="800" dirty="0"/>
          </a:p>
        </p:txBody>
      </p:sp>
      <p:sp>
        <p:nvSpPr>
          <p:cNvPr id="27" name="Text 22"/>
          <p:cNvSpPr txBox="1"/>
          <p:nvPr/>
        </p:nvSpPr>
        <p:spPr>
          <a:xfrm>
            <a:off x="4143146" y="1591056"/>
            <a:ext cx="109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C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28" name="Shape 23"/>
          <p:cNvSpPr/>
          <p:nvPr/>
        </p:nvSpPr>
        <p:spPr>
          <a:xfrm>
            <a:off x="4252874" y="1207008"/>
            <a:ext cx="1788109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D9E7E1"/>
            </a:solidFill>
            <a:prstDash val="solid"/>
          </a:ln>
          <a:effectLst>
            <a:outerShdw sx="100000" sy="100000" kx="0" ky="0" algn="bl" rotWithShape="0" blurRad="101600" dist="38100" dir="5400000">
              <a:srgbClr val="0A322C">
                <a:alpha val="18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4973193" y="1316736"/>
            <a:ext cx="347472" cy="347472"/>
          </a:xfrm>
          <a:prstGeom prst="ellipse">
            <a:avLst/>
          </a:prstGeom>
          <a:solidFill>
            <a:srgbClr val="0E4B43"/>
          </a:solidFill>
          <a:ln/>
        </p:spPr>
      </p:sp>
      <p:pic>
        <p:nvPicPr>
          <p:cNvPr id="30" name="Image 3" descr="/tmp/claude-0/-home-claude/f50031d9-b5ad-5737-9b32-1977a75a6c42/scratchpad/deck/icons/fileContract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3536" y="1407079"/>
            <a:ext cx="166787" cy="166787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4326026" y="1709928"/>
            <a:ext cx="164180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00" b="1" dirty="0">
                <a:solidFill>
                  <a:srgbClr val="0E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Consent recorded — hash-chained, revocable</a:t>
            </a:r>
            <a:endParaRPr lang="en-US" sz="800" dirty="0"/>
          </a:p>
        </p:txBody>
      </p:sp>
      <p:sp>
        <p:nvSpPr>
          <p:cNvPr id="32" name="Text 26"/>
          <p:cNvSpPr txBox="1"/>
          <p:nvPr/>
        </p:nvSpPr>
        <p:spPr>
          <a:xfrm>
            <a:off x="6040984" y="1591056"/>
            <a:ext cx="109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C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33" name="Shape 27"/>
          <p:cNvSpPr/>
          <p:nvPr/>
        </p:nvSpPr>
        <p:spPr>
          <a:xfrm>
            <a:off x="6150712" y="1207008"/>
            <a:ext cx="1788109" cy="1051560"/>
          </a:xfrm>
          <a:prstGeom prst="roundRect">
            <a:avLst>
              <a:gd name="adj" fmla="val 6957"/>
            </a:avLst>
          </a:prstGeom>
          <a:solidFill>
            <a:srgbClr val="E4EFE9"/>
          </a:solidFill>
          <a:ln w="9525">
            <a:solidFill>
              <a:srgbClr val="D9E7E1"/>
            </a:solidFill>
            <a:prstDash val="solid"/>
          </a:ln>
          <a:effectLst>
            <a:outerShdw sx="100000" sy="100000" kx="0" ky="0" algn="bl" rotWithShape="0" blurRad="101600" dist="38100" dir="5400000">
              <a:srgbClr val="0A322C">
                <a:alpha val="18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6871030" y="1316736"/>
            <a:ext cx="347472" cy="347472"/>
          </a:xfrm>
          <a:prstGeom prst="ellipse">
            <a:avLst/>
          </a:prstGeom>
          <a:solidFill>
            <a:srgbClr val="0E4B43"/>
          </a:solidFill>
          <a:ln/>
        </p:spPr>
      </p:sp>
      <p:pic>
        <p:nvPicPr>
          <p:cNvPr id="35" name="Image 4" descr="/tmp/claude-0/-home-claude/f50031d9-b5ad-5737-9b32-1977a75a6c42/scratchpad/deck/icons/exchangeAlt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61373" y="1407079"/>
            <a:ext cx="166787" cy="166787"/>
          </a:xfrm>
          <a:prstGeom prst="rect">
            <a:avLst/>
          </a:prstGeom>
        </p:spPr>
      </p:pic>
      <p:sp>
        <p:nvSpPr>
          <p:cNvPr id="36" name="Text 29"/>
          <p:cNvSpPr txBox="1"/>
          <p:nvPr/>
        </p:nvSpPr>
        <p:spPr>
          <a:xfrm>
            <a:off x="6223864" y="1709928"/>
            <a:ext cx="164180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00" b="1" dirty="0">
                <a:solidFill>
                  <a:srgbClr val="0E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Parallel data pull: AA / Geospatial / Bureau / SHG</a:t>
            </a:r>
            <a:endParaRPr lang="en-US" sz="800" dirty="0"/>
          </a:p>
        </p:txBody>
      </p:sp>
      <p:sp>
        <p:nvSpPr>
          <p:cNvPr id="37" name="Text 30"/>
          <p:cNvSpPr txBox="1"/>
          <p:nvPr/>
        </p:nvSpPr>
        <p:spPr>
          <a:xfrm>
            <a:off x="7938821" y="1591056"/>
            <a:ext cx="109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C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38" name="Shape 31"/>
          <p:cNvSpPr/>
          <p:nvPr/>
        </p:nvSpPr>
        <p:spPr>
          <a:xfrm>
            <a:off x="8048549" y="1207008"/>
            <a:ext cx="1788109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D9E7E1"/>
            </a:solidFill>
            <a:prstDash val="solid"/>
          </a:ln>
          <a:effectLst>
            <a:outerShdw sx="100000" sy="100000" kx="0" ky="0" algn="bl" rotWithShape="0" blurRad="101600" dist="38100" dir="5400000">
              <a:srgbClr val="0A322C">
                <a:alpha val="18000"/>
              </a:srgbClr>
            </a:outerShdw>
          </a:effectLst>
        </p:spPr>
      </p:sp>
      <p:sp>
        <p:nvSpPr>
          <p:cNvPr id="39" name="Shape 32"/>
          <p:cNvSpPr/>
          <p:nvPr/>
        </p:nvSpPr>
        <p:spPr>
          <a:xfrm>
            <a:off x="8768867" y="1316736"/>
            <a:ext cx="347472" cy="347472"/>
          </a:xfrm>
          <a:prstGeom prst="ellipse">
            <a:avLst/>
          </a:prstGeom>
          <a:solidFill>
            <a:srgbClr val="0E4B43"/>
          </a:solidFill>
          <a:ln/>
        </p:spPr>
      </p:sp>
      <p:pic>
        <p:nvPicPr>
          <p:cNvPr id="40" name="Image 5" descr="/tmp/claude-0/-home-claude/f50031d9-b5ad-5737-9b32-1977a75a6c42/scratchpad/deck/icons/random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59210" y="1407079"/>
            <a:ext cx="166787" cy="166787"/>
          </a:xfrm>
          <a:prstGeom prst="rect">
            <a:avLst/>
          </a:prstGeom>
        </p:spPr>
      </p:pic>
      <p:sp>
        <p:nvSpPr>
          <p:cNvPr id="41" name="Text 33"/>
          <p:cNvSpPr txBox="1"/>
          <p:nvPr/>
        </p:nvSpPr>
        <p:spPr>
          <a:xfrm>
            <a:off x="8121701" y="1709928"/>
            <a:ext cx="164180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00" b="1" dirty="0">
                <a:solidFill>
                  <a:srgbClr val="0E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Graceful degradation if a rail is unreachable</a:t>
            </a:r>
            <a:endParaRPr lang="en-US" sz="800" dirty="0"/>
          </a:p>
        </p:txBody>
      </p:sp>
      <p:sp>
        <p:nvSpPr>
          <p:cNvPr id="42" name="Text 34"/>
          <p:cNvSpPr txBox="1"/>
          <p:nvPr/>
        </p:nvSpPr>
        <p:spPr>
          <a:xfrm>
            <a:off x="9836658" y="1591056"/>
            <a:ext cx="109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C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43" name="Shape 35"/>
          <p:cNvSpPr/>
          <p:nvPr/>
        </p:nvSpPr>
        <p:spPr>
          <a:xfrm>
            <a:off x="9946386" y="1207008"/>
            <a:ext cx="1788109" cy="1051560"/>
          </a:xfrm>
          <a:prstGeom prst="roundRect">
            <a:avLst>
              <a:gd name="adj" fmla="val 6957"/>
            </a:avLst>
          </a:prstGeom>
          <a:solidFill>
            <a:srgbClr val="E4EFE9"/>
          </a:solidFill>
          <a:ln w="9525">
            <a:solidFill>
              <a:srgbClr val="D9E7E1"/>
            </a:solidFill>
            <a:prstDash val="solid"/>
          </a:ln>
          <a:effectLst>
            <a:outerShdw sx="100000" sy="100000" kx="0" ky="0" algn="bl" rotWithShape="0" blurRad="101600" dist="38100" dir="5400000">
              <a:srgbClr val="0A322C">
                <a:alpha val="18000"/>
              </a:srgbClr>
            </a:outerShdw>
          </a:effectLst>
        </p:spPr>
      </p:sp>
      <p:sp>
        <p:nvSpPr>
          <p:cNvPr id="44" name="Shape 36"/>
          <p:cNvSpPr/>
          <p:nvPr/>
        </p:nvSpPr>
        <p:spPr>
          <a:xfrm>
            <a:off x="10666705" y="1316736"/>
            <a:ext cx="347472" cy="347472"/>
          </a:xfrm>
          <a:prstGeom prst="ellipse">
            <a:avLst/>
          </a:prstGeom>
          <a:solidFill>
            <a:srgbClr val="0E4B43"/>
          </a:solidFill>
          <a:ln/>
        </p:spPr>
      </p:sp>
      <p:pic>
        <p:nvPicPr>
          <p:cNvPr id="45" name="Image 6" descr="/tmp/claude-0/-home-claude/f50031d9-b5ad-5737-9b32-1977a75a6c42/scratchpad/deck/icons/brain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57047" y="1407079"/>
            <a:ext cx="166787" cy="166787"/>
          </a:xfrm>
          <a:prstGeom prst="rect">
            <a:avLst/>
          </a:prstGeom>
        </p:spPr>
      </p:pic>
      <p:sp>
        <p:nvSpPr>
          <p:cNvPr id="46" name="Text 37"/>
          <p:cNvSpPr txBox="1"/>
          <p:nvPr/>
        </p:nvSpPr>
        <p:spPr>
          <a:xfrm>
            <a:off x="10019538" y="1709928"/>
            <a:ext cx="164180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00" b="1" dirty="0">
                <a:solidFill>
                  <a:srgbClr val="0E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Feature computation + scoring</a:t>
            </a:r>
            <a:endParaRPr lang="en-US" sz="800" dirty="0"/>
          </a:p>
        </p:txBody>
      </p:sp>
      <p:sp>
        <p:nvSpPr>
          <p:cNvPr id="47" name="Shape 38"/>
          <p:cNvSpPr/>
          <p:nvPr/>
        </p:nvSpPr>
        <p:spPr>
          <a:xfrm>
            <a:off x="457200" y="2505456"/>
            <a:ext cx="2167677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D9E7E1"/>
            </a:solidFill>
            <a:prstDash val="solid"/>
          </a:ln>
          <a:effectLst>
            <a:outerShdw sx="100000" sy="100000" kx="0" ky="0" algn="bl" rotWithShape="0" blurRad="101600" dist="38100" dir="5400000">
              <a:srgbClr val="0A322C">
                <a:alpha val="18000"/>
              </a:srgbClr>
            </a:outerShdw>
          </a:effectLst>
        </p:spPr>
      </p:sp>
      <p:sp>
        <p:nvSpPr>
          <p:cNvPr id="48" name="Shape 39"/>
          <p:cNvSpPr/>
          <p:nvPr/>
        </p:nvSpPr>
        <p:spPr>
          <a:xfrm>
            <a:off x="1367302" y="2615184"/>
            <a:ext cx="347472" cy="347472"/>
          </a:xfrm>
          <a:prstGeom prst="ellipse">
            <a:avLst/>
          </a:prstGeom>
          <a:solidFill>
            <a:srgbClr val="0E4B43"/>
          </a:solidFill>
          <a:ln/>
        </p:spPr>
      </p:sp>
      <p:pic>
        <p:nvPicPr>
          <p:cNvPr id="49" name="Image 7" descr="/tmp/claude-0/-home-claude/f50031d9-b5ad-5737-9b32-1977a75a6c42/scratchpad/deck/icons/lightbulb_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57645" y="2705527"/>
            <a:ext cx="166787" cy="166787"/>
          </a:xfrm>
          <a:prstGeom prst="rect">
            <a:avLst/>
          </a:prstGeom>
        </p:spPr>
      </p:pic>
      <p:sp>
        <p:nvSpPr>
          <p:cNvPr id="50" name="Text 40"/>
          <p:cNvSpPr txBox="1"/>
          <p:nvPr/>
        </p:nvSpPr>
        <p:spPr>
          <a:xfrm>
            <a:off x="530352" y="3008376"/>
            <a:ext cx="2021373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00" b="1" dirty="0">
                <a:solidFill>
                  <a:srgbClr val="0E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Score + confidence band + bilingual reason codes</a:t>
            </a:r>
            <a:endParaRPr lang="en-US" sz="800" dirty="0"/>
          </a:p>
        </p:txBody>
      </p:sp>
      <p:sp>
        <p:nvSpPr>
          <p:cNvPr id="51" name="Text 41"/>
          <p:cNvSpPr txBox="1"/>
          <p:nvPr/>
        </p:nvSpPr>
        <p:spPr>
          <a:xfrm>
            <a:off x="2624877" y="2889504"/>
            <a:ext cx="109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C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52" name="Shape 42"/>
          <p:cNvSpPr/>
          <p:nvPr/>
        </p:nvSpPr>
        <p:spPr>
          <a:xfrm>
            <a:off x="2734605" y="2505456"/>
            <a:ext cx="2167677" cy="1051560"/>
          </a:xfrm>
          <a:prstGeom prst="roundRect">
            <a:avLst>
              <a:gd name="adj" fmla="val 6957"/>
            </a:avLst>
          </a:prstGeom>
          <a:solidFill>
            <a:srgbClr val="E4EFE9"/>
          </a:solidFill>
          <a:ln w="9525">
            <a:solidFill>
              <a:srgbClr val="D9E7E1"/>
            </a:solidFill>
            <a:prstDash val="solid"/>
          </a:ln>
          <a:effectLst>
            <a:outerShdw sx="100000" sy="100000" kx="0" ky="0" algn="bl" rotWithShape="0" blurRad="101600" dist="38100" dir="5400000">
              <a:srgbClr val="0A322C">
                <a:alpha val="18000"/>
              </a:srgbClr>
            </a:outerShdw>
          </a:effectLst>
        </p:spPr>
      </p:sp>
      <p:sp>
        <p:nvSpPr>
          <p:cNvPr id="53" name="Shape 43"/>
          <p:cNvSpPr/>
          <p:nvPr/>
        </p:nvSpPr>
        <p:spPr>
          <a:xfrm>
            <a:off x="3644707" y="2615184"/>
            <a:ext cx="347472" cy="347472"/>
          </a:xfrm>
          <a:prstGeom prst="ellipse">
            <a:avLst/>
          </a:prstGeom>
          <a:solidFill>
            <a:srgbClr val="0E4B43"/>
          </a:solidFill>
          <a:ln/>
        </p:spPr>
      </p:sp>
      <p:pic>
        <p:nvPicPr>
          <p:cNvPr id="54" name="Image 8" descr="/tmp/claude-0/-home-claude/f50031d9-b5ad-5737-9b32-1977a75a6c42/scratchpad/deck/icons/eye_whit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35050" y="2705527"/>
            <a:ext cx="166787" cy="166787"/>
          </a:xfrm>
          <a:prstGeom prst="rect">
            <a:avLst/>
          </a:prstGeom>
        </p:spPr>
      </p:pic>
      <p:sp>
        <p:nvSpPr>
          <p:cNvPr id="55" name="Text 44"/>
          <p:cNvSpPr txBox="1"/>
          <p:nvPr/>
        </p:nvSpPr>
        <p:spPr>
          <a:xfrm>
            <a:off x="2807757" y="3008376"/>
            <a:ext cx="2021373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00" b="1" dirty="0">
                <a:solidFill>
                  <a:srgbClr val="0E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Loan officer reviews on decision dashboard</a:t>
            </a:r>
            <a:endParaRPr lang="en-US" sz="800" dirty="0"/>
          </a:p>
        </p:txBody>
      </p:sp>
      <p:sp>
        <p:nvSpPr>
          <p:cNvPr id="56" name="Text 45"/>
          <p:cNvSpPr txBox="1"/>
          <p:nvPr/>
        </p:nvSpPr>
        <p:spPr>
          <a:xfrm>
            <a:off x="4902281" y="2889504"/>
            <a:ext cx="109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C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57" name="Shape 46"/>
          <p:cNvSpPr/>
          <p:nvPr/>
        </p:nvSpPr>
        <p:spPr>
          <a:xfrm>
            <a:off x="5012009" y="2505456"/>
            <a:ext cx="2167677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D9E7E1"/>
            </a:solidFill>
            <a:prstDash val="solid"/>
          </a:ln>
          <a:effectLst>
            <a:outerShdw sx="100000" sy="100000" kx="0" ky="0" algn="bl" rotWithShape="0" blurRad="101600" dist="38100" dir="5400000">
              <a:srgbClr val="0A322C">
                <a:alpha val="18000"/>
              </a:srgbClr>
            </a:outerShdw>
          </a:effectLst>
        </p:spPr>
      </p:sp>
      <p:sp>
        <p:nvSpPr>
          <p:cNvPr id="58" name="Shape 47"/>
          <p:cNvSpPr/>
          <p:nvPr/>
        </p:nvSpPr>
        <p:spPr>
          <a:xfrm>
            <a:off x="5922112" y="2615184"/>
            <a:ext cx="347472" cy="347472"/>
          </a:xfrm>
          <a:prstGeom prst="ellipse">
            <a:avLst/>
          </a:prstGeom>
          <a:solidFill>
            <a:srgbClr val="0E4B43"/>
          </a:solidFill>
          <a:ln/>
        </p:spPr>
      </p:sp>
      <p:pic>
        <p:nvPicPr>
          <p:cNvPr id="59" name="Image 9" descr="/tmp/claude-0/-home-claude/f50031d9-b5ad-5737-9b32-1977a75a6c42/scratchpad/deck/icons/userCheck_whit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12454" y="2705527"/>
            <a:ext cx="166787" cy="166787"/>
          </a:xfrm>
          <a:prstGeom prst="rect">
            <a:avLst/>
          </a:prstGeom>
        </p:spPr>
      </p:pic>
      <p:sp>
        <p:nvSpPr>
          <p:cNvPr id="60" name="Text 48"/>
          <p:cNvSpPr txBox="1"/>
          <p:nvPr/>
        </p:nvSpPr>
        <p:spPr>
          <a:xfrm>
            <a:off x="5085161" y="3008376"/>
            <a:ext cx="2021373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00" b="1" dirty="0">
                <a:solidFill>
                  <a:srgbClr val="0E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Officer approves / rejects / requests info (override logged)</a:t>
            </a:r>
            <a:endParaRPr lang="en-US" sz="800" dirty="0"/>
          </a:p>
        </p:txBody>
      </p:sp>
      <p:sp>
        <p:nvSpPr>
          <p:cNvPr id="61" name="Text 49"/>
          <p:cNvSpPr txBox="1"/>
          <p:nvPr/>
        </p:nvSpPr>
        <p:spPr>
          <a:xfrm>
            <a:off x="7179686" y="2889504"/>
            <a:ext cx="109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C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62" name="Shape 50"/>
          <p:cNvSpPr/>
          <p:nvPr/>
        </p:nvSpPr>
        <p:spPr>
          <a:xfrm>
            <a:off x="7289414" y="2505456"/>
            <a:ext cx="2167677" cy="1051560"/>
          </a:xfrm>
          <a:prstGeom prst="roundRect">
            <a:avLst>
              <a:gd name="adj" fmla="val 6957"/>
            </a:avLst>
          </a:prstGeom>
          <a:solidFill>
            <a:srgbClr val="E4EFE9"/>
          </a:solidFill>
          <a:ln w="9525">
            <a:solidFill>
              <a:srgbClr val="D9E7E1"/>
            </a:solidFill>
            <a:prstDash val="solid"/>
          </a:ln>
          <a:effectLst>
            <a:outerShdw sx="100000" sy="100000" kx="0" ky="0" algn="bl" rotWithShape="0" blurRad="101600" dist="38100" dir="5400000">
              <a:srgbClr val="0A322C">
                <a:alpha val="18000"/>
              </a:srgbClr>
            </a:outerShdw>
          </a:effectLst>
        </p:spPr>
      </p:sp>
      <p:sp>
        <p:nvSpPr>
          <p:cNvPr id="63" name="Shape 51"/>
          <p:cNvSpPr/>
          <p:nvPr/>
        </p:nvSpPr>
        <p:spPr>
          <a:xfrm>
            <a:off x="8199516" y="2615184"/>
            <a:ext cx="347472" cy="347472"/>
          </a:xfrm>
          <a:prstGeom prst="ellipse">
            <a:avLst/>
          </a:prstGeom>
          <a:solidFill>
            <a:srgbClr val="0E4B43"/>
          </a:solidFill>
          <a:ln/>
        </p:spPr>
      </p:sp>
      <p:pic>
        <p:nvPicPr>
          <p:cNvPr id="64" name="Image 10" descr="/tmp/claude-0/-home-claude/f50031d9-b5ad-5737-9b32-1977a75a6c42/scratchpad/deck/icons/link_white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89859" y="2705527"/>
            <a:ext cx="166787" cy="166787"/>
          </a:xfrm>
          <a:prstGeom prst="rect">
            <a:avLst/>
          </a:prstGeom>
        </p:spPr>
      </p:pic>
      <p:sp>
        <p:nvSpPr>
          <p:cNvPr id="65" name="Text 52"/>
          <p:cNvSpPr txBox="1"/>
          <p:nvPr/>
        </p:nvSpPr>
        <p:spPr>
          <a:xfrm>
            <a:off x="7362566" y="3008376"/>
            <a:ext cx="2021373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00" b="1" dirty="0">
                <a:solidFill>
                  <a:srgbClr val="0E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Structured handoff to partner RE</a:t>
            </a:r>
            <a:endParaRPr lang="en-US" sz="800" dirty="0"/>
          </a:p>
        </p:txBody>
      </p:sp>
      <p:sp>
        <p:nvSpPr>
          <p:cNvPr id="66" name="Text 53"/>
          <p:cNvSpPr txBox="1"/>
          <p:nvPr/>
        </p:nvSpPr>
        <p:spPr>
          <a:xfrm>
            <a:off x="9457091" y="2889504"/>
            <a:ext cx="109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C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67" name="Shape 54"/>
          <p:cNvSpPr/>
          <p:nvPr/>
        </p:nvSpPr>
        <p:spPr>
          <a:xfrm>
            <a:off x="9566819" y="2505456"/>
            <a:ext cx="2167677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D9E7E1"/>
            </a:solidFill>
            <a:prstDash val="solid"/>
          </a:ln>
          <a:effectLst>
            <a:outerShdw sx="100000" sy="100000" kx="0" ky="0" algn="bl" rotWithShape="0" blurRad="101600" dist="38100" dir="5400000">
              <a:srgbClr val="0A322C">
                <a:alpha val="18000"/>
              </a:srgbClr>
            </a:outerShdw>
          </a:effectLst>
        </p:spPr>
      </p:sp>
      <p:sp>
        <p:nvSpPr>
          <p:cNvPr id="68" name="Shape 55"/>
          <p:cNvSpPr/>
          <p:nvPr/>
        </p:nvSpPr>
        <p:spPr>
          <a:xfrm>
            <a:off x="10476921" y="2615184"/>
            <a:ext cx="347472" cy="347472"/>
          </a:xfrm>
          <a:prstGeom prst="ellipse">
            <a:avLst/>
          </a:prstGeom>
          <a:solidFill>
            <a:srgbClr val="0E4B43"/>
          </a:solidFill>
          <a:ln/>
        </p:spPr>
      </p:sp>
      <p:pic>
        <p:nvPicPr>
          <p:cNvPr id="69" name="Image 11" descr="/tmp/claude-0/-home-claude/f50031d9-b5ad-5737-9b32-1977a75a6c42/scratchpad/deck/icons/bell_white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567264" y="2705527"/>
            <a:ext cx="166787" cy="166787"/>
          </a:xfrm>
          <a:prstGeom prst="rect">
            <a:avLst/>
          </a:prstGeom>
        </p:spPr>
      </p:pic>
      <p:sp>
        <p:nvSpPr>
          <p:cNvPr id="70" name="Text 56"/>
          <p:cNvSpPr txBox="1"/>
          <p:nvPr/>
        </p:nvSpPr>
        <p:spPr>
          <a:xfrm>
            <a:off x="9639971" y="3008376"/>
            <a:ext cx="2021373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00" b="1" dirty="0">
                <a:solidFill>
                  <a:srgbClr val="0E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Borrower notified — appeal channel available</a:t>
            </a:r>
            <a:endParaRPr lang="en-US" sz="800" dirty="0"/>
          </a:p>
        </p:txBody>
      </p:sp>
      <p:sp>
        <p:nvSpPr>
          <p:cNvPr id="71" name="Shape 57"/>
          <p:cNvSpPr/>
          <p:nvPr/>
        </p:nvSpPr>
        <p:spPr>
          <a:xfrm>
            <a:off x="457200" y="3813048"/>
            <a:ext cx="11277295" cy="777240"/>
          </a:xfrm>
          <a:prstGeom prst="roundRect">
            <a:avLst>
              <a:gd name="adj" fmla="val 9412"/>
            </a:avLst>
          </a:prstGeom>
          <a:solidFill>
            <a:srgbClr val="F3E4C8"/>
          </a:solidFill>
          <a:ln/>
        </p:spPr>
      </p:sp>
      <p:sp>
        <p:nvSpPr>
          <p:cNvPr id="72" name="Text 58"/>
          <p:cNvSpPr txBox="1"/>
          <p:nvPr/>
        </p:nvSpPr>
        <p:spPr>
          <a:xfrm>
            <a:off x="640080" y="390448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60" kern="0" dirty="0">
                <a:solidFill>
                  <a:srgbClr val="B54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CLAIMED</a:t>
            </a:r>
            <a:endParaRPr lang="en-US" sz="950" dirty="0"/>
          </a:p>
        </p:txBody>
      </p:sp>
      <p:sp>
        <p:nvSpPr>
          <p:cNvPr id="73" name="Text 59"/>
          <p:cNvSpPr txBox="1"/>
          <p:nvPr/>
        </p:nvSpPr>
        <p:spPr>
          <a:xfrm>
            <a:off x="640080" y="413308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5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this score is regulator-approved or production-ready. It is a pilot-stage decision-support output, subject to the model promotion gate, human officer review, and external regulatory sign-offs tracked separately.</a:t>
            </a:r>
            <a:endParaRPr lang="en-US" sz="950" dirty="0"/>
          </a:p>
        </p:txBody>
      </p:sp>
      <p:sp>
        <p:nvSpPr>
          <p:cNvPr id="74" name="Shape 60"/>
          <p:cNvSpPr/>
          <p:nvPr/>
        </p:nvSpPr>
        <p:spPr>
          <a:xfrm>
            <a:off x="457200" y="4727448"/>
            <a:ext cx="11277295" cy="310896"/>
          </a:xfrm>
          <a:prstGeom prst="roundRect">
            <a:avLst>
              <a:gd name="adj" fmla="val 20588"/>
            </a:avLst>
          </a:prstGeom>
          <a:solidFill>
            <a:srgbClr val="0E4B43"/>
          </a:solidFill>
          <a:ln/>
        </p:spPr>
      </p:sp>
      <p:sp>
        <p:nvSpPr>
          <p:cNvPr id="75" name="Text 61"/>
          <p:cNvSpPr txBox="1"/>
          <p:nvPr/>
        </p:nvSpPr>
        <p:spPr>
          <a:xfrm>
            <a:off x="603504" y="4727448"/>
            <a:ext cx="110029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</a:t>
            </a:r>
            <a:endParaRPr lang="en-US" sz="1150" dirty="0"/>
          </a:p>
        </p:txBody>
      </p:sp>
      <p:sp>
        <p:nvSpPr>
          <p:cNvPr id="76" name="Shape 62"/>
          <p:cNvSpPr/>
          <p:nvPr/>
        </p:nvSpPr>
        <p:spPr>
          <a:xfrm>
            <a:off x="457200" y="5038344"/>
            <a:ext cx="11277295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D9E7E1"/>
            </a:solidFill>
            <a:prstDash val="solid"/>
          </a:ln>
        </p:spPr>
      </p:sp>
      <p:sp>
        <p:nvSpPr>
          <p:cNvPr id="77" name="Text 63"/>
          <p:cNvSpPr txBox="1"/>
          <p:nvPr/>
        </p:nvSpPr>
        <p:spPr>
          <a:xfrm>
            <a:off x="594360" y="5038344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5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 is calibrated via log-odds (Points-to-Double-Odds = 20, base odds 50:1 @ 600) into a 0–100 score, a 300–900 bureau-equivalent scale, and a Low/Med/High risk category — always a decision-support signal to the loan officer, never an automated approval.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12064" cy="512064"/>
          </a:xfrm>
          <a:prstGeom prst="ellipse">
            <a:avLst/>
          </a:prstGeom>
          <a:solidFill>
            <a:srgbClr val="E4EFE9"/>
          </a:solidFill>
          <a:ln/>
        </p:spPr>
      </p:sp>
      <p:pic>
        <p:nvPicPr>
          <p:cNvPr id="3" name="Image 0" descr="/tmp/claude-0/-home-claude/f50031d9-b5ad-5737-9b32-1977a75a6c42/scratchpad/deck/icons/shieldAlt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0337" y="498897"/>
            <a:ext cx="245791" cy="245791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115568" y="365760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C98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4 · TRUST &amp; PILOT</a:t>
            </a:r>
            <a:endParaRPr lang="en-US" sz="1050" dirty="0"/>
          </a:p>
        </p:txBody>
      </p:sp>
      <p:sp>
        <p:nvSpPr>
          <p:cNvPr id="5" name="Text 2"/>
          <p:cNvSpPr txBox="1"/>
          <p:nvPr/>
        </p:nvSpPr>
        <p:spPr>
          <a:xfrm>
            <a:off x="1115568" y="5486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E4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Security, Privacy &amp; Regulatory Framework</a:t>
            </a:r>
            <a:endParaRPr lang="en-US" sz="2700" dirty="0"/>
          </a:p>
        </p:txBody>
      </p:sp>
      <p:sp>
        <p:nvSpPr>
          <p:cNvPr id="6" name="Text 3"/>
          <p:cNvSpPr txBox="1"/>
          <p:nvPr/>
        </p:nvSpPr>
        <p:spPr>
          <a:xfrm>
            <a:off x="8808415" y="38404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CREDITTECH  ·  MID-TERM REVIEW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8808415" y="56692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76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16 / 20  ·  TRUST &amp; PILOT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" y="6419088"/>
            <a:ext cx="2182307" cy="310896"/>
          </a:xfrm>
          <a:prstGeom prst="roundRect">
            <a:avLst>
              <a:gd name="adj" fmla="val 50000"/>
            </a:avLst>
          </a:prstGeom>
          <a:solidFill>
            <a:srgbClr val="E4EFE9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457200" y="6419088"/>
            <a:ext cx="218230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spc="40" kern="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860" dirty="0"/>
          </a:p>
        </p:txBody>
      </p:sp>
      <p:sp>
        <p:nvSpPr>
          <p:cNvPr id="10" name="Shape 7"/>
          <p:cNvSpPr/>
          <p:nvPr/>
        </p:nvSpPr>
        <p:spPr>
          <a:xfrm>
            <a:off x="2730947" y="6419088"/>
            <a:ext cx="2182307" cy="310896"/>
          </a:xfrm>
          <a:prstGeom prst="roundRect">
            <a:avLst>
              <a:gd name="adj" fmla="val 50000"/>
            </a:avLst>
          </a:prstGeom>
          <a:solidFill>
            <a:srgbClr val="E4EFE9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2730947" y="6419088"/>
            <a:ext cx="218230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spc="40" kern="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AI PIPELINE</a:t>
            </a:r>
            <a:endParaRPr lang="en-US" sz="860" dirty="0"/>
          </a:p>
        </p:txBody>
      </p:sp>
      <p:sp>
        <p:nvSpPr>
          <p:cNvPr id="12" name="Shape 9"/>
          <p:cNvSpPr/>
          <p:nvPr/>
        </p:nvSpPr>
        <p:spPr>
          <a:xfrm>
            <a:off x="5004694" y="6419088"/>
            <a:ext cx="2182307" cy="310896"/>
          </a:xfrm>
          <a:prstGeom prst="roundRect">
            <a:avLst>
              <a:gd name="adj" fmla="val 50000"/>
            </a:avLst>
          </a:prstGeom>
          <a:solidFill>
            <a:srgbClr val="E4EFE9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004694" y="6419088"/>
            <a:ext cx="218230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spc="40" kern="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TECH</a:t>
            </a:r>
            <a:endParaRPr lang="en-US" sz="860" dirty="0"/>
          </a:p>
        </p:txBody>
      </p:sp>
      <p:sp>
        <p:nvSpPr>
          <p:cNvPr id="14" name="Shape 11"/>
          <p:cNvSpPr/>
          <p:nvPr/>
        </p:nvSpPr>
        <p:spPr>
          <a:xfrm>
            <a:off x="7278441" y="6419088"/>
            <a:ext cx="2182307" cy="310896"/>
          </a:xfrm>
          <a:prstGeom prst="roundRect">
            <a:avLst>
              <a:gd name="adj" fmla="val 50000"/>
            </a:avLst>
          </a:prstGeom>
          <a:solidFill>
            <a:srgbClr val="0E4B43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278441" y="6419088"/>
            <a:ext cx="218230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&amp; PILOT</a:t>
            </a:r>
            <a:endParaRPr lang="en-US" sz="860" dirty="0"/>
          </a:p>
        </p:txBody>
      </p:sp>
      <p:sp>
        <p:nvSpPr>
          <p:cNvPr id="16" name="Shape 13"/>
          <p:cNvSpPr/>
          <p:nvPr/>
        </p:nvSpPr>
        <p:spPr>
          <a:xfrm>
            <a:off x="9552188" y="6419088"/>
            <a:ext cx="2182307" cy="310896"/>
          </a:xfrm>
          <a:prstGeom prst="roundRect">
            <a:avLst>
              <a:gd name="adj" fmla="val 50000"/>
            </a:avLst>
          </a:prstGeom>
          <a:solidFill>
            <a:srgbClr val="E4EFE9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9552188" y="6419088"/>
            <a:ext cx="218230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spc="40" kern="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&amp; ROADMAP</a:t>
            </a:r>
            <a:endParaRPr lang="en-US" sz="860" dirty="0"/>
          </a:p>
        </p:txBody>
      </p:sp>
      <p:sp>
        <p:nvSpPr>
          <p:cNvPr id="18" name="Shape 15"/>
          <p:cNvSpPr/>
          <p:nvPr/>
        </p:nvSpPr>
        <p:spPr>
          <a:xfrm>
            <a:off x="457200" y="1207008"/>
            <a:ext cx="2716454" cy="566928"/>
          </a:xfrm>
          <a:prstGeom prst="roundRect">
            <a:avLst>
              <a:gd name="adj" fmla="val 12903"/>
            </a:avLst>
          </a:prstGeom>
          <a:solidFill>
            <a:srgbClr val="0E4B43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548640" y="1207008"/>
            <a:ext cx="253357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RBI Digital Lending Directions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3310814" y="1207008"/>
            <a:ext cx="2716454" cy="566928"/>
          </a:xfrm>
          <a:prstGeom prst="roundRect">
            <a:avLst>
              <a:gd name="adj" fmla="val 12903"/>
            </a:avLst>
          </a:prstGeom>
          <a:solidFill>
            <a:srgbClr val="0E4B43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3402254" y="1207008"/>
            <a:ext cx="253357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DPDP Act 2023 + Rules 2025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6164428" y="1207008"/>
            <a:ext cx="2716454" cy="566928"/>
          </a:xfrm>
          <a:prstGeom prst="roundRect">
            <a:avLst>
              <a:gd name="adj" fmla="val 12903"/>
            </a:avLst>
          </a:prstGeom>
          <a:solidFill>
            <a:srgbClr val="0E4B43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6255868" y="1207008"/>
            <a:ext cx="253357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 Master Directions (FIU role)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9018041" y="1207008"/>
            <a:ext cx="2716454" cy="566928"/>
          </a:xfrm>
          <a:prstGeom prst="roundRect">
            <a:avLst>
              <a:gd name="adj" fmla="val 12903"/>
            </a:avLst>
          </a:prstGeom>
          <a:solidFill>
            <a:srgbClr val="0E4B43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9109481" y="1207008"/>
            <a:ext cx="253357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Information Companies Act 2005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457200" y="1984248"/>
            <a:ext cx="11277295" cy="310896"/>
          </a:xfrm>
          <a:prstGeom prst="roundRect">
            <a:avLst>
              <a:gd name="adj" fmla="val 20588"/>
            </a:avLst>
          </a:prstGeom>
          <a:solidFill>
            <a:srgbClr val="B5473D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603504" y="1984248"/>
            <a:ext cx="110029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MODEL &amp; MITIGATION</a:t>
            </a:r>
            <a:endParaRPr lang="en-US" sz="11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350008"/>
          <a:ext cx="11277295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6245352"/>
                <a:gridCol w="173736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Threat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B4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B4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B4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0" dirty="0">
                          <a:solidFill>
                            <a:srgbClr val="1527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OTP / e-KYC brute force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0" dirty="0">
                          <a:solidFill>
                            <a:srgbClr val="1527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Rate limiting, attempt lockout, Aadhaar-mandated biometric fallback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0" dirty="0">
                          <a:solidFill>
                            <a:srgbClr val="1527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0" dirty="0">
                          <a:solidFill>
                            <a:srgbClr val="1527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PII leakage via logs/backups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0" dirty="0">
                          <a:solidFill>
                            <a:srgbClr val="1527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Structured logging with PII scrubbing, encrypted backups, separate PII/feature stores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0" dirty="0">
                          <a:solidFill>
                            <a:srgbClr val="1527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0" dirty="0">
                          <a:solidFill>
                            <a:srgbClr val="1527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Compromised AA/OCEN credentials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0" dirty="0">
                          <a:solidFill>
                            <a:srgbClr val="1527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mTLS, credential rotation, least-privilege service accounts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0" dirty="0">
                          <a:solidFill>
                            <a:srgbClr val="1527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0" dirty="0">
                          <a:solidFill>
                            <a:srgbClr val="1527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Model-input manipulation (score gaming)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0" dirty="0">
                          <a:solidFill>
                            <a:srgbClr val="1527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 validation, anomaly detection on feature distributions, human-in-loop decisioning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0" dirty="0">
                          <a:solidFill>
                            <a:srgbClr val="1527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0" dirty="0">
                          <a:solidFill>
                            <a:srgbClr val="1527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Proxy-variable bias creeping into features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0" dirty="0">
                          <a:solidFill>
                            <a:srgbClr val="1527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Explicit feature-exclusion list, fairness gate before every promotion, independent audit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0" dirty="0">
                          <a:solidFill>
                            <a:srgbClr val="1527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9" name="Shape 25"/>
          <p:cNvSpPr/>
          <p:nvPr/>
        </p:nvSpPr>
        <p:spPr>
          <a:xfrm>
            <a:off x="457200" y="4681728"/>
            <a:ext cx="11277295" cy="685800"/>
          </a:xfrm>
          <a:prstGeom prst="roundRect">
            <a:avLst>
              <a:gd name="adj" fmla="val 10667"/>
            </a:avLst>
          </a:prstGeom>
          <a:solidFill>
            <a:srgbClr val="E4EFE9"/>
          </a:solidFill>
          <a:ln/>
        </p:spPr>
      </p:sp>
      <p:sp>
        <p:nvSpPr>
          <p:cNvPr id="30" name="Text 26"/>
          <p:cNvSpPr txBox="1"/>
          <p:nvPr/>
        </p:nvSpPr>
        <p:spPr>
          <a:xfrm>
            <a:off x="640080" y="4754880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0E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LEDGER — NOT BLOCKCHAIN (ADR-6)</a:t>
            </a:r>
            <a:endParaRPr lang="en-US" sz="950" dirty="0"/>
          </a:p>
        </p:txBody>
      </p:sp>
      <p:sp>
        <p:nvSpPr>
          <p:cNvPr id="31" name="Text 27"/>
          <p:cNvSpPr txBox="1"/>
          <p:nvPr/>
        </p:nvSpPr>
        <p:spPr>
          <a:xfrm>
            <a:off x="640080" y="4956048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80" dirty="0">
                <a:solidFill>
                  <a:srgbClr val="15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Cryptographically hash-chained, append-only, revocable consent ledger; ≥7-year DPDP-mapped retention lifecycle. A deliberate, documented decision — the same tamper-evidence guarantee as a permissioned blockchain, without the operational cost of running blockchain nodes in a low-connectivity rural deployment.</a:t>
            </a:r>
            <a:endParaRPr lang="en-US" sz="88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12064" cy="512064"/>
          </a:xfrm>
          <a:prstGeom prst="ellipse">
            <a:avLst/>
          </a:prstGeom>
          <a:solidFill>
            <a:srgbClr val="E4EFE9"/>
          </a:solidFill>
          <a:ln/>
        </p:spPr>
      </p:sp>
      <p:pic>
        <p:nvPicPr>
          <p:cNvPr id="3" name="Image 0" descr="/tmp/claude-0/-home-claude/f50031d9-b5ad-5737-9b32-1977a75a6c42/scratchpad/deck/icons/mapMarked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0337" y="498897"/>
            <a:ext cx="245791" cy="245791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115568" y="365760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C98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4 · TRUST &amp; PILOT</a:t>
            </a:r>
            <a:endParaRPr lang="en-US" sz="1050" dirty="0"/>
          </a:p>
        </p:txBody>
      </p:sp>
      <p:sp>
        <p:nvSpPr>
          <p:cNvPr id="5" name="Text 2"/>
          <p:cNvSpPr txBox="1"/>
          <p:nvPr/>
        </p:nvSpPr>
        <p:spPr>
          <a:xfrm>
            <a:off x="1115568" y="5486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E4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4–5 Village Pilot Design</a:t>
            </a:r>
            <a:endParaRPr lang="en-US" sz="2700" dirty="0"/>
          </a:p>
        </p:txBody>
      </p:sp>
      <p:sp>
        <p:nvSpPr>
          <p:cNvPr id="6" name="Text 3"/>
          <p:cNvSpPr txBox="1"/>
          <p:nvPr/>
        </p:nvSpPr>
        <p:spPr>
          <a:xfrm>
            <a:off x="8808415" y="38404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CREDITTECH  ·  MID-TERM REVIEW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8808415" y="56692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76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17 / 20  ·  TRUST &amp; PILOT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" y="6419088"/>
            <a:ext cx="2182307" cy="310896"/>
          </a:xfrm>
          <a:prstGeom prst="roundRect">
            <a:avLst>
              <a:gd name="adj" fmla="val 50000"/>
            </a:avLst>
          </a:prstGeom>
          <a:solidFill>
            <a:srgbClr val="E4EFE9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457200" y="6419088"/>
            <a:ext cx="218230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spc="40" kern="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860" dirty="0"/>
          </a:p>
        </p:txBody>
      </p:sp>
      <p:sp>
        <p:nvSpPr>
          <p:cNvPr id="10" name="Shape 7"/>
          <p:cNvSpPr/>
          <p:nvPr/>
        </p:nvSpPr>
        <p:spPr>
          <a:xfrm>
            <a:off x="2730947" y="6419088"/>
            <a:ext cx="2182307" cy="310896"/>
          </a:xfrm>
          <a:prstGeom prst="roundRect">
            <a:avLst>
              <a:gd name="adj" fmla="val 50000"/>
            </a:avLst>
          </a:prstGeom>
          <a:solidFill>
            <a:srgbClr val="E4EFE9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2730947" y="6419088"/>
            <a:ext cx="218230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spc="40" kern="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AI PIPELINE</a:t>
            </a:r>
            <a:endParaRPr lang="en-US" sz="860" dirty="0"/>
          </a:p>
        </p:txBody>
      </p:sp>
      <p:sp>
        <p:nvSpPr>
          <p:cNvPr id="12" name="Shape 9"/>
          <p:cNvSpPr/>
          <p:nvPr/>
        </p:nvSpPr>
        <p:spPr>
          <a:xfrm>
            <a:off x="5004694" y="6419088"/>
            <a:ext cx="2182307" cy="310896"/>
          </a:xfrm>
          <a:prstGeom prst="roundRect">
            <a:avLst>
              <a:gd name="adj" fmla="val 50000"/>
            </a:avLst>
          </a:prstGeom>
          <a:solidFill>
            <a:srgbClr val="E4EFE9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004694" y="6419088"/>
            <a:ext cx="218230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spc="40" kern="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TECH</a:t>
            </a:r>
            <a:endParaRPr lang="en-US" sz="860" dirty="0"/>
          </a:p>
        </p:txBody>
      </p:sp>
      <p:sp>
        <p:nvSpPr>
          <p:cNvPr id="14" name="Shape 11"/>
          <p:cNvSpPr/>
          <p:nvPr/>
        </p:nvSpPr>
        <p:spPr>
          <a:xfrm>
            <a:off x="7278441" y="6419088"/>
            <a:ext cx="2182307" cy="310896"/>
          </a:xfrm>
          <a:prstGeom prst="roundRect">
            <a:avLst>
              <a:gd name="adj" fmla="val 50000"/>
            </a:avLst>
          </a:prstGeom>
          <a:solidFill>
            <a:srgbClr val="0E4B43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278441" y="6419088"/>
            <a:ext cx="218230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&amp; PILOT</a:t>
            </a:r>
            <a:endParaRPr lang="en-US" sz="860" dirty="0"/>
          </a:p>
        </p:txBody>
      </p:sp>
      <p:sp>
        <p:nvSpPr>
          <p:cNvPr id="16" name="Shape 13"/>
          <p:cNvSpPr/>
          <p:nvPr/>
        </p:nvSpPr>
        <p:spPr>
          <a:xfrm>
            <a:off x="9552188" y="6419088"/>
            <a:ext cx="2182307" cy="310896"/>
          </a:xfrm>
          <a:prstGeom prst="roundRect">
            <a:avLst>
              <a:gd name="adj" fmla="val 50000"/>
            </a:avLst>
          </a:prstGeom>
          <a:solidFill>
            <a:srgbClr val="E4EFE9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9552188" y="6419088"/>
            <a:ext cx="218230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spc="40" kern="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&amp; ROADMAP</a:t>
            </a:r>
            <a:endParaRPr lang="en-US" sz="860" dirty="0"/>
          </a:p>
        </p:txBody>
      </p:sp>
      <p:sp>
        <p:nvSpPr>
          <p:cNvPr id="18" name="Shape 15"/>
          <p:cNvSpPr/>
          <p:nvPr/>
        </p:nvSpPr>
        <p:spPr>
          <a:xfrm>
            <a:off x="457200" y="1207008"/>
            <a:ext cx="11277295" cy="310896"/>
          </a:xfrm>
          <a:prstGeom prst="roundRect">
            <a:avLst>
              <a:gd name="adj" fmla="val 20588"/>
            </a:avLst>
          </a:prstGeom>
          <a:solidFill>
            <a:srgbClr val="0E4B43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603504" y="1207008"/>
            <a:ext cx="110029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VILLAGE SELECTION ARCHETYPES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457200" y="1572768"/>
            <a:ext cx="1962851" cy="1005840"/>
          </a:xfrm>
          <a:prstGeom prst="roundRect">
            <a:avLst>
              <a:gd name="adj" fmla="val 7273"/>
            </a:avLst>
          </a:prstGeom>
          <a:solidFill>
            <a:srgbClr val="E4EFE9"/>
          </a:solidFill>
          <a:ln w="9525">
            <a:solidFill>
              <a:srgbClr val="D9E7E1"/>
            </a:solidFill>
            <a:prstDash val="solid"/>
          </a:ln>
          <a:effectLst>
            <a:outerShdw sx="100000" sy="100000" kx="0" ky="0" algn="bl" rotWithShape="0" blurRad="101600" dist="38100" dir="5400000">
              <a:srgbClr val="0A322C">
                <a:alpha val="1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1255746" y="1700784"/>
            <a:ext cx="365760" cy="365760"/>
          </a:xfrm>
          <a:prstGeom prst="ellipse">
            <a:avLst/>
          </a:prstGeom>
          <a:solidFill>
            <a:srgbClr val="0E4B43"/>
          </a:solidFill>
          <a:ln/>
        </p:spPr>
      </p:sp>
      <p:pic>
        <p:nvPicPr>
          <p:cNvPr id="22" name="Image 1" descr="/tmp/claude-0/-home-claude/f50031d9-b5ad-5737-9b32-1977a75a6c42/scratchpad/deck/icons/tractor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0843" y="1795882"/>
            <a:ext cx="175565" cy="175565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457200" y="2121408"/>
            <a:ext cx="196285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Village A</a:t>
            </a:r>
            <a:endParaRPr lang="en-US" sz="950" dirty="0"/>
          </a:p>
        </p:txBody>
      </p:sp>
      <p:sp>
        <p:nvSpPr>
          <p:cNvPr id="24" name="Text 20"/>
          <p:cNvSpPr txBox="1"/>
          <p:nvPr/>
        </p:nvSpPr>
        <p:spPr>
          <a:xfrm>
            <a:off x="457200" y="2304288"/>
            <a:ext cx="196285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Semi-arid, rainfed</a:t>
            </a:r>
            <a:endParaRPr lang="en-US" sz="760" dirty="0"/>
          </a:p>
        </p:txBody>
      </p:sp>
      <p:sp>
        <p:nvSpPr>
          <p:cNvPr id="25" name="Shape 21"/>
          <p:cNvSpPr/>
          <p:nvPr/>
        </p:nvSpPr>
        <p:spPr>
          <a:xfrm>
            <a:off x="2785811" y="1572768"/>
            <a:ext cx="1962851" cy="1005840"/>
          </a:xfrm>
          <a:prstGeom prst="roundRect">
            <a:avLst>
              <a:gd name="adj" fmla="val 7273"/>
            </a:avLst>
          </a:prstGeom>
          <a:solidFill>
            <a:srgbClr val="E4EFE9"/>
          </a:solidFill>
          <a:ln w="9525">
            <a:solidFill>
              <a:srgbClr val="D9E7E1"/>
            </a:solidFill>
            <a:prstDash val="solid"/>
          </a:ln>
          <a:effectLst>
            <a:outerShdw sx="100000" sy="100000" kx="0" ky="0" algn="bl" rotWithShape="0" blurRad="101600" dist="38100" dir="5400000">
              <a:srgbClr val="0A322C">
                <a:alpha val="18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3584357" y="1700784"/>
            <a:ext cx="365760" cy="365760"/>
          </a:xfrm>
          <a:prstGeom prst="ellipse">
            <a:avLst/>
          </a:prstGeom>
          <a:solidFill>
            <a:srgbClr val="0E4B43"/>
          </a:solidFill>
          <a:ln/>
        </p:spPr>
      </p:sp>
      <p:pic>
        <p:nvPicPr>
          <p:cNvPr id="27" name="Image 2" descr="/tmp/claude-0/-home-claude/f50031d9-b5ad-5737-9b32-1977a75a6c42/scratchpad/deck/icons/cloudSun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9454" y="1795882"/>
            <a:ext cx="175565" cy="175565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2785811" y="2121408"/>
            <a:ext cx="196285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Village B</a:t>
            </a:r>
            <a:endParaRPr lang="en-US" sz="950" dirty="0"/>
          </a:p>
        </p:txBody>
      </p:sp>
      <p:sp>
        <p:nvSpPr>
          <p:cNvPr id="29" name="Text 24"/>
          <p:cNvSpPr txBox="1"/>
          <p:nvPr/>
        </p:nvSpPr>
        <p:spPr>
          <a:xfrm>
            <a:off x="2785811" y="2304288"/>
            <a:ext cx="196285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Irrigated plains</a:t>
            </a:r>
            <a:endParaRPr lang="en-US" sz="760" dirty="0"/>
          </a:p>
        </p:txBody>
      </p:sp>
      <p:sp>
        <p:nvSpPr>
          <p:cNvPr id="30" name="Shape 25"/>
          <p:cNvSpPr/>
          <p:nvPr/>
        </p:nvSpPr>
        <p:spPr>
          <a:xfrm>
            <a:off x="5114422" y="1572768"/>
            <a:ext cx="1962851" cy="1005840"/>
          </a:xfrm>
          <a:prstGeom prst="roundRect">
            <a:avLst>
              <a:gd name="adj" fmla="val 7273"/>
            </a:avLst>
          </a:prstGeom>
          <a:solidFill>
            <a:srgbClr val="E4EFE9"/>
          </a:solidFill>
          <a:ln w="9525">
            <a:solidFill>
              <a:srgbClr val="D9E7E1"/>
            </a:solidFill>
            <a:prstDash val="solid"/>
          </a:ln>
          <a:effectLst>
            <a:outerShdw sx="100000" sy="100000" kx="0" ky="0" algn="bl" rotWithShape="0" blurRad="101600" dist="38100" dir="5400000">
              <a:srgbClr val="0A322C">
                <a:alpha val="18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5912968" y="1700784"/>
            <a:ext cx="365760" cy="365760"/>
          </a:xfrm>
          <a:prstGeom prst="ellipse">
            <a:avLst/>
          </a:prstGeom>
          <a:solidFill>
            <a:srgbClr val="0E4B43"/>
          </a:solidFill>
          <a:ln/>
        </p:spPr>
      </p:sp>
      <p:pic>
        <p:nvPicPr>
          <p:cNvPr id="32" name="Image 3" descr="/tmp/claude-0/-home-claude/f50031d9-b5ad-5737-9b32-1977a75a6c42/scratchpad/deck/icons/leaf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8065" y="1795882"/>
            <a:ext cx="175565" cy="175565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5114422" y="2121408"/>
            <a:ext cx="196285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Village C</a:t>
            </a:r>
            <a:endParaRPr lang="en-US" sz="950" dirty="0"/>
          </a:p>
        </p:txBody>
      </p:sp>
      <p:sp>
        <p:nvSpPr>
          <p:cNvPr id="34" name="Text 28"/>
          <p:cNvSpPr txBox="1"/>
          <p:nvPr/>
        </p:nvSpPr>
        <p:spPr>
          <a:xfrm>
            <a:off x="5114422" y="2304288"/>
            <a:ext cx="196285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Hill / rainfed</a:t>
            </a:r>
            <a:endParaRPr lang="en-US" sz="760" dirty="0"/>
          </a:p>
        </p:txBody>
      </p:sp>
      <p:sp>
        <p:nvSpPr>
          <p:cNvPr id="35" name="Shape 29"/>
          <p:cNvSpPr/>
          <p:nvPr/>
        </p:nvSpPr>
        <p:spPr>
          <a:xfrm>
            <a:off x="7443033" y="1572768"/>
            <a:ext cx="1962851" cy="1005840"/>
          </a:xfrm>
          <a:prstGeom prst="roundRect">
            <a:avLst>
              <a:gd name="adj" fmla="val 7273"/>
            </a:avLst>
          </a:prstGeom>
          <a:solidFill>
            <a:srgbClr val="E4EFE9"/>
          </a:solidFill>
          <a:ln w="9525">
            <a:solidFill>
              <a:srgbClr val="D9E7E1"/>
            </a:solidFill>
            <a:prstDash val="solid"/>
          </a:ln>
          <a:effectLst>
            <a:outerShdw sx="100000" sy="100000" kx="0" ky="0" algn="bl" rotWithShape="0" blurRad="101600" dist="38100" dir="5400000">
              <a:srgbClr val="0A322C">
                <a:alpha val="18000"/>
              </a:srgbClr>
            </a:outerShdw>
          </a:effectLst>
        </p:spPr>
      </p:sp>
      <p:sp>
        <p:nvSpPr>
          <p:cNvPr id="36" name="Shape 30"/>
          <p:cNvSpPr/>
          <p:nvPr/>
        </p:nvSpPr>
        <p:spPr>
          <a:xfrm>
            <a:off x="8241579" y="1700784"/>
            <a:ext cx="365760" cy="365760"/>
          </a:xfrm>
          <a:prstGeom prst="ellipse">
            <a:avLst/>
          </a:prstGeom>
          <a:solidFill>
            <a:srgbClr val="0E4B43"/>
          </a:solidFill>
          <a:ln/>
        </p:spPr>
      </p:sp>
      <p:pic>
        <p:nvPicPr>
          <p:cNvPr id="37" name="Image 4" descr="/tmp/claude-0/-home-claude/f50031d9-b5ad-5737-9b32-1977a75a6c42/scratchpad/deck/icons/satellite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6676" y="1795882"/>
            <a:ext cx="175565" cy="175565"/>
          </a:xfrm>
          <a:prstGeom prst="rect">
            <a:avLst/>
          </a:prstGeom>
        </p:spPr>
      </p:pic>
      <p:sp>
        <p:nvSpPr>
          <p:cNvPr id="38" name="Text 31"/>
          <p:cNvSpPr txBox="1"/>
          <p:nvPr/>
        </p:nvSpPr>
        <p:spPr>
          <a:xfrm>
            <a:off x="7443033" y="2121408"/>
            <a:ext cx="196285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Village D</a:t>
            </a:r>
            <a:endParaRPr lang="en-US" sz="950" dirty="0"/>
          </a:p>
        </p:txBody>
      </p:sp>
      <p:sp>
        <p:nvSpPr>
          <p:cNvPr id="39" name="Text 32"/>
          <p:cNvSpPr txBox="1"/>
          <p:nvPr/>
        </p:nvSpPr>
        <p:spPr>
          <a:xfrm>
            <a:off x="7443033" y="2304288"/>
            <a:ext cx="196285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Coastal</a:t>
            </a:r>
            <a:endParaRPr lang="en-US" sz="760" dirty="0"/>
          </a:p>
        </p:txBody>
      </p:sp>
      <p:sp>
        <p:nvSpPr>
          <p:cNvPr id="40" name="Shape 33"/>
          <p:cNvSpPr/>
          <p:nvPr/>
        </p:nvSpPr>
        <p:spPr>
          <a:xfrm>
            <a:off x="9771644" y="1572768"/>
            <a:ext cx="1962851" cy="1005840"/>
          </a:xfrm>
          <a:prstGeom prst="roundRect">
            <a:avLst>
              <a:gd name="adj" fmla="val 7273"/>
            </a:avLst>
          </a:prstGeom>
          <a:solidFill>
            <a:srgbClr val="E4EFE9"/>
          </a:solidFill>
          <a:ln w="9525">
            <a:solidFill>
              <a:srgbClr val="D9E7E1"/>
            </a:solidFill>
            <a:prstDash val="solid"/>
          </a:ln>
          <a:effectLst>
            <a:outerShdw sx="100000" sy="100000" kx="0" ky="0" algn="bl" rotWithShape="0" blurRad="101600" dist="38100" dir="5400000">
              <a:srgbClr val="0A322C">
                <a:alpha val="18000"/>
              </a:srgbClr>
            </a:outerShdw>
          </a:effectLst>
        </p:spPr>
      </p:sp>
      <p:sp>
        <p:nvSpPr>
          <p:cNvPr id="41" name="Shape 34"/>
          <p:cNvSpPr/>
          <p:nvPr/>
        </p:nvSpPr>
        <p:spPr>
          <a:xfrm>
            <a:off x="10570190" y="1700784"/>
            <a:ext cx="365760" cy="365760"/>
          </a:xfrm>
          <a:prstGeom prst="ellipse">
            <a:avLst/>
          </a:prstGeom>
          <a:solidFill>
            <a:srgbClr val="0E4B43"/>
          </a:solidFill>
          <a:ln/>
        </p:spPr>
      </p:sp>
      <p:pic>
        <p:nvPicPr>
          <p:cNvPr id="42" name="Image 5" descr="/tmp/claude-0/-home-claude/f50031d9-b5ad-5737-9b32-1977a75a6c42/scratchpad/deck/icons/handshake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65287" y="1795882"/>
            <a:ext cx="175565" cy="175565"/>
          </a:xfrm>
          <a:prstGeom prst="rect">
            <a:avLst/>
          </a:prstGeom>
        </p:spPr>
      </p:pic>
      <p:sp>
        <p:nvSpPr>
          <p:cNvPr id="43" name="Text 35"/>
          <p:cNvSpPr txBox="1"/>
          <p:nvPr/>
        </p:nvSpPr>
        <p:spPr>
          <a:xfrm>
            <a:off x="9771644" y="2121408"/>
            <a:ext cx="196285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Village E</a:t>
            </a:r>
            <a:endParaRPr lang="en-US" sz="950" dirty="0"/>
          </a:p>
        </p:txBody>
      </p:sp>
      <p:sp>
        <p:nvSpPr>
          <p:cNvPr id="44" name="Text 36"/>
          <p:cNvSpPr txBox="1"/>
          <p:nvPr/>
        </p:nvSpPr>
        <p:spPr>
          <a:xfrm>
            <a:off x="9771644" y="2304288"/>
            <a:ext cx="196285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Peri-urban enterprise cluster</a:t>
            </a:r>
            <a:endParaRPr lang="en-US" sz="760" dirty="0"/>
          </a:p>
        </p:txBody>
      </p:sp>
      <p:sp>
        <p:nvSpPr>
          <p:cNvPr id="45" name="Text 37"/>
          <p:cNvSpPr txBox="1"/>
          <p:nvPr/>
        </p:nvSpPr>
        <p:spPr>
          <a:xfrm>
            <a:off x="457200" y="2688336"/>
            <a:ext cx="112772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40" i="1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archetypes, not confirmed sites — final selection follows the criteria below.</a:t>
            </a:r>
            <a:endParaRPr lang="en-US" sz="840" dirty="0"/>
          </a:p>
        </p:txBody>
      </p:sp>
      <p:sp>
        <p:nvSpPr>
          <p:cNvPr id="46" name="Shape 38"/>
          <p:cNvSpPr/>
          <p:nvPr/>
        </p:nvSpPr>
        <p:spPr>
          <a:xfrm>
            <a:off x="457200" y="3035808"/>
            <a:ext cx="6309360" cy="310896"/>
          </a:xfrm>
          <a:prstGeom prst="roundRect">
            <a:avLst>
              <a:gd name="adj" fmla="val 20588"/>
            </a:avLst>
          </a:prstGeom>
          <a:solidFill>
            <a:srgbClr val="5C8A72"/>
          </a:solidFill>
          <a:ln/>
        </p:spPr>
      </p:sp>
      <p:sp>
        <p:nvSpPr>
          <p:cNvPr id="47" name="Text 39"/>
          <p:cNvSpPr txBox="1"/>
          <p:nvPr/>
        </p:nvSpPr>
        <p:spPr>
          <a:xfrm>
            <a:off x="603504" y="3035808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CRITERIA</a:t>
            </a:r>
            <a:endParaRPr lang="en-US" sz="1150" dirty="0"/>
          </a:p>
        </p:txBody>
      </p:sp>
      <p:sp>
        <p:nvSpPr>
          <p:cNvPr id="48" name="Shape 40"/>
          <p:cNvSpPr/>
          <p:nvPr/>
        </p:nvSpPr>
        <p:spPr>
          <a:xfrm>
            <a:off x="457200" y="3346704"/>
            <a:ext cx="63093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D9E7E1"/>
            </a:solidFill>
            <a:prstDash val="solid"/>
          </a:ln>
        </p:spPr>
      </p:sp>
      <p:sp>
        <p:nvSpPr>
          <p:cNvPr id="49" name="Text 41"/>
          <p:cNvSpPr txBox="1"/>
          <p:nvPr/>
        </p:nvSpPr>
        <p:spPr>
          <a:xfrm>
            <a:off x="640080" y="3438144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5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Agro-climatic diversity across the 4–5 sites</a:t>
            </a:r>
            <a:endParaRPr lang="en-US" sz="900" dirty="0"/>
          </a:p>
        </p:txBody>
      </p:sp>
      <p:sp>
        <p:nvSpPr>
          <p:cNvPr id="50" name="Text 42"/>
          <p:cNvSpPr txBox="1"/>
          <p:nvPr/>
        </p:nvSpPr>
        <p:spPr>
          <a:xfrm>
            <a:off x="640080" y="37307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5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Existing SHG / FPO presence to test group-liability features</a:t>
            </a:r>
            <a:endParaRPr lang="en-US" sz="900" dirty="0"/>
          </a:p>
        </p:txBody>
      </p:sp>
      <p:sp>
        <p:nvSpPr>
          <p:cNvPr id="51" name="Text 43"/>
          <p:cNvSpPr txBox="1"/>
          <p:nvPr/>
        </p:nvSpPr>
        <p:spPr>
          <a:xfrm>
            <a:off x="640080" y="402336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5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Bank Sakhi or partner-RE field coverage already in place</a:t>
            </a:r>
            <a:endParaRPr lang="en-US" sz="900" dirty="0"/>
          </a:p>
        </p:txBody>
      </p:sp>
      <p:sp>
        <p:nvSpPr>
          <p:cNvPr id="52" name="Text 44"/>
          <p:cNvSpPr txBox="1"/>
          <p:nvPr/>
        </p:nvSpPr>
        <p:spPr>
          <a:xfrm>
            <a:off x="640080" y="431596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5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Connectivity variance — to test the offline-first ingestion path</a:t>
            </a:r>
            <a:endParaRPr lang="en-US" sz="900" dirty="0"/>
          </a:p>
        </p:txBody>
      </p:sp>
      <p:sp>
        <p:nvSpPr>
          <p:cNvPr id="53" name="Text 45"/>
          <p:cNvSpPr txBox="1"/>
          <p:nvPr/>
        </p:nvSpPr>
        <p:spPr>
          <a:xfrm>
            <a:off x="640080" y="4608576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5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 willing NBFC/MFI partner for the scoring handoff</a:t>
            </a:r>
            <a:endParaRPr lang="en-US" sz="900" dirty="0"/>
          </a:p>
        </p:txBody>
      </p:sp>
      <p:sp>
        <p:nvSpPr>
          <p:cNvPr id="54" name="Shape 46"/>
          <p:cNvSpPr/>
          <p:nvPr/>
        </p:nvSpPr>
        <p:spPr>
          <a:xfrm>
            <a:off x="7040880" y="3035808"/>
            <a:ext cx="4693615" cy="310896"/>
          </a:xfrm>
          <a:prstGeom prst="roundRect">
            <a:avLst>
              <a:gd name="adj" fmla="val 20588"/>
            </a:avLst>
          </a:prstGeom>
          <a:solidFill>
            <a:srgbClr val="0E4B43"/>
          </a:solidFill>
          <a:ln/>
        </p:spPr>
      </p:sp>
      <p:sp>
        <p:nvSpPr>
          <p:cNvPr id="55" name="Text 47"/>
          <p:cNvSpPr txBox="1"/>
          <p:nvPr/>
        </p:nvSpPr>
        <p:spPr>
          <a:xfrm>
            <a:off x="7187184" y="3035808"/>
            <a:ext cx="44192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PHASES</a:t>
            </a:r>
            <a:endParaRPr lang="en-US" sz="1150" dirty="0"/>
          </a:p>
        </p:txBody>
      </p:sp>
      <p:sp>
        <p:nvSpPr>
          <p:cNvPr id="56" name="Shape 48"/>
          <p:cNvSpPr/>
          <p:nvPr/>
        </p:nvSpPr>
        <p:spPr>
          <a:xfrm>
            <a:off x="7040880" y="3346704"/>
            <a:ext cx="4693615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D9E7E1"/>
            </a:solidFill>
            <a:prstDash val="solid"/>
          </a:ln>
        </p:spPr>
      </p:sp>
      <p:sp>
        <p:nvSpPr>
          <p:cNvPr id="57" name="Shape 49"/>
          <p:cNvSpPr/>
          <p:nvPr/>
        </p:nvSpPr>
        <p:spPr>
          <a:xfrm>
            <a:off x="7205472" y="3474720"/>
            <a:ext cx="219456" cy="219456"/>
          </a:xfrm>
          <a:prstGeom prst="ellipse">
            <a:avLst/>
          </a:prstGeom>
          <a:solidFill>
            <a:srgbClr val="0E4B43"/>
          </a:solidFill>
          <a:ln/>
        </p:spPr>
      </p:sp>
      <p:sp>
        <p:nvSpPr>
          <p:cNvPr id="58" name="Text 50"/>
          <p:cNvSpPr txBox="1"/>
          <p:nvPr/>
        </p:nvSpPr>
        <p:spPr>
          <a:xfrm>
            <a:off x="7205472" y="347472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59" name="Text 51"/>
          <p:cNvSpPr txBox="1"/>
          <p:nvPr/>
        </p:nvSpPr>
        <p:spPr>
          <a:xfrm>
            <a:off x="7516368" y="3474720"/>
            <a:ext cx="4053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5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&amp; consent capture</a:t>
            </a:r>
            <a:endParaRPr lang="en-US" sz="900" dirty="0"/>
          </a:p>
        </p:txBody>
      </p:sp>
      <p:sp>
        <p:nvSpPr>
          <p:cNvPr id="60" name="Shape 52"/>
          <p:cNvSpPr/>
          <p:nvPr/>
        </p:nvSpPr>
        <p:spPr>
          <a:xfrm>
            <a:off x="7205472" y="3803904"/>
            <a:ext cx="219456" cy="219456"/>
          </a:xfrm>
          <a:prstGeom prst="ellipse">
            <a:avLst/>
          </a:prstGeom>
          <a:solidFill>
            <a:srgbClr val="0E4B43"/>
          </a:solidFill>
          <a:ln/>
        </p:spPr>
      </p:sp>
      <p:sp>
        <p:nvSpPr>
          <p:cNvPr id="61" name="Text 53"/>
          <p:cNvSpPr txBox="1"/>
          <p:nvPr/>
        </p:nvSpPr>
        <p:spPr>
          <a:xfrm>
            <a:off x="7205472" y="380390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62" name="Text 54"/>
          <p:cNvSpPr txBox="1"/>
          <p:nvPr/>
        </p:nvSpPr>
        <p:spPr>
          <a:xfrm>
            <a:off x="7516368" y="3803904"/>
            <a:ext cx="4053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5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Shadow-mode scoring alongside existing process</a:t>
            </a:r>
            <a:endParaRPr lang="en-US" sz="900" dirty="0"/>
          </a:p>
        </p:txBody>
      </p:sp>
      <p:sp>
        <p:nvSpPr>
          <p:cNvPr id="63" name="Shape 55"/>
          <p:cNvSpPr/>
          <p:nvPr/>
        </p:nvSpPr>
        <p:spPr>
          <a:xfrm>
            <a:off x="7205472" y="4133088"/>
            <a:ext cx="219456" cy="219456"/>
          </a:xfrm>
          <a:prstGeom prst="ellipse">
            <a:avLst/>
          </a:prstGeom>
          <a:solidFill>
            <a:srgbClr val="0E4B43"/>
          </a:solidFill>
          <a:ln/>
        </p:spPr>
      </p:sp>
      <p:sp>
        <p:nvSpPr>
          <p:cNvPr id="64" name="Text 56"/>
          <p:cNvSpPr txBox="1"/>
          <p:nvPr/>
        </p:nvSpPr>
        <p:spPr>
          <a:xfrm>
            <a:off x="7205472" y="413308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65" name="Text 57"/>
          <p:cNvSpPr txBox="1"/>
          <p:nvPr/>
        </p:nvSpPr>
        <p:spPr>
          <a:xfrm>
            <a:off x="7516368" y="4133088"/>
            <a:ext cx="4053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5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Officer-assisted decisioning</a:t>
            </a:r>
            <a:endParaRPr lang="en-US" sz="900" dirty="0"/>
          </a:p>
        </p:txBody>
      </p:sp>
      <p:sp>
        <p:nvSpPr>
          <p:cNvPr id="66" name="Shape 58"/>
          <p:cNvSpPr/>
          <p:nvPr/>
        </p:nvSpPr>
        <p:spPr>
          <a:xfrm>
            <a:off x="7205472" y="4462272"/>
            <a:ext cx="219456" cy="219456"/>
          </a:xfrm>
          <a:prstGeom prst="ellipse">
            <a:avLst/>
          </a:prstGeom>
          <a:solidFill>
            <a:srgbClr val="0E4B43"/>
          </a:solidFill>
          <a:ln/>
        </p:spPr>
      </p:sp>
      <p:sp>
        <p:nvSpPr>
          <p:cNvPr id="67" name="Text 59"/>
          <p:cNvSpPr txBox="1"/>
          <p:nvPr/>
        </p:nvSpPr>
        <p:spPr>
          <a:xfrm>
            <a:off x="7205472" y="446227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8" name="Text 60"/>
          <p:cNvSpPr txBox="1"/>
          <p:nvPr/>
        </p:nvSpPr>
        <p:spPr>
          <a:xfrm>
            <a:off x="7516368" y="4462272"/>
            <a:ext cx="4053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5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tracking &amp; model-gate evaluation</a:t>
            </a:r>
            <a:endParaRPr lang="en-US" sz="900" dirty="0"/>
          </a:p>
        </p:txBody>
      </p:sp>
      <p:sp>
        <p:nvSpPr>
          <p:cNvPr id="69" name="Shape 61"/>
          <p:cNvSpPr/>
          <p:nvPr/>
        </p:nvSpPr>
        <p:spPr>
          <a:xfrm>
            <a:off x="457200" y="5138928"/>
            <a:ext cx="11277295" cy="502920"/>
          </a:xfrm>
          <a:prstGeom prst="roundRect">
            <a:avLst>
              <a:gd name="adj" fmla="val 14545"/>
            </a:avLst>
          </a:prstGeom>
          <a:solidFill>
            <a:srgbClr val="F3E4C8"/>
          </a:solidFill>
          <a:ln/>
        </p:spPr>
      </p:sp>
      <p:sp>
        <p:nvSpPr>
          <p:cNvPr id="70" name="Text 62"/>
          <p:cNvSpPr txBox="1"/>
          <p:nvPr/>
        </p:nvSpPr>
        <p:spPr>
          <a:xfrm>
            <a:off x="640080" y="513892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15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METRICS (to be measured, not results): turnaround-time reduction vs. paper process · officer adoption rate · applicant consent-completion rate · fairness-gate pass status per pilot cohort.</a:t>
            </a:r>
            <a:endParaRPr lang="en-US" sz="92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12064" cy="512064"/>
          </a:xfrm>
          <a:prstGeom prst="ellipse">
            <a:avLst/>
          </a:prstGeom>
          <a:solidFill>
            <a:srgbClr val="E4EFE9"/>
          </a:solidFill>
          <a:ln/>
        </p:spPr>
      </p:sp>
      <p:pic>
        <p:nvPicPr>
          <p:cNvPr id="3" name="Image 0" descr="/tmp/claude-0/-home-claude/f50031d9-b5ad-5737-9b32-1977a75a6c42/scratchpad/deck/icons/wallet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0337" y="498897"/>
            <a:ext cx="245791" cy="245791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115568" y="365760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C98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4 · TRUST &amp; PILOT</a:t>
            </a:r>
            <a:endParaRPr lang="en-US" sz="1050" dirty="0"/>
          </a:p>
        </p:txBody>
      </p:sp>
      <p:sp>
        <p:nvSpPr>
          <p:cNvPr id="5" name="Text 2"/>
          <p:cNvSpPr txBox="1"/>
          <p:nvPr/>
        </p:nvSpPr>
        <p:spPr>
          <a:xfrm>
            <a:off x="1115568" y="5486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E4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Preliminary Cost &amp; Resource Requirements</a:t>
            </a:r>
            <a:endParaRPr lang="en-US" sz="2700" dirty="0"/>
          </a:p>
        </p:txBody>
      </p:sp>
      <p:sp>
        <p:nvSpPr>
          <p:cNvPr id="6" name="Text 3"/>
          <p:cNvSpPr txBox="1"/>
          <p:nvPr/>
        </p:nvSpPr>
        <p:spPr>
          <a:xfrm>
            <a:off x="8808415" y="38404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CREDITTECH  ·  MID-TERM REVIEW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8808415" y="56692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76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18 / 20  ·  TRUST &amp; PILOT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" y="6419088"/>
            <a:ext cx="2182307" cy="310896"/>
          </a:xfrm>
          <a:prstGeom prst="roundRect">
            <a:avLst>
              <a:gd name="adj" fmla="val 50000"/>
            </a:avLst>
          </a:prstGeom>
          <a:solidFill>
            <a:srgbClr val="E4EFE9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457200" y="6419088"/>
            <a:ext cx="218230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spc="40" kern="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860" dirty="0"/>
          </a:p>
        </p:txBody>
      </p:sp>
      <p:sp>
        <p:nvSpPr>
          <p:cNvPr id="10" name="Shape 7"/>
          <p:cNvSpPr/>
          <p:nvPr/>
        </p:nvSpPr>
        <p:spPr>
          <a:xfrm>
            <a:off x="2730947" y="6419088"/>
            <a:ext cx="2182307" cy="310896"/>
          </a:xfrm>
          <a:prstGeom prst="roundRect">
            <a:avLst>
              <a:gd name="adj" fmla="val 50000"/>
            </a:avLst>
          </a:prstGeom>
          <a:solidFill>
            <a:srgbClr val="E4EFE9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2730947" y="6419088"/>
            <a:ext cx="218230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spc="40" kern="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AI PIPELINE</a:t>
            </a:r>
            <a:endParaRPr lang="en-US" sz="860" dirty="0"/>
          </a:p>
        </p:txBody>
      </p:sp>
      <p:sp>
        <p:nvSpPr>
          <p:cNvPr id="12" name="Shape 9"/>
          <p:cNvSpPr/>
          <p:nvPr/>
        </p:nvSpPr>
        <p:spPr>
          <a:xfrm>
            <a:off x="5004694" y="6419088"/>
            <a:ext cx="2182307" cy="310896"/>
          </a:xfrm>
          <a:prstGeom prst="roundRect">
            <a:avLst>
              <a:gd name="adj" fmla="val 50000"/>
            </a:avLst>
          </a:prstGeom>
          <a:solidFill>
            <a:srgbClr val="E4EFE9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004694" y="6419088"/>
            <a:ext cx="218230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spc="40" kern="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TECH</a:t>
            </a:r>
            <a:endParaRPr lang="en-US" sz="860" dirty="0"/>
          </a:p>
        </p:txBody>
      </p:sp>
      <p:sp>
        <p:nvSpPr>
          <p:cNvPr id="14" name="Shape 11"/>
          <p:cNvSpPr/>
          <p:nvPr/>
        </p:nvSpPr>
        <p:spPr>
          <a:xfrm>
            <a:off x="7278441" y="6419088"/>
            <a:ext cx="2182307" cy="310896"/>
          </a:xfrm>
          <a:prstGeom prst="roundRect">
            <a:avLst>
              <a:gd name="adj" fmla="val 50000"/>
            </a:avLst>
          </a:prstGeom>
          <a:solidFill>
            <a:srgbClr val="0E4B43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278441" y="6419088"/>
            <a:ext cx="218230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&amp; PILOT</a:t>
            </a:r>
            <a:endParaRPr lang="en-US" sz="860" dirty="0"/>
          </a:p>
        </p:txBody>
      </p:sp>
      <p:sp>
        <p:nvSpPr>
          <p:cNvPr id="16" name="Shape 13"/>
          <p:cNvSpPr/>
          <p:nvPr/>
        </p:nvSpPr>
        <p:spPr>
          <a:xfrm>
            <a:off x="9552188" y="6419088"/>
            <a:ext cx="2182307" cy="310896"/>
          </a:xfrm>
          <a:prstGeom prst="roundRect">
            <a:avLst>
              <a:gd name="adj" fmla="val 50000"/>
            </a:avLst>
          </a:prstGeom>
          <a:solidFill>
            <a:srgbClr val="E4EFE9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9552188" y="6419088"/>
            <a:ext cx="218230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spc="40" kern="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&amp; ROADMAP</a:t>
            </a:r>
            <a:endParaRPr lang="en-US" sz="860" dirty="0"/>
          </a:p>
        </p:txBody>
      </p:sp>
      <p:sp>
        <p:nvSpPr>
          <p:cNvPr id="18" name="Text 15"/>
          <p:cNvSpPr txBox="1"/>
          <p:nvPr/>
        </p:nvSpPr>
        <p:spPr>
          <a:xfrm>
            <a:off x="457200" y="120700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B54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Preliminary planning-stage estimate — not a committed or quoted budget.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457200" y="1499616"/>
            <a:ext cx="4937760" cy="310896"/>
          </a:xfrm>
          <a:prstGeom prst="roundRect">
            <a:avLst>
              <a:gd name="adj" fmla="val 20588"/>
            </a:avLst>
          </a:prstGeom>
          <a:solidFill>
            <a:srgbClr val="0E4B43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603504" y="1499616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PILOT RESOURCE SPLIT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457200" y="1810512"/>
            <a:ext cx="493776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9525">
            <a:solidFill>
              <a:srgbClr val="D9E7E1"/>
            </a:solidFill>
            <a:prstDash val="solid"/>
          </a:ln>
        </p:spPr>
      </p:sp>
      <p:graphicFrame>
        <p:nvGraphicFramePr>
          <p:cNvPr id="22" name="Chart 0" descr=""/>
          <p:cNvGraphicFramePr/>
          <p:nvPr/>
        </p:nvGraphicFramePr>
        <p:xfrm>
          <a:off x="685800" y="2002536"/>
          <a:ext cx="448056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3" name="Shape 19"/>
          <p:cNvSpPr/>
          <p:nvPr/>
        </p:nvSpPr>
        <p:spPr>
          <a:xfrm>
            <a:off x="5669280" y="1499616"/>
            <a:ext cx="6065215" cy="310896"/>
          </a:xfrm>
          <a:prstGeom prst="roundRect">
            <a:avLst>
              <a:gd name="adj" fmla="val 20588"/>
            </a:avLst>
          </a:prstGeom>
          <a:solidFill>
            <a:srgbClr val="5C8A72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5815584" y="1499616"/>
            <a:ext cx="57908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RESOURCING BY PHASE</a:t>
            </a:r>
            <a:endParaRPr lang="en-US" sz="115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0" y="1865376"/>
          <a:ext cx="6065215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965960"/>
                <a:gridCol w="2542032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B4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/ role needs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B4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inputs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B4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0" dirty="0">
                          <a:solidFill>
                            <a:srgbClr val="1527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0–1 (foundations)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0" dirty="0">
                          <a:solidFill>
                            <a:srgbClr val="1527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 + ML engineers, data engineer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0" dirty="0">
                          <a:solidFill>
                            <a:srgbClr val="1527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Infra scaffolding, mocked connectors — BUILT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0" dirty="0">
                          <a:solidFill>
                            <a:srgbClr val="1527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2 (real-rail integration)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0" dirty="0">
                          <a:solidFill>
                            <a:srgbClr val="1527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Compliance advisor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0" dirty="0">
                          <a:solidFill>
                            <a:srgbClr val="1527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Geospatial vendor contract or open-data fallback, bureau/CIC access fees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0" dirty="0">
                          <a:solidFill>
                            <a:srgbClr val="1527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3 (village pilot)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0" dirty="0">
                          <a:solidFill>
                            <a:srgbClr val="1527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Bank Sakhi field coordinators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0" dirty="0">
                          <a:solidFill>
                            <a:srgbClr val="1527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 devices/connectivity, village onboarding logistics, partner-RE coordination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0" dirty="0">
                          <a:solidFill>
                            <a:srgbClr val="1527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Ongoing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0" dirty="0">
                          <a:solidFill>
                            <a:srgbClr val="1527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&amp; DPDP legal review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0" dirty="0">
                          <a:solidFill>
                            <a:srgbClr val="1527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Independent fairness/security audit before scale-up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12064" cy="512064"/>
          </a:xfrm>
          <a:prstGeom prst="ellipse">
            <a:avLst/>
          </a:prstGeom>
          <a:solidFill>
            <a:srgbClr val="E4EFE9"/>
          </a:solidFill>
          <a:ln/>
        </p:spPr>
      </p:sp>
      <p:pic>
        <p:nvPicPr>
          <p:cNvPr id="3" name="Image 0" descr="/tmp/claude-0/-home-claude/f50031d9-b5ad-5737-9b32-1977a75a6c42/scratchpad/deck/icons/bookOpen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0337" y="498897"/>
            <a:ext cx="245791" cy="245791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115568" y="365760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C98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5 · EVIDENCE &amp; ROADMAP</a:t>
            </a:r>
            <a:endParaRPr lang="en-US" sz="1050" dirty="0"/>
          </a:p>
        </p:txBody>
      </p:sp>
      <p:sp>
        <p:nvSpPr>
          <p:cNvPr id="5" name="Text 2"/>
          <p:cNvSpPr txBox="1"/>
          <p:nvPr/>
        </p:nvSpPr>
        <p:spPr>
          <a:xfrm>
            <a:off x="1115568" y="5486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E4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Literature, Policy &amp; Real-World Evidence</a:t>
            </a:r>
            <a:endParaRPr lang="en-US" sz="2700" dirty="0"/>
          </a:p>
        </p:txBody>
      </p:sp>
      <p:sp>
        <p:nvSpPr>
          <p:cNvPr id="6" name="Text 3"/>
          <p:cNvSpPr txBox="1"/>
          <p:nvPr/>
        </p:nvSpPr>
        <p:spPr>
          <a:xfrm>
            <a:off x="8808415" y="38404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CREDITTECH  ·  MID-TERM REVIEW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8808415" y="56692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76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19 / 20  ·  EVIDENCE &amp; ROADMAP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" y="6419088"/>
            <a:ext cx="2182307" cy="310896"/>
          </a:xfrm>
          <a:prstGeom prst="roundRect">
            <a:avLst>
              <a:gd name="adj" fmla="val 50000"/>
            </a:avLst>
          </a:prstGeom>
          <a:solidFill>
            <a:srgbClr val="E4EFE9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457200" y="6419088"/>
            <a:ext cx="218230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spc="40" kern="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860" dirty="0"/>
          </a:p>
        </p:txBody>
      </p:sp>
      <p:sp>
        <p:nvSpPr>
          <p:cNvPr id="10" name="Shape 7"/>
          <p:cNvSpPr/>
          <p:nvPr/>
        </p:nvSpPr>
        <p:spPr>
          <a:xfrm>
            <a:off x="2730947" y="6419088"/>
            <a:ext cx="2182307" cy="310896"/>
          </a:xfrm>
          <a:prstGeom prst="roundRect">
            <a:avLst>
              <a:gd name="adj" fmla="val 50000"/>
            </a:avLst>
          </a:prstGeom>
          <a:solidFill>
            <a:srgbClr val="E4EFE9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2730947" y="6419088"/>
            <a:ext cx="218230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spc="40" kern="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AI PIPELINE</a:t>
            </a:r>
            <a:endParaRPr lang="en-US" sz="860" dirty="0"/>
          </a:p>
        </p:txBody>
      </p:sp>
      <p:sp>
        <p:nvSpPr>
          <p:cNvPr id="12" name="Shape 9"/>
          <p:cNvSpPr/>
          <p:nvPr/>
        </p:nvSpPr>
        <p:spPr>
          <a:xfrm>
            <a:off x="5004694" y="6419088"/>
            <a:ext cx="2182307" cy="310896"/>
          </a:xfrm>
          <a:prstGeom prst="roundRect">
            <a:avLst>
              <a:gd name="adj" fmla="val 50000"/>
            </a:avLst>
          </a:prstGeom>
          <a:solidFill>
            <a:srgbClr val="E4EFE9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004694" y="6419088"/>
            <a:ext cx="218230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spc="40" kern="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TECH</a:t>
            </a:r>
            <a:endParaRPr lang="en-US" sz="860" dirty="0"/>
          </a:p>
        </p:txBody>
      </p:sp>
      <p:sp>
        <p:nvSpPr>
          <p:cNvPr id="14" name="Shape 11"/>
          <p:cNvSpPr/>
          <p:nvPr/>
        </p:nvSpPr>
        <p:spPr>
          <a:xfrm>
            <a:off x="7278441" y="6419088"/>
            <a:ext cx="2182307" cy="310896"/>
          </a:xfrm>
          <a:prstGeom prst="roundRect">
            <a:avLst>
              <a:gd name="adj" fmla="val 50000"/>
            </a:avLst>
          </a:prstGeom>
          <a:solidFill>
            <a:srgbClr val="E4EFE9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278441" y="6419088"/>
            <a:ext cx="218230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spc="40" kern="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&amp; PILOT</a:t>
            </a:r>
            <a:endParaRPr lang="en-US" sz="860" dirty="0"/>
          </a:p>
        </p:txBody>
      </p:sp>
      <p:sp>
        <p:nvSpPr>
          <p:cNvPr id="16" name="Shape 13"/>
          <p:cNvSpPr/>
          <p:nvPr/>
        </p:nvSpPr>
        <p:spPr>
          <a:xfrm>
            <a:off x="9552188" y="6419088"/>
            <a:ext cx="2182307" cy="310896"/>
          </a:xfrm>
          <a:prstGeom prst="roundRect">
            <a:avLst>
              <a:gd name="adj" fmla="val 50000"/>
            </a:avLst>
          </a:prstGeom>
          <a:solidFill>
            <a:srgbClr val="0E4B43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9552188" y="6419088"/>
            <a:ext cx="218230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&amp; ROADMAP</a:t>
            </a:r>
            <a:endParaRPr lang="en-US" sz="860" dirty="0"/>
          </a:p>
        </p:txBody>
      </p:sp>
      <p:sp>
        <p:nvSpPr>
          <p:cNvPr id="18" name="Shape 15"/>
          <p:cNvSpPr/>
          <p:nvPr/>
        </p:nvSpPr>
        <p:spPr>
          <a:xfrm>
            <a:off x="457200" y="1207008"/>
            <a:ext cx="2716454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9E7E1"/>
            </a:solidFill>
            <a:prstDash val="solid"/>
          </a:ln>
          <a:effectLst>
            <a:outerShdw sx="100000" sy="100000" kx="0" ky="0" algn="bl" rotWithShape="0" blurRad="101600" dist="38100" dir="5400000">
              <a:srgbClr val="0A322C">
                <a:alpha val="18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603504" y="1298448"/>
            <a:ext cx="242384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E4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12M+</a:t>
            </a:r>
            <a:endParaRPr lang="en-US" sz="2000" dirty="0"/>
          </a:p>
        </p:txBody>
      </p:sp>
      <p:sp>
        <p:nvSpPr>
          <p:cNvPr id="20" name="Text 17"/>
          <p:cNvSpPr txBox="1"/>
          <p:nvPr/>
        </p:nvSpPr>
        <p:spPr>
          <a:xfrm>
            <a:off x="603504" y="1692006"/>
            <a:ext cx="2423846" cy="4103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credit-linked SHGs, ~90% women (NABARD SHG-BLP)</a:t>
            </a:r>
            <a:endParaRPr lang="en-US" sz="880" dirty="0"/>
          </a:p>
        </p:txBody>
      </p:sp>
      <p:sp>
        <p:nvSpPr>
          <p:cNvPr id="21" name="Shape 18"/>
          <p:cNvSpPr/>
          <p:nvPr/>
        </p:nvSpPr>
        <p:spPr>
          <a:xfrm>
            <a:off x="3310814" y="1207008"/>
            <a:ext cx="2716454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9E7E1"/>
            </a:solidFill>
            <a:prstDash val="solid"/>
          </a:ln>
          <a:effectLst>
            <a:outerShdw sx="100000" sy="100000" kx="0" ky="0" algn="bl" rotWithShape="0" blurRad="101600" dist="38100" dir="5400000">
              <a:srgbClr val="0A322C">
                <a:alpha val="18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3457118" y="1298448"/>
            <a:ext cx="242384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E4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₹1.5L Cr+</a:t>
            </a:r>
            <a:endParaRPr lang="en-US" sz="2000" dirty="0"/>
          </a:p>
        </p:txBody>
      </p:sp>
      <p:sp>
        <p:nvSpPr>
          <p:cNvPr id="23" name="Text 20"/>
          <p:cNvSpPr txBox="1"/>
          <p:nvPr/>
        </p:nvSpPr>
        <p:spPr>
          <a:xfrm>
            <a:off x="3457118" y="1692006"/>
            <a:ext cx="2423846" cy="4103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outstanding under SHG-BLP</a:t>
            </a:r>
            <a:endParaRPr lang="en-US" sz="880" dirty="0"/>
          </a:p>
        </p:txBody>
      </p:sp>
      <p:sp>
        <p:nvSpPr>
          <p:cNvPr id="24" name="Shape 21"/>
          <p:cNvSpPr/>
          <p:nvPr/>
        </p:nvSpPr>
        <p:spPr>
          <a:xfrm>
            <a:off x="6164428" y="1207008"/>
            <a:ext cx="2716454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9E7E1"/>
            </a:solidFill>
            <a:prstDash val="solid"/>
          </a:ln>
          <a:effectLst>
            <a:outerShdw sx="100000" sy="100000" kx="0" ky="0" algn="bl" rotWithShape="0" blurRad="101600" dist="38100" dir="5400000">
              <a:srgbClr val="0A322C">
                <a:alpha val="18000"/>
              </a:srgbClr>
            </a:outerShdw>
          </a:effectLst>
        </p:spPr>
      </p:sp>
      <p:sp>
        <p:nvSpPr>
          <p:cNvPr id="25" name="Text 22"/>
          <p:cNvSpPr txBox="1"/>
          <p:nvPr/>
        </p:nvSpPr>
        <p:spPr>
          <a:xfrm>
            <a:off x="6310732" y="1298448"/>
            <a:ext cx="242384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E4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112 / 410</a:t>
            </a:r>
            <a:endParaRPr lang="en-US" sz="2000" dirty="0"/>
          </a:p>
        </p:txBody>
      </p:sp>
      <p:sp>
        <p:nvSpPr>
          <p:cNvPr id="26" name="Text 23"/>
          <p:cNvSpPr txBox="1"/>
          <p:nvPr/>
        </p:nvSpPr>
        <p:spPr>
          <a:xfrm>
            <a:off x="6310732" y="1692006"/>
            <a:ext cx="2423846" cy="4103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FIP+FIU / FIU-only institutions live on the AA network (PIB, 2025)</a:t>
            </a:r>
            <a:endParaRPr lang="en-US" sz="880" dirty="0"/>
          </a:p>
        </p:txBody>
      </p:sp>
      <p:sp>
        <p:nvSpPr>
          <p:cNvPr id="27" name="Shape 24"/>
          <p:cNvSpPr/>
          <p:nvPr/>
        </p:nvSpPr>
        <p:spPr>
          <a:xfrm>
            <a:off x="9018041" y="1207008"/>
            <a:ext cx="2716454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9E7E1"/>
            </a:solidFill>
            <a:prstDash val="solid"/>
          </a:ln>
          <a:effectLst>
            <a:outerShdw sx="100000" sy="100000" kx="0" ky="0" algn="bl" rotWithShape="0" blurRad="101600" dist="38100" dir="5400000">
              <a:srgbClr val="0A322C">
                <a:alpha val="18000"/>
              </a:srgbClr>
            </a:outerShdw>
          </a:effectLst>
        </p:spPr>
      </p:sp>
      <p:sp>
        <p:nvSpPr>
          <p:cNvPr id="28" name="Text 25"/>
          <p:cNvSpPr txBox="1"/>
          <p:nvPr/>
        </p:nvSpPr>
        <p:spPr>
          <a:xfrm>
            <a:off x="9164345" y="1298448"/>
            <a:ext cx="242384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E4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2.2B+</a:t>
            </a:r>
            <a:endParaRPr lang="en-US" sz="2000" dirty="0"/>
          </a:p>
        </p:txBody>
      </p:sp>
      <p:sp>
        <p:nvSpPr>
          <p:cNvPr id="29" name="Text 26"/>
          <p:cNvSpPr txBox="1"/>
          <p:nvPr/>
        </p:nvSpPr>
        <p:spPr>
          <a:xfrm>
            <a:off x="9164345" y="1692006"/>
            <a:ext cx="2423846" cy="4103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accounts enabled for consented sharing via AA</a:t>
            </a:r>
            <a:endParaRPr lang="en-US" sz="880" dirty="0"/>
          </a:p>
        </p:txBody>
      </p:sp>
      <p:sp>
        <p:nvSpPr>
          <p:cNvPr id="30" name="Shape 27"/>
          <p:cNvSpPr/>
          <p:nvPr/>
        </p:nvSpPr>
        <p:spPr>
          <a:xfrm>
            <a:off x="457200" y="2304288"/>
            <a:ext cx="11277295" cy="310896"/>
          </a:xfrm>
          <a:prstGeom prst="roundRect">
            <a:avLst>
              <a:gd name="adj" fmla="val 20588"/>
            </a:avLst>
          </a:prstGeom>
          <a:solidFill>
            <a:srgbClr val="0E4B43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603504" y="2304288"/>
            <a:ext cx="110029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COMPARABLE OPEN PROJECTS REVIEWED — IDEAS ADOPTED, NOT COPIED</a:t>
            </a:r>
            <a:endParaRPr lang="en-US" sz="1150" dirty="0"/>
          </a:p>
        </p:txBody>
      </p:sp>
      <p:sp>
        <p:nvSpPr>
          <p:cNvPr id="32" name="Shape 29"/>
          <p:cNvSpPr/>
          <p:nvPr/>
        </p:nvSpPr>
        <p:spPr>
          <a:xfrm>
            <a:off x="457200" y="2670048"/>
            <a:ext cx="3637178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D9E7E1"/>
            </a:solidFill>
            <a:prstDash val="solid"/>
          </a:ln>
          <a:effectLst>
            <a:outerShdw sx="100000" sy="100000" kx="0" ky="0" algn="bl" rotWithShape="0" blurRad="101600" dist="38100" dir="5400000">
              <a:srgbClr val="0A322C">
                <a:alpha val="18000"/>
              </a:srgbClr>
            </a:outerShdw>
          </a:effectLst>
        </p:spPr>
      </p:sp>
      <p:sp>
        <p:nvSpPr>
          <p:cNvPr id="33" name="Text 30"/>
          <p:cNvSpPr txBox="1"/>
          <p:nvPr/>
        </p:nvSpPr>
        <p:spPr>
          <a:xfrm>
            <a:off x="585216" y="2761488"/>
            <a:ext cx="338114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E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agri-access (Indonesia)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585216" y="3090672"/>
            <a:ext cx="338114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00" i="1" dirty="0">
                <a:solidFill>
                  <a:srgbClr val="C98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 + foundation-model credit risk, Basel III/SLIK framing</a:t>
            </a:r>
            <a:endParaRPr lang="en-US" sz="800" dirty="0"/>
          </a:p>
        </p:txBody>
      </p:sp>
      <p:sp>
        <p:nvSpPr>
          <p:cNvPr id="35" name="Text 32"/>
          <p:cNvSpPr txBox="1"/>
          <p:nvPr/>
        </p:nvSpPr>
        <p:spPr>
          <a:xfrm>
            <a:off x="585216" y="3419856"/>
            <a:ext cx="338114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2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Adopted the Basel-style risk-governance framing; did not adopt its production reliance on unvalidated geospatial foundation models (§26 review).</a:t>
            </a:r>
            <a:endParaRPr lang="en-US" sz="820" dirty="0"/>
          </a:p>
        </p:txBody>
      </p:sp>
      <p:sp>
        <p:nvSpPr>
          <p:cNvPr id="36" name="Shape 33"/>
          <p:cNvSpPr/>
          <p:nvPr/>
        </p:nvSpPr>
        <p:spPr>
          <a:xfrm>
            <a:off x="4277258" y="2670048"/>
            <a:ext cx="3637178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D9E7E1"/>
            </a:solidFill>
            <a:prstDash val="solid"/>
          </a:ln>
          <a:effectLst>
            <a:outerShdw sx="100000" sy="100000" kx="0" ky="0" algn="bl" rotWithShape="0" blurRad="101600" dist="38100" dir="5400000">
              <a:srgbClr val="0A322C">
                <a:alpha val="18000"/>
              </a:srgbClr>
            </a:outerShdw>
          </a:effectLst>
        </p:spPr>
      </p:sp>
      <p:sp>
        <p:nvSpPr>
          <p:cNvPr id="37" name="Text 34"/>
          <p:cNvSpPr txBox="1"/>
          <p:nvPr/>
        </p:nvSpPr>
        <p:spPr>
          <a:xfrm>
            <a:off x="4405274" y="2761488"/>
            <a:ext cx="338114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E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Krishi-Patra (NABARD hackathon)</a:t>
            </a:r>
            <a:endParaRPr lang="en-US" sz="1000" dirty="0"/>
          </a:p>
        </p:txBody>
      </p:sp>
      <p:sp>
        <p:nvSpPr>
          <p:cNvPr id="38" name="Text 35"/>
          <p:cNvSpPr txBox="1"/>
          <p:nvPr/>
        </p:nvSpPr>
        <p:spPr>
          <a:xfrm>
            <a:off x="4405274" y="3090672"/>
            <a:ext cx="338114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00" i="1" dirty="0">
                <a:solidFill>
                  <a:srgbClr val="C98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crop-linked finance, "digital twin" concept, Hyperledger ledger</a:t>
            </a:r>
            <a:endParaRPr lang="en-US" sz="800" dirty="0"/>
          </a:p>
        </p:txBody>
      </p:sp>
      <p:sp>
        <p:nvSpPr>
          <p:cNvPr id="39" name="Text 36"/>
          <p:cNvSpPr txBox="1"/>
          <p:nvPr/>
        </p:nvSpPr>
        <p:spPr>
          <a:xfrm>
            <a:off x="4405274" y="3419856"/>
            <a:ext cx="338114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2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Adopted the post-disbursement crop-health monitoring idea; explicitly rejected its blockchain ledger — the hash-chain already meets that need.</a:t>
            </a:r>
            <a:endParaRPr lang="en-US" sz="820" dirty="0"/>
          </a:p>
        </p:txBody>
      </p:sp>
      <p:sp>
        <p:nvSpPr>
          <p:cNvPr id="40" name="Shape 37"/>
          <p:cNvSpPr/>
          <p:nvPr/>
        </p:nvSpPr>
        <p:spPr>
          <a:xfrm>
            <a:off x="8097317" y="2670048"/>
            <a:ext cx="3637178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D9E7E1"/>
            </a:solidFill>
            <a:prstDash val="solid"/>
          </a:ln>
          <a:effectLst>
            <a:outerShdw sx="100000" sy="100000" kx="0" ky="0" algn="bl" rotWithShape="0" blurRad="101600" dist="38100" dir="5400000">
              <a:srgbClr val="0A322C">
                <a:alpha val="18000"/>
              </a:srgbClr>
            </a:outerShdw>
          </a:effectLst>
        </p:spPr>
      </p:sp>
      <p:sp>
        <p:nvSpPr>
          <p:cNvPr id="41" name="Text 38"/>
          <p:cNvSpPr txBox="1"/>
          <p:nvPr/>
        </p:nvSpPr>
        <p:spPr>
          <a:xfrm>
            <a:off x="8225333" y="2761488"/>
            <a:ext cx="338114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E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Credit-Risk-Probability-Model (alt-data)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8225333" y="3090672"/>
            <a:ext cx="338114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00" i="1" dirty="0">
                <a:solidFill>
                  <a:srgbClr val="C98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WoE/IV scorecard discipline, DVC, proxy-label governance</a:t>
            </a:r>
            <a:endParaRPr lang="en-US" sz="800" dirty="0"/>
          </a:p>
        </p:txBody>
      </p:sp>
      <p:sp>
        <p:nvSpPr>
          <p:cNvPr id="43" name="Text 40"/>
          <p:cNvSpPr txBox="1"/>
          <p:nvPr/>
        </p:nvSpPr>
        <p:spPr>
          <a:xfrm>
            <a:off x="8225333" y="3419856"/>
            <a:ext cx="338114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2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Adopted WoE/IV encoding and explicit proxy-label documentation for the Stage-2 trained model.</a:t>
            </a:r>
            <a:endParaRPr lang="en-US" sz="820" dirty="0"/>
          </a:p>
        </p:txBody>
      </p:sp>
      <p:sp>
        <p:nvSpPr>
          <p:cNvPr id="44" name="Shape 41"/>
          <p:cNvSpPr/>
          <p:nvPr/>
        </p:nvSpPr>
        <p:spPr>
          <a:xfrm>
            <a:off x="457200" y="4544568"/>
            <a:ext cx="11277295" cy="777240"/>
          </a:xfrm>
          <a:prstGeom prst="roundRect">
            <a:avLst>
              <a:gd name="adj" fmla="val 9412"/>
            </a:avLst>
          </a:prstGeom>
          <a:solidFill>
            <a:srgbClr val="E4EFE9"/>
          </a:solidFill>
          <a:ln/>
        </p:spPr>
      </p:sp>
      <p:sp>
        <p:nvSpPr>
          <p:cNvPr id="45" name="Text 42"/>
          <p:cNvSpPr txBox="1"/>
          <p:nvPr/>
        </p:nvSpPr>
        <p:spPr>
          <a:xfrm>
            <a:off x="640080" y="461772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40" kern="0" dirty="0">
                <a:solidFill>
                  <a:srgbClr val="0E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SOURCES CITED IN THIS REVIEW</a:t>
            </a:r>
            <a:endParaRPr lang="en-US" sz="900" dirty="0"/>
          </a:p>
        </p:txBody>
      </p:sp>
      <p:sp>
        <p:nvSpPr>
          <p:cNvPr id="46" name="Text 43"/>
          <p:cNvSpPr txBox="1"/>
          <p:nvPr/>
        </p:nvSpPr>
        <p:spPr>
          <a:xfrm>
            <a:off x="640080" y="481888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40" dirty="0">
                <a:solidFill>
                  <a:srgbClr val="15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NABARD NAFIS 2021-22 · NITI Aayog / Institute for Competitiveness MSME report · TransUnion CIBIL credit-underserved study · Agriculture Census 2015-16 · PIB Account Aggregator anniversary release (2025) · 2026 systematic review, ML-powered credit scoring, AI Review (Springer) · 2026 tabular &amp; geospatial foundation-model benchmarks.</a:t>
            </a:r>
            <a:endParaRPr lang="en-US" sz="84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12064" cy="512064"/>
          </a:xfrm>
          <a:prstGeom prst="ellipse">
            <a:avLst/>
          </a:prstGeom>
          <a:solidFill>
            <a:srgbClr val="E4EFE9"/>
          </a:solidFill>
          <a:ln/>
        </p:spPr>
      </p:sp>
      <p:pic>
        <p:nvPicPr>
          <p:cNvPr id="3" name="Image 0" descr="/tmp/claude-0/-home-claude/f50031d9-b5ad-5737-9b32-1977a75a6c42/scratchpad/deck/icons/road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0337" y="498897"/>
            <a:ext cx="245791" cy="245791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115568" y="365760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C98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5 · EVIDENCE &amp; ROADMAP</a:t>
            </a:r>
            <a:endParaRPr lang="en-US" sz="1050" dirty="0"/>
          </a:p>
        </p:txBody>
      </p:sp>
      <p:sp>
        <p:nvSpPr>
          <p:cNvPr id="5" name="Text 2"/>
          <p:cNvSpPr txBox="1"/>
          <p:nvPr/>
        </p:nvSpPr>
        <p:spPr>
          <a:xfrm>
            <a:off x="1115568" y="5486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E4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 Roadmap &amp; Impact</a:t>
            </a:r>
            <a:endParaRPr lang="en-US" sz="2700" dirty="0"/>
          </a:p>
        </p:txBody>
      </p:sp>
      <p:sp>
        <p:nvSpPr>
          <p:cNvPr id="6" name="Text 3"/>
          <p:cNvSpPr txBox="1"/>
          <p:nvPr/>
        </p:nvSpPr>
        <p:spPr>
          <a:xfrm>
            <a:off x="8808415" y="38404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CREDITTECH  ·  MID-TERM REVIEW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8808415" y="56692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76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20 / 20  ·  EVIDENCE &amp; ROADMAP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" y="6419088"/>
            <a:ext cx="2182307" cy="310896"/>
          </a:xfrm>
          <a:prstGeom prst="roundRect">
            <a:avLst>
              <a:gd name="adj" fmla="val 50000"/>
            </a:avLst>
          </a:prstGeom>
          <a:solidFill>
            <a:srgbClr val="E4EFE9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457200" y="6419088"/>
            <a:ext cx="218230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spc="40" kern="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860" dirty="0"/>
          </a:p>
        </p:txBody>
      </p:sp>
      <p:sp>
        <p:nvSpPr>
          <p:cNvPr id="10" name="Shape 7"/>
          <p:cNvSpPr/>
          <p:nvPr/>
        </p:nvSpPr>
        <p:spPr>
          <a:xfrm>
            <a:off x="2730947" y="6419088"/>
            <a:ext cx="2182307" cy="310896"/>
          </a:xfrm>
          <a:prstGeom prst="roundRect">
            <a:avLst>
              <a:gd name="adj" fmla="val 50000"/>
            </a:avLst>
          </a:prstGeom>
          <a:solidFill>
            <a:srgbClr val="E4EFE9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2730947" y="6419088"/>
            <a:ext cx="218230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spc="40" kern="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AI PIPELINE</a:t>
            </a:r>
            <a:endParaRPr lang="en-US" sz="860" dirty="0"/>
          </a:p>
        </p:txBody>
      </p:sp>
      <p:sp>
        <p:nvSpPr>
          <p:cNvPr id="12" name="Shape 9"/>
          <p:cNvSpPr/>
          <p:nvPr/>
        </p:nvSpPr>
        <p:spPr>
          <a:xfrm>
            <a:off x="5004694" y="6419088"/>
            <a:ext cx="2182307" cy="310896"/>
          </a:xfrm>
          <a:prstGeom prst="roundRect">
            <a:avLst>
              <a:gd name="adj" fmla="val 50000"/>
            </a:avLst>
          </a:prstGeom>
          <a:solidFill>
            <a:srgbClr val="E4EFE9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004694" y="6419088"/>
            <a:ext cx="218230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spc="40" kern="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TECH</a:t>
            </a:r>
            <a:endParaRPr lang="en-US" sz="860" dirty="0"/>
          </a:p>
        </p:txBody>
      </p:sp>
      <p:sp>
        <p:nvSpPr>
          <p:cNvPr id="14" name="Shape 11"/>
          <p:cNvSpPr/>
          <p:nvPr/>
        </p:nvSpPr>
        <p:spPr>
          <a:xfrm>
            <a:off x="7278441" y="6419088"/>
            <a:ext cx="2182307" cy="310896"/>
          </a:xfrm>
          <a:prstGeom prst="roundRect">
            <a:avLst>
              <a:gd name="adj" fmla="val 50000"/>
            </a:avLst>
          </a:prstGeom>
          <a:solidFill>
            <a:srgbClr val="E4EFE9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278441" y="6419088"/>
            <a:ext cx="218230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spc="40" kern="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&amp; PILOT</a:t>
            </a:r>
            <a:endParaRPr lang="en-US" sz="860" dirty="0"/>
          </a:p>
        </p:txBody>
      </p:sp>
      <p:sp>
        <p:nvSpPr>
          <p:cNvPr id="16" name="Shape 13"/>
          <p:cNvSpPr/>
          <p:nvPr/>
        </p:nvSpPr>
        <p:spPr>
          <a:xfrm>
            <a:off x="9552188" y="6419088"/>
            <a:ext cx="2182307" cy="310896"/>
          </a:xfrm>
          <a:prstGeom prst="roundRect">
            <a:avLst>
              <a:gd name="adj" fmla="val 50000"/>
            </a:avLst>
          </a:prstGeom>
          <a:solidFill>
            <a:srgbClr val="0E4B43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9552188" y="6419088"/>
            <a:ext cx="218230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&amp; ROADMAP</a:t>
            </a:r>
            <a:endParaRPr lang="en-US" sz="860" dirty="0"/>
          </a:p>
        </p:txBody>
      </p:sp>
      <p:sp>
        <p:nvSpPr>
          <p:cNvPr id="18" name="Shape 15"/>
          <p:cNvSpPr/>
          <p:nvPr/>
        </p:nvSpPr>
        <p:spPr>
          <a:xfrm>
            <a:off x="457200" y="1207008"/>
            <a:ext cx="1803349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D9E7E1"/>
            </a:solidFill>
            <a:prstDash val="solid"/>
          </a:ln>
          <a:effectLst>
            <a:outerShdw sx="100000" sy="100000" kx="0" ky="0" algn="bl" rotWithShape="0" blurRad="101600" dist="38100" dir="5400000">
              <a:srgbClr val="0A322C">
                <a:alpha val="1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57200" y="1207008"/>
            <a:ext cx="1803349" cy="292608"/>
          </a:xfrm>
          <a:prstGeom prst="roundRect">
            <a:avLst>
              <a:gd name="adj" fmla="val 18750"/>
            </a:avLst>
          </a:prstGeom>
          <a:solidFill>
            <a:srgbClr val="5C8A72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457200" y="1207008"/>
            <a:ext cx="180334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760" dirty="0"/>
          </a:p>
        </p:txBody>
      </p:sp>
      <p:sp>
        <p:nvSpPr>
          <p:cNvPr id="21" name="Text 18"/>
          <p:cNvSpPr txBox="1"/>
          <p:nvPr/>
        </p:nvSpPr>
        <p:spPr>
          <a:xfrm>
            <a:off x="548640" y="1591056"/>
            <a:ext cx="162046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E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1828800"/>
            <a:ext cx="162046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82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820" dirty="0"/>
          </a:p>
        </p:txBody>
      </p:sp>
      <p:sp>
        <p:nvSpPr>
          <p:cNvPr id="23" name="Text 20"/>
          <p:cNvSpPr txBox="1"/>
          <p:nvPr/>
        </p:nvSpPr>
        <p:spPr>
          <a:xfrm>
            <a:off x="2260549" y="1892808"/>
            <a:ext cx="91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C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2351989" y="1207008"/>
            <a:ext cx="1803349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D9E7E1"/>
            </a:solidFill>
            <a:prstDash val="solid"/>
          </a:ln>
          <a:effectLst>
            <a:outerShdw sx="100000" sy="100000" kx="0" ky="0" algn="bl" rotWithShape="0" blurRad="101600" dist="38100" dir="5400000">
              <a:srgbClr val="0A322C">
                <a:alpha val="18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2351989" y="1207008"/>
            <a:ext cx="1803349" cy="292608"/>
          </a:xfrm>
          <a:prstGeom prst="roundRect">
            <a:avLst>
              <a:gd name="adj" fmla="val 18750"/>
            </a:avLst>
          </a:prstGeom>
          <a:solidFill>
            <a:srgbClr val="5C8A72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2351989" y="1207008"/>
            <a:ext cx="180334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760" dirty="0"/>
          </a:p>
        </p:txBody>
      </p:sp>
      <p:sp>
        <p:nvSpPr>
          <p:cNvPr id="27" name="Text 24"/>
          <p:cNvSpPr txBox="1"/>
          <p:nvPr/>
        </p:nvSpPr>
        <p:spPr>
          <a:xfrm>
            <a:off x="2443429" y="1591056"/>
            <a:ext cx="162046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E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2443429" y="1828800"/>
            <a:ext cx="162046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82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 &amp; Mocked Rails</a:t>
            </a:r>
            <a:endParaRPr lang="en-US" sz="820" dirty="0"/>
          </a:p>
        </p:txBody>
      </p:sp>
      <p:sp>
        <p:nvSpPr>
          <p:cNvPr id="29" name="Text 26"/>
          <p:cNvSpPr txBox="1"/>
          <p:nvPr/>
        </p:nvSpPr>
        <p:spPr>
          <a:xfrm>
            <a:off x="4155338" y="1892808"/>
            <a:ext cx="91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C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246778" y="1207008"/>
            <a:ext cx="1803349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D9E7E1"/>
            </a:solidFill>
            <a:prstDash val="solid"/>
          </a:ln>
          <a:effectLst>
            <a:outerShdw sx="100000" sy="100000" kx="0" ky="0" algn="bl" rotWithShape="0" blurRad="101600" dist="38100" dir="5400000">
              <a:srgbClr val="0A322C">
                <a:alpha val="18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246778" y="1207008"/>
            <a:ext cx="1803349" cy="292608"/>
          </a:xfrm>
          <a:prstGeom prst="roundRect">
            <a:avLst>
              <a:gd name="adj" fmla="val 18750"/>
            </a:avLst>
          </a:prstGeom>
          <a:solidFill>
            <a:srgbClr val="C98B2E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4246778" y="1207008"/>
            <a:ext cx="180334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760" dirty="0"/>
          </a:p>
        </p:txBody>
      </p:sp>
      <p:sp>
        <p:nvSpPr>
          <p:cNvPr id="33" name="Text 30"/>
          <p:cNvSpPr txBox="1"/>
          <p:nvPr/>
        </p:nvSpPr>
        <p:spPr>
          <a:xfrm>
            <a:off x="4338218" y="1591056"/>
            <a:ext cx="162046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E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4338218" y="1828800"/>
            <a:ext cx="162046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82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Real-Rail Integration</a:t>
            </a:r>
            <a:endParaRPr lang="en-US" sz="820" dirty="0"/>
          </a:p>
        </p:txBody>
      </p:sp>
      <p:sp>
        <p:nvSpPr>
          <p:cNvPr id="35" name="Text 32"/>
          <p:cNvSpPr txBox="1"/>
          <p:nvPr/>
        </p:nvSpPr>
        <p:spPr>
          <a:xfrm>
            <a:off x="6050128" y="1892808"/>
            <a:ext cx="91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C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141568" y="1207008"/>
            <a:ext cx="1803349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D9E7E1"/>
            </a:solidFill>
            <a:prstDash val="solid"/>
          </a:ln>
          <a:effectLst>
            <a:outerShdw sx="100000" sy="100000" kx="0" ky="0" algn="bl" rotWithShape="0" blurRad="101600" dist="38100" dir="5400000">
              <a:srgbClr val="0A322C">
                <a:alpha val="18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6141568" y="1207008"/>
            <a:ext cx="1803349" cy="292608"/>
          </a:xfrm>
          <a:prstGeom prst="roundRect">
            <a:avLst>
              <a:gd name="adj" fmla="val 18750"/>
            </a:avLst>
          </a:prstGeom>
          <a:solidFill>
            <a:srgbClr val="C98B2E"/>
          </a:solidFill>
          <a:ln/>
        </p:spPr>
      </p:sp>
      <p:sp>
        <p:nvSpPr>
          <p:cNvPr id="38" name="Text 35"/>
          <p:cNvSpPr txBox="1"/>
          <p:nvPr/>
        </p:nvSpPr>
        <p:spPr>
          <a:xfrm>
            <a:off x="6141568" y="1207008"/>
            <a:ext cx="180334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760" dirty="0"/>
          </a:p>
        </p:txBody>
      </p:sp>
      <p:sp>
        <p:nvSpPr>
          <p:cNvPr id="39" name="Text 36"/>
          <p:cNvSpPr txBox="1"/>
          <p:nvPr/>
        </p:nvSpPr>
        <p:spPr>
          <a:xfrm>
            <a:off x="6233008" y="1591056"/>
            <a:ext cx="162046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E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00" dirty="0"/>
          </a:p>
        </p:txBody>
      </p:sp>
      <p:sp>
        <p:nvSpPr>
          <p:cNvPr id="40" name="Text 37"/>
          <p:cNvSpPr txBox="1"/>
          <p:nvPr/>
        </p:nvSpPr>
        <p:spPr>
          <a:xfrm>
            <a:off x="6233008" y="1828800"/>
            <a:ext cx="162046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82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4–5 Village Pilot (shadow mode)</a:t>
            </a:r>
            <a:endParaRPr lang="en-US" sz="820" dirty="0"/>
          </a:p>
        </p:txBody>
      </p:sp>
      <p:sp>
        <p:nvSpPr>
          <p:cNvPr id="41" name="Text 38"/>
          <p:cNvSpPr txBox="1"/>
          <p:nvPr/>
        </p:nvSpPr>
        <p:spPr>
          <a:xfrm>
            <a:off x="7944917" y="1892808"/>
            <a:ext cx="91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C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8036357" y="1207008"/>
            <a:ext cx="1803349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D9E7E1"/>
            </a:solidFill>
            <a:prstDash val="solid"/>
          </a:ln>
          <a:effectLst>
            <a:outerShdw sx="100000" sy="100000" kx="0" ky="0" algn="bl" rotWithShape="0" blurRad="101600" dist="38100" dir="5400000">
              <a:srgbClr val="0A322C">
                <a:alpha val="18000"/>
              </a:srgbClr>
            </a:outerShdw>
          </a:effectLst>
        </p:spPr>
      </p:sp>
      <p:sp>
        <p:nvSpPr>
          <p:cNvPr id="43" name="Shape 40"/>
          <p:cNvSpPr/>
          <p:nvPr/>
        </p:nvSpPr>
        <p:spPr>
          <a:xfrm>
            <a:off x="8036357" y="1207008"/>
            <a:ext cx="1803349" cy="292608"/>
          </a:xfrm>
          <a:prstGeom prst="roundRect">
            <a:avLst>
              <a:gd name="adj" fmla="val 18750"/>
            </a:avLst>
          </a:prstGeom>
          <a:solidFill>
            <a:srgbClr val="C98B2E"/>
          </a:solidFill>
          <a:ln/>
        </p:spPr>
      </p:sp>
      <p:sp>
        <p:nvSpPr>
          <p:cNvPr id="44" name="Text 41"/>
          <p:cNvSpPr txBox="1"/>
          <p:nvPr/>
        </p:nvSpPr>
        <p:spPr>
          <a:xfrm>
            <a:off x="8036357" y="1207008"/>
            <a:ext cx="180334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760" dirty="0"/>
          </a:p>
        </p:txBody>
      </p:sp>
      <p:sp>
        <p:nvSpPr>
          <p:cNvPr id="45" name="Text 42"/>
          <p:cNvSpPr txBox="1"/>
          <p:nvPr/>
        </p:nvSpPr>
        <p:spPr>
          <a:xfrm>
            <a:off x="8127797" y="1591056"/>
            <a:ext cx="162046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E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000" dirty="0"/>
          </a:p>
        </p:txBody>
      </p:sp>
      <p:sp>
        <p:nvSpPr>
          <p:cNvPr id="46" name="Text 43"/>
          <p:cNvSpPr txBox="1"/>
          <p:nvPr/>
        </p:nvSpPr>
        <p:spPr>
          <a:xfrm>
            <a:off x="8127797" y="1828800"/>
            <a:ext cx="162046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82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Trained-Model Transition</a:t>
            </a:r>
            <a:endParaRPr lang="en-US" sz="820" dirty="0"/>
          </a:p>
        </p:txBody>
      </p:sp>
      <p:sp>
        <p:nvSpPr>
          <p:cNvPr id="47" name="Text 44"/>
          <p:cNvSpPr txBox="1"/>
          <p:nvPr/>
        </p:nvSpPr>
        <p:spPr>
          <a:xfrm>
            <a:off x="9839706" y="1892808"/>
            <a:ext cx="91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C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48" name="Shape 45"/>
          <p:cNvSpPr/>
          <p:nvPr/>
        </p:nvSpPr>
        <p:spPr>
          <a:xfrm>
            <a:off x="9931146" y="1207008"/>
            <a:ext cx="1803349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D9E7E1"/>
            </a:solidFill>
            <a:prstDash val="solid"/>
          </a:ln>
          <a:effectLst>
            <a:outerShdw sx="100000" sy="100000" kx="0" ky="0" algn="bl" rotWithShape="0" blurRad="101600" dist="38100" dir="5400000">
              <a:srgbClr val="0A322C">
                <a:alpha val="18000"/>
              </a:srgbClr>
            </a:outerShdw>
          </a:effectLst>
        </p:spPr>
      </p:sp>
      <p:sp>
        <p:nvSpPr>
          <p:cNvPr id="49" name="Shape 46"/>
          <p:cNvSpPr/>
          <p:nvPr/>
        </p:nvSpPr>
        <p:spPr>
          <a:xfrm>
            <a:off x="9931146" y="1207008"/>
            <a:ext cx="1803349" cy="292608"/>
          </a:xfrm>
          <a:prstGeom prst="roundRect">
            <a:avLst>
              <a:gd name="adj" fmla="val 18750"/>
            </a:avLst>
          </a:prstGeom>
          <a:solidFill>
            <a:srgbClr val="D9E7E1"/>
          </a:solidFill>
          <a:ln/>
        </p:spPr>
      </p:sp>
      <p:sp>
        <p:nvSpPr>
          <p:cNvPr id="50" name="Text 47"/>
          <p:cNvSpPr txBox="1"/>
          <p:nvPr/>
        </p:nvSpPr>
        <p:spPr>
          <a:xfrm>
            <a:off x="9931146" y="1207008"/>
            <a:ext cx="180334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</a:t>
            </a:r>
            <a:endParaRPr lang="en-US" sz="760" dirty="0"/>
          </a:p>
        </p:txBody>
      </p:sp>
      <p:sp>
        <p:nvSpPr>
          <p:cNvPr id="51" name="Text 48"/>
          <p:cNvSpPr txBox="1"/>
          <p:nvPr/>
        </p:nvSpPr>
        <p:spPr>
          <a:xfrm>
            <a:off x="10022586" y="1591056"/>
            <a:ext cx="162046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E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Post-Pilot</a:t>
            </a:r>
            <a:endParaRPr lang="en-US" sz="1000" dirty="0"/>
          </a:p>
        </p:txBody>
      </p:sp>
      <p:sp>
        <p:nvSpPr>
          <p:cNvPr id="52" name="Text 49"/>
          <p:cNvSpPr txBox="1"/>
          <p:nvPr/>
        </p:nvSpPr>
        <p:spPr>
          <a:xfrm>
            <a:off x="10022586" y="1828800"/>
            <a:ext cx="162046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82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Monitor · Insurance Trigger · OCEN Handoff</a:t>
            </a:r>
            <a:endParaRPr lang="en-US" sz="820" dirty="0"/>
          </a:p>
        </p:txBody>
      </p:sp>
      <p:sp>
        <p:nvSpPr>
          <p:cNvPr id="53" name="Shape 50"/>
          <p:cNvSpPr/>
          <p:nvPr/>
        </p:nvSpPr>
        <p:spPr>
          <a:xfrm>
            <a:off x="457200" y="3081528"/>
            <a:ext cx="11277295" cy="310896"/>
          </a:xfrm>
          <a:prstGeom prst="roundRect">
            <a:avLst>
              <a:gd name="adj" fmla="val 20588"/>
            </a:avLst>
          </a:prstGeom>
          <a:solidFill>
            <a:srgbClr val="0E4B43"/>
          </a:solidFill>
          <a:ln/>
        </p:spPr>
      </p:sp>
      <p:sp>
        <p:nvSpPr>
          <p:cNvPr id="54" name="Text 51"/>
          <p:cNvSpPr txBox="1"/>
          <p:nvPr/>
        </p:nvSpPr>
        <p:spPr>
          <a:xfrm>
            <a:off x="603504" y="3081528"/>
            <a:ext cx="110029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INTENDED IMPACT (TARGETED, NOT MEASURED)</a:t>
            </a:r>
            <a:endParaRPr lang="en-US" sz="1150" dirty="0"/>
          </a:p>
        </p:txBody>
      </p:sp>
      <p:sp>
        <p:nvSpPr>
          <p:cNvPr id="55" name="Shape 52"/>
          <p:cNvSpPr/>
          <p:nvPr/>
        </p:nvSpPr>
        <p:spPr>
          <a:xfrm>
            <a:off x="457200" y="3392424"/>
            <a:ext cx="11277295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D9E7E1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594360" y="3538728"/>
            <a:ext cx="384048" cy="384048"/>
          </a:xfrm>
          <a:prstGeom prst="ellipse">
            <a:avLst/>
          </a:prstGeom>
          <a:solidFill>
            <a:srgbClr val="E4EFE9"/>
          </a:solidFill>
          <a:ln/>
        </p:spPr>
      </p:sp>
      <p:pic>
        <p:nvPicPr>
          <p:cNvPr id="57" name="Image 1" descr="/tmp/claude-0/-home-claude/f50031d9-b5ad-5737-9b32-1977a75a6c42/scratchpad/deck/icons/seedling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212" y="3638580"/>
            <a:ext cx="184343" cy="184343"/>
          </a:xfrm>
          <a:prstGeom prst="rect">
            <a:avLst/>
          </a:prstGeom>
        </p:spPr>
      </p:pic>
      <p:sp>
        <p:nvSpPr>
          <p:cNvPr id="58" name="Text 54"/>
          <p:cNvSpPr txBox="1"/>
          <p:nvPr/>
        </p:nvSpPr>
        <p:spPr>
          <a:xfrm>
            <a:off x="594360" y="3995928"/>
            <a:ext cx="23621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E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inclusion</a:t>
            </a:r>
            <a:endParaRPr lang="en-US" sz="950" dirty="0"/>
          </a:p>
        </p:txBody>
      </p:sp>
      <p:sp>
        <p:nvSpPr>
          <p:cNvPr id="59" name="Text 55"/>
          <p:cNvSpPr txBox="1"/>
          <p:nvPr/>
        </p:nvSpPr>
        <p:spPr>
          <a:xfrm>
            <a:off x="594360" y="4215384"/>
            <a:ext cx="23621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thin-file farmers, SHGs, FPOs and rural enterprises left out by bureau-only scoring</a:t>
            </a:r>
            <a:endParaRPr lang="en-US" sz="800" dirty="0"/>
          </a:p>
        </p:txBody>
      </p:sp>
      <p:sp>
        <p:nvSpPr>
          <p:cNvPr id="60" name="Shape 56"/>
          <p:cNvSpPr/>
          <p:nvPr/>
        </p:nvSpPr>
        <p:spPr>
          <a:xfrm>
            <a:off x="3505124" y="3538728"/>
            <a:ext cx="384048" cy="384048"/>
          </a:xfrm>
          <a:prstGeom prst="ellipse">
            <a:avLst/>
          </a:prstGeom>
          <a:solidFill>
            <a:srgbClr val="E4EFE9"/>
          </a:solidFill>
          <a:ln/>
        </p:spPr>
      </p:sp>
      <p:pic>
        <p:nvPicPr>
          <p:cNvPr id="61" name="Image 2" descr="/tmp/claude-0/-home-claude/f50031d9-b5ad-5737-9b32-1977a75a6c42/scratchpad/deck/icons/route_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4976" y="3638580"/>
            <a:ext cx="184343" cy="184343"/>
          </a:xfrm>
          <a:prstGeom prst="rect">
            <a:avLst/>
          </a:prstGeom>
        </p:spPr>
      </p:pic>
      <p:sp>
        <p:nvSpPr>
          <p:cNvPr id="62" name="Text 57"/>
          <p:cNvSpPr txBox="1"/>
          <p:nvPr/>
        </p:nvSpPr>
        <p:spPr>
          <a:xfrm>
            <a:off x="3505124" y="3995928"/>
            <a:ext cx="23621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E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Faster, auditable decisions</a:t>
            </a:r>
            <a:endParaRPr lang="en-US" sz="950" dirty="0"/>
          </a:p>
        </p:txBody>
      </p:sp>
      <p:sp>
        <p:nvSpPr>
          <p:cNvPr id="63" name="Text 58"/>
          <p:cNvSpPr txBox="1"/>
          <p:nvPr/>
        </p:nvSpPr>
        <p:spPr>
          <a:xfrm>
            <a:off x="3505124" y="4215384"/>
            <a:ext cx="23621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a paper-based process, with reason codes and an appeal channel built in</a:t>
            </a:r>
            <a:endParaRPr lang="en-US" sz="800" dirty="0"/>
          </a:p>
        </p:txBody>
      </p:sp>
      <p:sp>
        <p:nvSpPr>
          <p:cNvPr id="64" name="Shape 59"/>
          <p:cNvSpPr/>
          <p:nvPr/>
        </p:nvSpPr>
        <p:spPr>
          <a:xfrm>
            <a:off x="6415888" y="3538728"/>
            <a:ext cx="384048" cy="384048"/>
          </a:xfrm>
          <a:prstGeom prst="ellipse">
            <a:avLst/>
          </a:prstGeom>
          <a:solidFill>
            <a:srgbClr val="E4EFE9"/>
          </a:solidFill>
          <a:ln/>
        </p:spPr>
      </p:sp>
      <p:pic>
        <p:nvPicPr>
          <p:cNvPr id="65" name="Image 3" descr="/tmp/claude-0/-home-claude/f50031d9-b5ad-5737-9b32-1977a75a6c42/scratchpad/deck/icons/balanceScale_te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5740" y="3638580"/>
            <a:ext cx="184343" cy="184343"/>
          </a:xfrm>
          <a:prstGeom prst="rect">
            <a:avLst/>
          </a:prstGeom>
        </p:spPr>
      </p:pic>
      <p:sp>
        <p:nvSpPr>
          <p:cNvPr id="66" name="Text 60"/>
          <p:cNvSpPr txBox="1"/>
          <p:nvPr/>
        </p:nvSpPr>
        <p:spPr>
          <a:xfrm>
            <a:off x="6415888" y="3995928"/>
            <a:ext cx="23621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E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Fairness-gated governance</a:t>
            </a:r>
            <a:endParaRPr lang="en-US" sz="950" dirty="0"/>
          </a:p>
        </p:txBody>
      </p:sp>
      <p:sp>
        <p:nvSpPr>
          <p:cNvPr id="67" name="Text 61"/>
          <p:cNvSpPr txBox="1"/>
          <p:nvPr/>
        </p:nvSpPr>
        <p:spPr>
          <a:xfrm>
            <a:off x="6415888" y="4215384"/>
            <a:ext cx="23621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model reaches production without clearing the demographic-parity and equalised-odds gate</a:t>
            </a:r>
            <a:endParaRPr lang="en-US" sz="800" dirty="0"/>
          </a:p>
        </p:txBody>
      </p:sp>
      <p:sp>
        <p:nvSpPr>
          <p:cNvPr id="68" name="Shape 62"/>
          <p:cNvSpPr/>
          <p:nvPr/>
        </p:nvSpPr>
        <p:spPr>
          <a:xfrm>
            <a:off x="9326651" y="3538728"/>
            <a:ext cx="384048" cy="384048"/>
          </a:xfrm>
          <a:prstGeom prst="ellipse">
            <a:avLst/>
          </a:prstGeom>
          <a:solidFill>
            <a:srgbClr val="E4EFE9"/>
          </a:solidFill>
          <a:ln/>
        </p:spPr>
      </p:sp>
      <p:pic>
        <p:nvPicPr>
          <p:cNvPr id="69" name="Image 4" descr="/tmp/claude-0/-home-claude/f50031d9-b5ad-5737-9b32-1977a75a6c42/scratchpad/deck/icons/plug_tea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26504" y="3638580"/>
            <a:ext cx="184343" cy="184343"/>
          </a:xfrm>
          <a:prstGeom prst="rect">
            <a:avLst/>
          </a:prstGeom>
        </p:spPr>
      </p:pic>
      <p:sp>
        <p:nvSpPr>
          <p:cNvPr id="70" name="Text 63"/>
          <p:cNvSpPr txBox="1"/>
          <p:nvPr/>
        </p:nvSpPr>
        <p:spPr>
          <a:xfrm>
            <a:off x="9326651" y="3995928"/>
            <a:ext cx="23621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E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foundation for scale</a:t>
            </a:r>
            <a:endParaRPr lang="en-US" sz="950" dirty="0"/>
          </a:p>
        </p:txBody>
      </p:sp>
      <p:sp>
        <p:nvSpPr>
          <p:cNvPr id="71" name="Text 64"/>
          <p:cNvSpPr txBox="1"/>
          <p:nvPr/>
        </p:nvSpPr>
        <p:spPr>
          <a:xfrm>
            <a:off x="9326651" y="4215384"/>
            <a:ext cx="23621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positioned for an OCEN-based RE handoff once pilot adoption data justifies it</a:t>
            </a:r>
            <a:endParaRPr lang="en-US" sz="800" dirty="0"/>
          </a:p>
        </p:txBody>
      </p:sp>
      <p:sp>
        <p:nvSpPr>
          <p:cNvPr id="72" name="Shape 65"/>
          <p:cNvSpPr/>
          <p:nvPr/>
        </p:nvSpPr>
        <p:spPr>
          <a:xfrm>
            <a:off x="457200" y="4956048"/>
            <a:ext cx="11277295" cy="566928"/>
          </a:xfrm>
          <a:prstGeom prst="roundRect">
            <a:avLst>
              <a:gd name="adj" fmla="val 12903"/>
            </a:avLst>
          </a:prstGeom>
          <a:solidFill>
            <a:srgbClr val="0A322C"/>
          </a:solidFill>
          <a:ln/>
        </p:spPr>
      </p:sp>
      <p:sp>
        <p:nvSpPr>
          <p:cNvPr id="73" name="Text 66"/>
          <p:cNvSpPr txBox="1"/>
          <p:nvPr/>
        </p:nvSpPr>
        <p:spPr>
          <a:xfrm>
            <a:off x="685800" y="495604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component in this deck is labeled BUILT · PLANNED · 2026-ADDITION · LATER. This is a conceptual design &amp; architecture review — not a claim of a deployed product.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CreditTech — Mid-Term Conceptual Design &amp; Architecture Review</dc:title>
  <dc:subject>PptxGenJS Presentation</dc:subject>
  <dc:creator>Group 4</dc:creator>
  <cp:lastModifiedBy>Group 4</cp:lastModifiedBy>
  <cp:revision>1</cp:revision>
  <dcterms:created xsi:type="dcterms:W3CDTF">2026-09-03T10:37:13Z</dcterms:created>
  <dcterms:modified xsi:type="dcterms:W3CDTF">2026-09-03T10:37:13Z</dcterms:modified>
</cp:coreProperties>
</file>